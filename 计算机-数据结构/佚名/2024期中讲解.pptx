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6"/>
  </p:notesMasterIdLst>
  <p:sldIdLst>
    <p:sldId id="256" r:id="rId3"/>
    <p:sldId id="257" r:id="rId4"/>
    <p:sldId id="312" r:id="rId5"/>
    <p:sldId id="313" r:id="rId6"/>
    <p:sldId id="314" r:id="rId7"/>
    <p:sldId id="258" r:id="rId8"/>
    <p:sldId id="259" r:id="rId9"/>
    <p:sldId id="292" r:id="rId10"/>
    <p:sldId id="315" r:id="rId11"/>
    <p:sldId id="316" r:id="rId12"/>
    <p:sldId id="318" r:id="rId13"/>
    <p:sldId id="317" r:id="rId14"/>
    <p:sldId id="270" r:id="rId15"/>
    <p:sldId id="303" r:id="rId16"/>
    <p:sldId id="289" r:id="rId17"/>
    <p:sldId id="299" r:id="rId18"/>
    <p:sldId id="300" r:id="rId19"/>
    <p:sldId id="301" r:id="rId20"/>
    <p:sldId id="302" r:id="rId21"/>
    <p:sldId id="308" r:id="rId22"/>
    <p:sldId id="298" r:id="rId23"/>
    <p:sldId id="288" r:id="rId24"/>
    <p:sldId id="319" r:id="rId25"/>
    <p:sldId id="296" r:id="rId26"/>
    <p:sldId id="293" r:id="rId27"/>
    <p:sldId id="294" r:id="rId28"/>
    <p:sldId id="290" r:id="rId29"/>
    <p:sldId id="291" r:id="rId30"/>
    <p:sldId id="295" r:id="rId31"/>
    <p:sldId id="304" r:id="rId32"/>
    <p:sldId id="310" r:id="rId33"/>
    <p:sldId id="311" r:id="rId34"/>
    <p:sldId id="287"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6"/>
    <p:restoredTop sz="94693"/>
  </p:normalViewPr>
  <p:slideViewPr>
    <p:cSldViewPr snapToGrid="0">
      <p:cViewPr varScale="1">
        <p:scale>
          <a:sx n="106" d="100"/>
          <a:sy n="106" d="100"/>
        </p:scale>
        <p:origin x="90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427F2C-8466-49E7-B04D-E18940C3A031}" type="datetimeFigureOut">
              <a:rPr lang="zh-CN" altLang="en-US" smtClean="0"/>
              <a:t>2024/12/9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5617B9-4000-411F-8917-3BCB72A4AF1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5617B9-4000-411F-8917-3BCB72A4AF10}"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p:cNvSpPr>
            <a:spLocks noGrp="1"/>
          </p:cNvSpPr>
          <p:nvPr>
            <p:ph type="sldNum" sz="quarter" idx="5"/>
          </p:nvPr>
        </p:nvSpPr>
        <p:spPr/>
        <p:txBody>
          <a:bodyPr/>
          <a:lstStyle/>
          <a:p>
            <a:fld id="{0E5617B9-4000-411F-8917-3BCB72A4AF10}" type="slidenum">
              <a:rPr lang="zh-CN" altLang="en-US" smtClean="0"/>
              <a:t>3</a:t>
            </a:fld>
            <a:endParaRPr lang="zh-CN" altLang="en-US"/>
          </a:p>
        </p:txBody>
      </p:sp>
    </p:spTree>
    <p:extLst>
      <p:ext uri="{BB962C8B-B14F-4D97-AF65-F5344CB8AC3E}">
        <p14:creationId xmlns:p14="http://schemas.microsoft.com/office/powerpoint/2010/main" val="2779615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5966C-281D-0AF7-4640-2D0726140D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E0A326-6061-6C74-7C96-B340078301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BA4959-0ADA-DF12-53C9-FE1F2ED636F1}"/>
              </a:ext>
            </a:extLst>
          </p:cNvPr>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a:extLst>
              <a:ext uri="{FF2B5EF4-FFF2-40B4-BE49-F238E27FC236}">
                <a16:creationId xmlns:a16="http://schemas.microsoft.com/office/drawing/2014/main" id="{60AA4CFA-D827-DA8B-CF90-65D43F2D72AC}"/>
              </a:ext>
            </a:extLst>
          </p:cNvPr>
          <p:cNvSpPr>
            <a:spLocks noGrp="1"/>
          </p:cNvSpPr>
          <p:nvPr>
            <p:ph type="sldNum" sz="quarter" idx="5"/>
          </p:nvPr>
        </p:nvSpPr>
        <p:spPr/>
        <p:txBody>
          <a:bodyPr/>
          <a:lstStyle/>
          <a:p>
            <a:fld id="{0E5617B9-4000-411F-8917-3BCB72A4AF10}" type="slidenum">
              <a:rPr lang="zh-CN" altLang="en-US" smtClean="0"/>
              <a:t>4</a:t>
            </a:fld>
            <a:endParaRPr lang="zh-CN" altLang="en-US"/>
          </a:p>
        </p:txBody>
      </p:sp>
    </p:spTree>
    <p:extLst>
      <p:ext uri="{BB962C8B-B14F-4D97-AF65-F5344CB8AC3E}">
        <p14:creationId xmlns:p14="http://schemas.microsoft.com/office/powerpoint/2010/main" val="258412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3707-D24F-9A0A-21B4-8CD1525F83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3723FD-BF9A-EB1D-84CB-009B448954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14C12B-EFA6-1E86-3EF6-48D2D2A99439}"/>
              </a:ext>
            </a:extLst>
          </p:cNvPr>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a:extLst>
              <a:ext uri="{FF2B5EF4-FFF2-40B4-BE49-F238E27FC236}">
                <a16:creationId xmlns:a16="http://schemas.microsoft.com/office/drawing/2014/main" id="{5038E28C-641F-0AB3-DFD1-1435E0FC46F5}"/>
              </a:ext>
            </a:extLst>
          </p:cNvPr>
          <p:cNvSpPr>
            <a:spLocks noGrp="1"/>
          </p:cNvSpPr>
          <p:nvPr>
            <p:ph type="sldNum" sz="quarter" idx="5"/>
          </p:nvPr>
        </p:nvSpPr>
        <p:spPr/>
        <p:txBody>
          <a:bodyPr/>
          <a:lstStyle/>
          <a:p>
            <a:fld id="{0E5617B9-4000-411F-8917-3BCB72A4AF10}" type="slidenum">
              <a:rPr lang="zh-CN" altLang="en-US" smtClean="0"/>
              <a:t>5</a:t>
            </a:fld>
            <a:endParaRPr lang="zh-CN" altLang="en-US"/>
          </a:p>
        </p:txBody>
      </p:sp>
    </p:spTree>
    <p:extLst>
      <p:ext uri="{BB962C8B-B14F-4D97-AF65-F5344CB8AC3E}">
        <p14:creationId xmlns:p14="http://schemas.microsoft.com/office/powerpoint/2010/main" val="2690726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4</a:t>
            </a:r>
            <a:r>
              <a:rPr lang="zh-CN" altLang="en-US" dirty="0"/>
              <a:t>章 数组、串与广义表</a:t>
            </a:r>
            <a:endParaRPr lang="en-US" altLang="zh-CN" dirty="0"/>
          </a:p>
        </p:txBody>
      </p:sp>
      <p:sp>
        <p:nvSpPr>
          <p:cNvPr id="4" name="灯片编号占位符 3"/>
          <p:cNvSpPr>
            <a:spLocks noGrp="1"/>
          </p:cNvSpPr>
          <p:nvPr>
            <p:ph type="sldNum" sz="quarter" idx="5"/>
          </p:nvPr>
        </p:nvSpPr>
        <p:spPr/>
        <p:txBody>
          <a:bodyPr/>
          <a:lstStyle/>
          <a:p>
            <a:fld id="{0E5617B9-4000-411F-8917-3BCB72A4AF10}"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905C6-D535-03A3-C656-7D5DF85343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389D48-5A5C-BF58-FA5B-1485D0AD20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34D069-C2AE-E6CB-D9D6-FB1D3EA31BBC}"/>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0BAC8883-17FF-7ECD-171E-072A4B48D330}"/>
              </a:ext>
            </a:extLst>
          </p:cNvPr>
          <p:cNvSpPr>
            <a:spLocks noGrp="1"/>
          </p:cNvSpPr>
          <p:nvPr>
            <p:ph type="sldNum" sz="quarter" idx="5"/>
          </p:nvPr>
        </p:nvSpPr>
        <p:spPr/>
        <p:txBody>
          <a:bodyPr/>
          <a:lstStyle/>
          <a:p>
            <a:fld id="{0E5617B9-4000-411F-8917-3BCB72A4AF10}" type="slidenum">
              <a:rPr lang="zh-CN" altLang="en-US" smtClean="0"/>
              <a:t>8</a:t>
            </a:fld>
            <a:endParaRPr lang="zh-CN" altLang="en-US"/>
          </a:p>
        </p:txBody>
      </p:sp>
    </p:spTree>
    <p:extLst>
      <p:ext uri="{BB962C8B-B14F-4D97-AF65-F5344CB8AC3E}">
        <p14:creationId xmlns:p14="http://schemas.microsoft.com/office/powerpoint/2010/main" val="2728361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CE6F-93F1-7A8D-B4AF-A9959E9DA0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D5FDCD-3721-9BF0-7914-07226154EB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A08135-8BBD-50B6-5B79-E58C8B8397E3}"/>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C14120A3-FC3C-9D4E-1649-F1BC884097B0}"/>
              </a:ext>
            </a:extLst>
          </p:cNvPr>
          <p:cNvSpPr>
            <a:spLocks noGrp="1"/>
          </p:cNvSpPr>
          <p:nvPr>
            <p:ph type="sldNum" sz="quarter" idx="5"/>
          </p:nvPr>
        </p:nvSpPr>
        <p:spPr/>
        <p:txBody>
          <a:bodyPr/>
          <a:lstStyle/>
          <a:p>
            <a:fld id="{0E5617B9-4000-411F-8917-3BCB72A4AF10}" type="slidenum">
              <a:rPr lang="zh-CN" altLang="en-US" smtClean="0"/>
              <a:t>9</a:t>
            </a:fld>
            <a:endParaRPr lang="zh-CN" altLang="en-US"/>
          </a:p>
        </p:txBody>
      </p:sp>
    </p:spTree>
    <p:extLst>
      <p:ext uri="{BB962C8B-B14F-4D97-AF65-F5344CB8AC3E}">
        <p14:creationId xmlns:p14="http://schemas.microsoft.com/office/powerpoint/2010/main" val="1254586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3A3B-C228-6D0F-8C67-76D835A4EB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5922C0-EB00-DB7A-E99A-696983E5D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17A957-E45C-5327-40BE-456F7DFD23C5}"/>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5FBBDC74-F6AD-BF6D-3112-CEC716F29281}"/>
              </a:ext>
            </a:extLst>
          </p:cNvPr>
          <p:cNvSpPr>
            <a:spLocks noGrp="1"/>
          </p:cNvSpPr>
          <p:nvPr>
            <p:ph type="sldNum" sz="quarter" idx="5"/>
          </p:nvPr>
        </p:nvSpPr>
        <p:spPr/>
        <p:txBody>
          <a:bodyPr/>
          <a:lstStyle/>
          <a:p>
            <a:fld id="{0E5617B9-4000-411F-8917-3BCB72A4AF10}" type="slidenum">
              <a:rPr lang="zh-CN" altLang="en-US" smtClean="0"/>
              <a:t>10</a:t>
            </a:fld>
            <a:endParaRPr lang="zh-CN" altLang="en-US"/>
          </a:p>
        </p:txBody>
      </p:sp>
    </p:spTree>
    <p:extLst>
      <p:ext uri="{BB962C8B-B14F-4D97-AF65-F5344CB8AC3E}">
        <p14:creationId xmlns:p14="http://schemas.microsoft.com/office/powerpoint/2010/main" val="3530523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9D088-6EF6-9854-31E9-8A1E72A572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27EA24-AB6D-EE7A-49C6-6AA500B7A6C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784BFA-46BB-DFD4-DEBB-5A937EA0940D}"/>
              </a:ext>
            </a:extLst>
          </p:cNvPr>
          <p:cNvSpPr>
            <a:spLocks noGrp="1"/>
          </p:cNvSpPr>
          <p:nvPr>
            <p:ph type="body" idx="1"/>
          </p:nvPr>
        </p:nvSpPr>
        <p:spPr/>
        <p:txBody>
          <a:bodyPr/>
          <a:lstStyle/>
          <a:p>
            <a:r>
              <a:rPr lang="zh-CN" altLang="en-US" dirty="0"/>
              <a:t>第</a:t>
            </a:r>
            <a:r>
              <a:rPr lang="en-US" altLang="zh-CN" dirty="0"/>
              <a:t>2</a:t>
            </a:r>
            <a:r>
              <a:rPr lang="zh-CN" altLang="en-US" dirty="0"/>
              <a:t>章 线性表</a:t>
            </a:r>
          </a:p>
        </p:txBody>
      </p:sp>
      <p:sp>
        <p:nvSpPr>
          <p:cNvPr id="4" name="灯片编号占位符 3">
            <a:extLst>
              <a:ext uri="{FF2B5EF4-FFF2-40B4-BE49-F238E27FC236}">
                <a16:creationId xmlns:a16="http://schemas.microsoft.com/office/drawing/2014/main" id="{771900BC-15D0-7C60-7C68-C1B5AC5DC85E}"/>
              </a:ext>
            </a:extLst>
          </p:cNvPr>
          <p:cNvSpPr>
            <a:spLocks noGrp="1"/>
          </p:cNvSpPr>
          <p:nvPr>
            <p:ph type="sldNum" sz="quarter" idx="5"/>
          </p:nvPr>
        </p:nvSpPr>
        <p:spPr/>
        <p:txBody>
          <a:bodyPr/>
          <a:lstStyle/>
          <a:p>
            <a:fld id="{0E5617B9-4000-411F-8917-3BCB72A4AF10}" type="slidenum">
              <a:rPr lang="zh-CN" altLang="en-US" smtClean="0"/>
              <a:t>11</a:t>
            </a:fld>
            <a:endParaRPr lang="zh-CN" altLang="en-US"/>
          </a:p>
        </p:txBody>
      </p:sp>
    </p:spTree>
    <p:extLst>
      <p:ext uri="{BB962C8B-B14F-4D97-AF65-F5344CB8AC3E}">
        <p14:creationId xmlns:p14="http://schemas.microsoft.com/office/powerpoint/2010/main" val="2726230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主定理</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21</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22</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25</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26</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相同字符取相同的</a:t>
            </a:r>
            <a:r>
              <a:rPr lang="en-US" altLang="zh-CN" dirty="0"/>
              <a:t>next</a:t>
            </a:r>
            <a:r>
              <a:rPr lang="zh-CN" altLang="en-US" dirty="0"/>
              <a:t>值</a:t>
            </a:r>
          </a:p>
        </p:txBody>
      </p:sp>
      <p:sp>
        <p:nvSpPr>
          <p:cNvPr id="4" name="灯片编号占位符 3"/>
          <p:cNvSpPr>
            <a:spLocks noGrp="1"/>
          </p:cNvSpPr>
          <p:nvPr>
            <p:ph type="sldNum" sz="quarter" idx="5"/>
          </p:nvPr>
        </p:nvSpPr>
        <p:spPr/>
        <p:txBody>
          <a:bodyPr/>
          <a:lstStyle/>
          <a:p>
            <a:fld id="{0E5617B9-4000-411F-8917-3BCB72A4AF10}"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ormAutofit/>
          </a:bodyPr>
          <a:lstStyle>
            <a:lvl1pPr>
              <a:defRPr sz="2000">
                <a:latin typeface="Times New Roman" panose="02020603050405020304" pitchFamily="18" charset="0"/>
                <a:ea typeface="宋体" panose="02010600030101010101" pitchFamily="2" charset="-122"/>
                <a:cs typeface="Times New Roman" panose="02020603050405020304" pitchFamily="18" charset="0"/>
              </a:defRPr>
            </a:lvl1pPr>
            <a:lvl2pPr>
              <a:defRPr sz="1800">
                <a:latin typeface="Times New Roman" panose="02020603050405020304" pitchFamily="18" charset="0"/>
                <a:ea typeface="宋体" panose="02010600030101010101" pitchFamily="2" charset="-122"/>
                <a:cs typeface="Times New Roman" panose="02020603050405020304" pitchFamily="18" charset="0"/>
              </a:defRPr>
            </a:lvl2pPr>
            <a:lvl3pPr>
              <a:defRPr sz="1600">
                <a:latin typeface="Times New Roman" panose="02020603050405020304" pitchFamily="18" charset="0"/>
                <a:ea typeface="宋体" panose="02010600030101010101" pitchFamily="2" charset="-122"/>
                <a:cs typeface="Times New Roman" panose="02020603050405020304" pitchFamily="18" charset="0"/>
              </a:defRPr>
            </a:lvl3pPr>
            <a:lvl4pPr>
              <a:defRPr sz="1400">
                <a:latin typeface="Times New Roman" panose="02020603050405020304" pitchFamily="18" charset="0"/>
                <a:ea typeface="宋体" panose="02010600030101010101" pitchFamily="2" charset="-122"/>
                <a:cs typeface="Times New Roman" panose="02020603050405020304" pitchFamily="18" charset="0"/>
              </a:defRPr>
            </a:lvl4pPr>
            <a:lvl5pPr>
              <a:defRPr sz="1400">
                <a:latin typeface="Times New Roman" panose="02020603050405020304" pitchFamily="18" charset="0"/>
                <a:ea typeface="宋体" panose="02010600030101010101" pitchFamily="2" charset="-122"/>
                <a:cs typeface="Times New Roman" panose="02020603050405020304" pitchFamily="18" charset="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ormAutofit/>
          </a:bodyPr>
          <a:lstStyle>
            <a:lvl1pPr>
              <a:defRPr sz="2000">
                <a:latin typeface="Times New Roman" panose="02020603050405020304" pitchFamily="18" charset="0"/>
                <a:ea typeface="宋体" panose="02010600030101010101" pitchFamily="2" charset="-122"/>
                <a:cs typeface="Times New Roman" panose="02020603050405020304" pitchFamily="18" charset="0"/>
              </a:defRPr>
            </a:lvl1pPr>
            <a:lvl2pPr>
              <a:defRPr sz="1800">
                <a:latin typeface="Times New Roman" panose="02020603050405020304" pitchFamily="18" charset="0"/>
                <a:ea typeface="宋体" panose="02010600030101010101" pitchFamily="2" charset="-122"/>
                <a:cs typeface="Times New Roman" panose="02020603050405020304" pitchFamily="18" charset="0"/>
              </a:defRPr>
            </a:lvl2pPr>
            <a:lvl3pPr>
              <a:defRPr sz="1600">
                <a:latin typeface="Times New Roman" panose="02020603050405020304" pitchFamily="18" charset="0"/>
                <a:ea typeface="宋体" panose="02010600030101010101" pitchFamily="2" charset="-122"/>
                <a:cs typeface="Times New Roman" panose="02020603050405020304" pitchFamily="18" charset="0"/>
              </a:defRPr>
            </a:lvl3pPr>
            <a:lvl4pPr>
              <a:defRPr sz="1400">
                <a:latin typeface="Times New Roman" panose="02020603050405020304" pitchFamily="18" charset="0"/>
                <a:ea typeface="宋体" panose="02010600030101010101" pitchFamily="2" charset="-122"/>
                <a:cs typeface="Times New Roman" panose="02020603050405020304" pitchFamily="18" charset="0"/>
              </a:defRPr>
            </a:lvl4pPr>
            <a:lvl5pPr>
              <a:defRPr sz="1400">
                <a:latin typeface="Times New Roman" panose="02020603050405020304" pitchFamily="18" charset="0"/>
                <a:ea typeface="宋体" panose="02010600030101010101" pitchFamily="2" charset="-122"/>
                <a:cs typeface="Times New Roman" panose="02020603050405020304" pitchFamily="18" charset="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97E08DB-5D11-4DB9-A8FB-2157932CD96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7E08DB-5D11-4DB9-A8FB-2157932CD96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E286F-43B7-4A0F-8B79-68B3D53A3AF7}" type="datetimeFigureOut">
              <a:rPr lang="zh-CN" altLang="en-US" smtClean="0"/>
              <a:t>2024/12/9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7E08DB-5D11-4DB9-A8FB-2157932CD96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宋体" panose="02010600030101010101" pitchFamily="2" charset="-122"/>
                <a:ea typeface="宋体" panose="02010600030101010101" pitchFamily="2" charset="-122"/>
              </a:rPr>
              <a:t>期中试卷讲解</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a:t>
            </a:r>
            <a:r>
              <a:rPr lang="zh-CN" altLang="en-US"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算法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a:t>
            </a:r>
            <a:r>
              <a:rPr lang="zh-CN" altLang="e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B</a:t>
            </a:r>
            <a:r>
              <a:rPr lang="zh-CN" altLang="e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C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的时间复杂度依次为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和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O(2</a:t>
            </a:r>
            <a:r>
              <a:rPr lang="en" altLang="zh-CN" sz="22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和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en" altLang="zh-CN" sz="22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100</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其中时间复杂度最高的是算法</a:t>
            </a:r>
            <a:r>
              <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a:t>
            </a:r>
            <a:r>
              <a:rPr lang="zh-C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zh-CN" sz="2200" kern="100" dirty="0">
                <a:effectLst/>
                <a:latin typeface="宋体" panose="02010600030101010101" pitchFamily="2" charset="-122"/>
                <a:ea typeface="宋体" panose="02010600030101010101" pitchFamily="2" charset="-122"/>
                <a:cs typeface="Times New Roman" panose="02020503050405090304" pitchFamily="18" charset="0"/>
              </a:rPr>
            </a:br>
            <a:r>
              <a:rPr lang="zh-CN" altLang="zh-CN" sz="2200" kern="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en-US" altLang="zh-CN"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a:t>
            </a:r>
            <a:endParaRPr lang="zh-CN" altLang="en-US" sz="2200" dirty="0"/>
          </a:p>
        </p:txBody>
      </p:sp>
      <p:sp>
        <p:nvSpPr>
          <p:cNvPr id="7" name="内容占位符 6"/>
          <p:cNvSpPr>
            <a:spLocks noGrp="1"/>
          </p:cNvSpPr>
          <p:nvPr>
            <p:ph idx="1"/>
          </p:nvPr>
        </p:nvSpPr>
        <p:spPr>
          <a:xfrm>
            <a:off x="838200" y="2414726"/>
            <a:ext cx="10515600" cy="3762237"/>
          </a:xfrm>
        </p:spPr>
        <p:txBody>
          <a:bodyPr/>
          <a:lstStyle/>
          <a:p>
            <a:endPar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a:p>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en" altLang="zh-CN" sz="20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100</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是一个</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多项式时间复杂度</a:t>
            </a:r>
            <a:endParaRPr lang="en-US" altLang="zh-CN" dirty="0"/>
          </a:p>
          <a:p>
            <a:endParaRPr lang="en-US" altLang="zh-CN" dirty="0"/>
          </a:p>
          <a:p>
            <a:r>
              <a:rPr lang="zh-CN" altLang="en-US" dirty="0"/>
              <a:t>对于</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O(n!)</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和 </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O(2</a:t>
            </a:r>
            <a:r>
              <a:rPr lang="en" altLang="zh-CN" sz="20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a:t>
            </a:r>
            <a:r>
              <a:rPr lang="en"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endParaRPr lang="en-US" altLang="zh-CN" dirty="0"/>
          </a:p>
          <a:p>
            <a:r>
              <a:rPr lang="zh-CN" altLang="en-US" dirty="0"/>
              <a:t>当</a:t>
            </a:r>
            <a:r>
              <a:rPr lang="en-US" altLang="zh-CN" dirty="0"/>
              <a:t>n=10</a:t>
            </a:r>
            <a:r>
              <a:rPr lang="zh-CN" altLang="en-US" dirty="0"/>
              <a:t>时，</a:t>
            </a:r>
            <a:endParaRPr lang="en-US" altLang="zh-CN" dirty="0"/>
          </a:p>
          <a:p>
            <a:r>
              <a:rPr lang="en-US" altLang="zh-CN" dirty="0"/>
              <a:t>10!=</a:t>
            </a:r>
            <a:r>
              <a:rPr lang="zh-CN" altLang="en-US" dirty="0"/>
              <a:t> </a:t>
            </a:r>
            <a:r>
              <a:rPr lang="en-US" altLang="zh-CN" dirty="0"/>
              <a:t>3628800</a:t>
            </a:r>
            <a:r>
              <a:rPr lang="zh-CN" altLang="en-US" dirty="0"/>
              <a:t>，</a:t>
            </a:r>
            <a:endParaRPr lang="en-US" altLang="zh-CN" dirty="0"/>
          </a:p>
          <a:p>
            <a:r>
              <a:rPr lang="en-US" altLang="zh-CN" dirty="0"/>
              <a:t>2</a:t>
            </a:r>
            <a:r>
              <a:rPr lang="en-US" altLang="zh-CN" baseline="30000" dirty="0"/>
              <a:t>10</a:t>
            </a:r>
            <a:r>
              <a:rPr lang="en-US" altLang="zh-CN" dirty="0"/>
              <a:t>=1024</a:t>
            </a:r>
          </a:p>
          <a:p>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：设元素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依次进栈，出栈序列为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如果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n-2</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 altLang="zh-CN" sz="2400" kern="100" baseline="-25000" dirty="0" err="1">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那么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q</a:t>
            </a:r>
            <a:r>
              <a:rPr lang="en"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3</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p</a:t>
            </a:r>
            <a:r>
              <a:rPr lang="en-US" altLang="zh-CN" sz="2400" kern="100" baseline="-250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n-1</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endParaRPr lang="zh-CN" altLang="en-US" sz="4000" dirty="0"/>
          </a:p>
        </p:txBody>
      </p:sp>
      <p:sp>
        <p:nvSpPr>
          <p:cNvPr id="28" name="内容占位符 6"/>
          <p:cNvSpPr>
            <a:spLocks noGrp="1"/>
          </p:cNvSpPr>
          <p:nvPr>
            <p:ph idx="1"/>
          </p:nvPr>
        </p:nvSpPr>
        <p:spPr>
          <a:xfrm>
            <a:off x="838200" y="2414726"/>
            <a:ext cx="10515600" cy="3762237"/>
          </a:xfrm>
        </p:spPr>
        <p:txBody>
          <a:bodyPr/>
          <a:lstStyle/>
          <a:p>
            <a:endParaRPr lang="en-US" altLang="zh-CN" dirty="0"/>
          </a:p>
          <a:p>
            <a:r>
              <a:rPr lang="zh-CN" altLang="en-US" dirty="0"/>
              <a:t>元素按照顺序依次进栈。</a:t>
            </a:r>
            <a:endParaRPr lang="en-US" altLang="zh-CN" dirty="0"/>
          </a:p>
          <a:p>
            <a:endParaRPr lang="en-US" altLang="zh-CN" dirty="0"/>
          </a:p>
          <a:p>
            <a:r>
              <a:rPr lang="zh-CN" altLang="en-US" dirty="0"/>
              <a:t>第</a:t>
            </a:r>
            <a:r>
              <a:rPr lang="en-US" altLang="zh-CN" dirty="0"/>
              <a:t>1</a:t>
            </a:r>
            <a:r>
              <a:rPr lang="zh-CN" altLang="en-US" dirty="0"/>
              <a:t>个出栈元素 </a:t>
            </a:r>
            <a:r>
              <a:rPr lang="en" altLang="zh-CN" dirty="0"/>
              <a:t>q</a:t>
            </a:r>
            <a:r>
              <a:rPr lang="en" altLang="zh-CN" baseline="-25000" dirty="0"/>
              <a:t>1</a:t>
            </a:r>
            <a:r>
              <a:rPr lang="en" altLang="zh-CN" dirty="0"/>
              <a:t>=p</a:t>
            </a:r>
            <a:r>
              <a:rPr lang="en" altLang="zh-CN" baseline="-25000" dirty="0"/>
              <a:t>n−2</a:t>
            </a:r>
            <a:r>
              <a:rPr lang="en" altLang="zh-CN" dirty="0"/>
              <a:t> </a:t>
            </a:r>
            <a:r>
              <a:rPr lang="zh-CN" altLang="en-US" dirty="0"/>
              <a:t>，那么</a:t>
            </a:r>
            <a:r>
              <a:rPr lang="en" altLang="zh-CN" dirty="0" err="1"/>
              <a:t>p</a:t>
            </a:r>
            <a:r>
              <a:rPr lang="en" altLang="zh-CN" baseline="-25000" dirty="0" err="1"/>
              <a:t>n</a:t>
            </a:r>
            <a:r>
              <a:rPr lang="en" altLang="zh-CN" baseline="-25000" dirty="0"/>
              <a:t>−</a:t>
            </a:r>
            <a:r>
              <a:rPr lang="en-US" altLang="zh-CN" baseline="-25000" dirty="0"/>
              <a:t>2</a:t>
            </a:r>
            <a:r>
              <a:rPr lang="zh-CN" altLang="en-US" dirty="0"/>
              <a:t>必须在进栈后立即出栈。</a:t>
            </a:r>
            <a:endParaRPr lang="en-US" altLang="zh-CN" dirty="0"/>
          </a:p>
          <a:p>
            <a:endParaRPr lang="en-US" altLang="zh-CN" dirty="0"/>
          </a:p>
          <a:p>
            <a:r>
              <a:rPr lang="zh-CN" altLang="en-US" dirty="0"/>
              <a:t>第 </a:t>
            </a:r>
            <a:r>
              <a:rPr lang="en-US" altLang="zh-CN" dirty="0"/>
              <a:t>2 </a:t>
            </a:r>
            <a:r>
              <a:rPr lang="zh-CN" altLang="en-US" dirty="0"/>
              <a:t>个出栈元素 </a:t>
            </a:r>
            <a:r>
              <a:rPr lang="en" altLang="zh-CN" dirty="0"/>
              <a:t>q</a:t>
            </a:r>
            <a:r>
              <a:rPr lang="en" altLang="zh-CN" baseline="-25000" dirty="0"/>
              <a:t>2</a:t>
            </a:r>
            <a:r>
              <a:rPr lang="en" altLang="zh-CN" dirty="0"/>
              <a:t>=</a:t>
            </a:r>
            <a:r>
              <a:rPr lang="en" altLang="zh-CN" dirty="0" err="1"/>
              <a:t>p</a:t>
            </a:r>
            <a:r>
              <a:rPr lang="en" altLang="zh-CN" baseline="-25000" dirty="0" err="1"/>
              <a:t>n</a:t>
            </a:r>
            <a:r>
              <a:rPr lang="zh-CN" altLang="en" dirty="0"/>
              <a:t>，</a:t>
            </a:r>
            <a:r>
              <a:rPr lang="zh-CN" altLang="en-US" dirty="0"/>
              <a:t>说明在 </a:t>
            </a:r>
            <a:r>
              <a:rPr lang="en" altLang="zh-CN" dirty="0" err="1"/>
              <a:t>p</a:t>
            </a:r>
            <a:r>
              <a:rPr lang="en" altLang="zh-CN" baseline="-25000" dirty="0" err="1"/>
              <a:t>n</a:t>
            </a:r>
            <a:r>
              <a:rPr lang="zh-CN" altLang="en-US" dirty="0"/>
              <a:t>出栈时，</a:t>
            </a:r>
            <a:r>
              <a:rPr lang="en" altLang="zh-CN" dirty="0" err="1"/>
              <a:t>p</a:t>
            </a:r>
            <a:r>
              <a:rPr lang="en" altLang="zh-CN" baseline="-25000" dirty="0" err="1"/>
              <a:t>n</a:t>
            </a:r>
            <a:r>
              <a:rPr lang="en" altLang="zh-CN" baseline="-25000" dirty="0"/>
              <a:t>−</a:t>
            </a:r>
            <a:r>
              <a:rPr lang="en-US" altLang="zh-CN" baseline="-25000" dirty="0"/>
              <a:t>1</a:t>
            </a:r>
            <a:r>
              <a:rPr lang="zh-CN" altLang="en-US" dirty="0"/>
              <a:t>仍然在栈顶</a:t>
            </a:r>
            <a:endParaRPr lang="en-US" altLang="zh-CN" dirty="0"/>
          </a:p>
        </p:txBody>
      </p:sp>
    </p:spTree>
    <p:extLst>
      <p:ext uri="{BB962C8B-B14F-4D97-AF65-F5344CB8AC3E}">
        <p14:creationId xmlns:p14="http://schemas.microsoft.com/office/powerpoint/2010/main" val="2302744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D330F-078F-40B2-F0B2-A8D578526DF4}"/>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2ACF6FD5-9885-F7BA-4B88-D9DD2DE1DD44}"/>
              </a:ext>
            </a:extLst>
          </p:cNvPr>
          <p:cNvSpPr>
            <a:spLocks noGrp="1"/>
          </p:cNvSpPr>
          <p:nvPr>
            <p:ph type="title"/>
          </p:nvPr>
        </p:nvSpPr>
        <p:spPr>
          <a:xfrm>
            <a:off x="838200" y="365125"/>
            <a:ext cx="10515600" cy="2049601"/>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3</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：单循环链表表示的队列长度为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n</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若只设尾指针，则进队的时间复杂度为</a:t>
            </a:r>
            <a:b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O(1)</a:t>
            </a:r>
            <a:endParaRPr lang="zh-CN" altLang="en-US" sz="4000" dirty="0"/>
          </a:p>
        </p:txBody>
      </p:sp>
      <p:sp>
        <p:nvSpPr>
          <p:cNvPr id="28" name="内容占位符 6">
            <a:extLst>
              <a:ext uri="{FF2B5EF4-FFF2-40B4-BE49-F238E27FC236}">
                <a16:creationId xmlns:a16="http://schemas.microsoft.com/office/drawing/2014/main" id="{85DB7583-5B0F-E062-7B2D-732B2CB2216D}"/>
              </a:ext>
            </a:extLst>
          </p:cNvPr>
          <p:cNvSpPr>
            <a:spLocks noGrp="1"/>
          </p:cNvSpPr>
          <p:nvPr>
            <p:ph idx="1"/>
          </p:nvPr>
        </p:nvSpPr>
        <p:spPr>
          <a:xfrm>
            <a:off x="838200" y="2414726"/>
            <a:ext cx="10515600" cy="3762237"/>
          </a:xfrm>
        </p:spPr>
        <p:txBody>
          <a:bodyPr/>
          <a:lstStyle/>
          <a:p>
            <a:r>
              <a:rPr lang="zh-CN" altLang="en-US" dirty="0"/>
              <a:t>单循环链表的特点</a:t>
            </a:r>
            <a:endParaRPr lang="en-US" altLang="zh-CN" dirty="0"/>
          </a:p>
          <a:p>
            <a:pPr lvl="1"/>
            <a:r>
              <a:rPr lang="zh-CN" altLang="en-US" dirty="0"/>
              <a:t>每个节点只保存一个指向下一个节点的指针。</a:t>
            </a:r>
            <a:endParaRPr lang="en-US" altLang="zh-CN" dirty="0"/>
          </a:p>
          <a:p>
            <a:pPr lvl="1"/>
            <a:r>
              <a:rPr lang="zh-CN" altLang="en-US" dirty="0"/>
              <a:t>尾指针指向链表的尾节点，尾节点的</a:t>
            </a:r>
            <a:r>
              <a:rPr lang="en" altLang="zh-CN" b="1" dirty="0"/>
              <a:t>next</a:t>
            </a:r>
            <a:r>
              <a:rPr lang="zh-CN" altLang="en-US" dirty="0"/>
              <a:t>指针指向链表的头节点，形成循环。</a:t>
            </a:r>
            <a:endParaRPr lang="en-US" altLang="zh-CN" dirty="0"/>
          </a:p>
          <a:p>
            <a:endParaRPr lang="en-US" altLang="zh-CN" dirty="0"/>
          </a:p>
          <a:p>
            <a:r>
              <a:rPr lang="zh-CN" altLang="en-US" dirty="0"/>
              <a:t>进队操作</a:t>
            </a:r>
            <a:endParaRPr lang="en-US" altLang="zh-CN" dirty="0"/>
          </a:p>
          <a:p>
            <a:pPr lvl="1"/>
            <a:r>
              <a:rPr lang="zh-CN" altLang="en-US" dirty="0"/>
              <a:t>将当前尾节点的 </a:t>
            </a:r>
            <a:r>
              <a:rPr lang="en" altLang="zh-CN" b="1" dirty="0"/>
              <a:t>next</a:t>
            </a:r>
            <a:r>
              <a:rPr lang="en" altLang="zh-CN" dirty="0"/>
              <a:t> </a:t>
            </a:r>
            <a:r>
              <a:rPr lang="zh-CN" altLang="en-US" dirty="0"/>
              <a:t>指针指向新节点</a:t>
            </a:r>
            <a:endParaRPr lang="en-US" altLang="zh-CN" dirty="0"/>
          </a:p>
          <a:p>
            <a:pPr lvl="1"/>
            <a:r>
              <a:rPr lang="zh-CN" altLang="en-US" dirty="0"/>
              <a:t>更新尾指针，使其指向新节点</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2245784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BF124-8405-BF46-D89A-0153D5666176}"/>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84F79D5-B17F-7BF7-BC03-AB04205C1436}"/>
              </a:ext>
            </a:extLst>
          </p:cNvPr>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4</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：已 知 广 义 表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LS=(a, (b, c, d), e)</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假 设 求 表 头 操 作 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Head</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求 表 尾 操作为 </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Tail</a:t>
            </a:r>
            <a:r>
              <a:rPr lang="zh-CN" altLang="e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则</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c=</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Head(Tail(Head(Tail(LS))))</a:t>
            </a:r>
            <a:endParaRPr lang="zh-CN" altLang="en-US" sz="4000" dirty="0"/>
          </a:p>
        </p:txBody>
      </p:sp>
      <p:sp>
        <p:nvSpPr>
          <p:cNvPr id="28" name="内容占位符 6">
            <a:extLst>
              <a:ext uri="{FF2B5EF4-FFF2-40B4-BE49-F238E27FC236}">
                <a16:creationId xmlns:a16="http://schemas.microsoft.com/office/drawing/2014/main" id="{28D5F1CA-EC06-1920-8824-8678B3AD0D88}"/>
              </a:ext>
            </a:extLst>
          </p:cNvPr>
          <p:cNvSpPr>
            <a:spLocks noGrp="1"/>
          </p:cNvSpPr>
          <p:nvPr>
            <p:ph idx="1"/>
          </p:nvPr>
        </p:nvSpPr>
        <p:spPr>
          <a:xfrm>
            <a:off x="838200" y="2730638"/>
            <a:ext cx="10515600" cy="3762237"/>
          </a:xfrm>
        </p:spPr>
        <p:txBody>
          <a:bodyPr/>
          <a:lstStyle/>
          <a:p>
            <a:r>
              <a:rPr lang="zh-CN" altLang="en-US" dirty="0"/>
              <a:t>具体的步骤：</a:t>
            </a:r>
            <a:endParaRPr lang="en-US" altLang="zh-CN" dirty="0"/>
          </a:p>
          <a:p>
            <a:r>
              <a:rPr lang="zh-CN" altLang="en-US" dirty="0"/>
              <a:t>对</a:t>
            </a:r>
            <a:r>
              <a:rPr lang="en" altLang="zh-CN" dirty="0"/>
              <a:t>LS</a:t>
            </a:r>
            <a:r>
              <a:rPr lang="zh-CN" altLang="en-US" dirty="0"/>
              <a:t>应用一次 </a:t>
            </a:r>
            <a:r>
              <a:rPr lang="en" altLang="zh-CN" dirty="0"/>
              <a:t>Tail</a:t>
            </a:r>
            <a:r>
              <a:rPr lang="zh-CN" altLang="en-US" dirty="0"/>
              <a:t>操作</a:t>
            </a:r>
            <a:r>
              <a:rPr lang="zh-CN" altLang="en" dirty="0"/>
              <a:t>，</a:t>
            </a:r>
            <a:r>
              <a:rPr lang="zh-CN" altLang="en-US" dirty="0"/>
              <a:t>得到</a:t>
            </a:r>
            <a:r>
              <a:rPr lang="en" altLang="zh-CN" dirty="0"/>
              <a:t>((b, c, d), e)</a:t>
            </a:r>
            <a:r>
              <a:rPr lang="zh-CN" altLang="en" dirty="0"/>
              <a:t>。</a:t>
            </a:r>
            <a:endParaRPr lang="en-US" altLang="zh-CN" dirty="0"/>
          </a:p>
          <a:p>
            <a:r>
              <a:rPr lang="zh-CN" altLang="en-US" dirty="0"/>
              <a:t>对</a:t>
            </a:r>
            <a:r>
              <a:rPr lang="en" altLang="zh-CN" dirty="0"/>
              <a:t>((b, c, d), e)</a:t>
            </a:r>
            <a:r>
              <a:rPr lang="zh-CN" altLang="en-US" dirty="0"/>
              <a:t>应用一次 </a:t>
            </a:r>
            <a:r>
              <a:rPr lang="en" altLang="zh-CN" dirty="0"/>
              <a:t>Head</a:t>
            </a:r>
            <a:r>
              <a:rPr lang="zh-CN" altLang="en-US" dirty="0"/>
              <a:t>操作</a:t>
            </a:r>
            <a:r>
              <a:rPr lang="zh-CN" altLang="en" dirty="0"/>
              <a:t>，</a:t>
            </a:r>
            <a:r>
              <a:rPr lang="zh-CN" altLang="en-US" dirty="0"/>
              <a:t>得到</a:t>
            </a:r>
            <a:r>
              <a:rPr lang="en" altLang="zh-CN" dirty="0"/>
              <a:t>(b, c, d)</a:t>
            </a:r>
            <a:r>
              <a:rPr lang="zh-CN" altLang="en" dirty="0"/>
              <a:t>。</a:t>
            </a:r>
            <a:endParaRPr lang="en-US" altLang="zh-CN" dirty="0"/>
          </a:p>
          <a:p>
            <a:r>
              <a:rPr lang="zh-CN" altLang="en-US" dirty="0"/>
              <a:t>对</a:t>
            </a:r>
            <a:r>
              <a:rPr lang="en" altLang="zh-CN" dirty="0"/>
              <a:t>(b, c, d)</a:t>
            </a:r>
            <a:r>
              <a:rPr lang="zh-CN" altLang="en-US" dirty="0"/>
              <a:t>应用一次 </a:t>
            </a:r>
            <a:r>
              <a:rPr lang="en" altLang="zh-CN" dirty="0"/>
              <a:t>Tail</a:t>
            </a:r>
            <a:r>
              <a:rPr lang="zh-CN" altLang="en-US" dirty="0"/>
              <a:t>操作</a:t>
            </a:r>
            <a:r>
              <a:rPr lang="zh-CN" altLang="en" dirty="0"/>
              <a:t>，</a:t>
            </a:r>
            <a:r>
              <a:rPr lang="zh-CN" altLang="en-US" dirty="0"/>
              <a:t>得到</a:t>
            </a:r>
            <a:r>
              <a:rPr lang="en" altLang="zh-CN" dirty="0"/>
              <a:t>(c, d)</a:t>
            </a:r>
            <a:r>
              <a:rPr lang="zh-CN" altLang="en" dirty="0"/>
              <a:t>。</a:t>
            </a:r>
            <a:endParaRPr lang="en-US" altLang="zh-CN" dirty="0"/>
          </a:p>
          <a:p>
            <a:r>
              <a:rPr lang="zh-CN" altLang="en-US" dirty="0"/>
              <a:t>对</a:t>
            </a:r>
            <a:r>
              <a:rPr lang="en" altLang="zh-CN" dirty="0"/>
              <a:t>(c, d)</a:t>
            </a:r>
            <a:r>
              <a:rPr lang="zh-CN" altLang="en-US" dirty="0"/>
              <a:t>应用一次 </a:t>
            </a:r>
            <a:r>
              <a:rPr lang="en" altLang="zh-CN" dirty="0"/>
              <a:t>Head</a:t>
            </a:r>
            <a:r>
              <a:rPr lang="zh-CN" altLang="en-US" dirty="0"/>
              <a:t>操作</a:t>
            </a:r>
            <a:r>
              <a:rPr lang="zh-CN" altLang="en" dirty="0"/>
              <a:t>，</a:t>
            </a:r>
            <a:r>
              <a:rPr lang="zh-CN" altLang="en-US" dirty="0"/>
              <a:t>得到</a:t>
            </a:r>
            <a:r>
              <a:rPr lang="en-US" altLang="zh-CN" dirty="0"/>
              <a:t>c</a:t>
            </a:r>
            <a:r>
              <a:rPr lang="zh-CN" altLang="en" dirty="0"/>
              <a:t>。</a:t>
            </a:r>
            <a:endParaRPr lang="en-US" altLang="zh-CN" dirty="0"/>
          </a:p>
          <a:p>
            <a:endParaRPr lang="en-US" altLang="zh-CN" dirty="0"/>
          </a:p>
          <a:p>
            <a:r>
              <a:rPr lang="zh-CN" altLang="en-US" dirty="0"/>
              <a:t>则</a:t>
            </a:r>
            <a:r>
              <a:rPr lang="en-US" altLang="zh-CN" dirty="0"/>
              <a:t>c</a:t>
            </a:r>
            <a:r>
              <a:rPr lang="zh-CN" altLang="en-US" dirty="0"/>
              <a:t> </a:t>
            </a:r>
            <a:r>
              <a:rPr lang="en-US" altLang="zh-CN" dirty="0"/>
              <a:t>=</a:t>
            </a:r>
            <a:r>
              <a:rPr lang="en" altLang="zh-CN" sz="20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Head(Tail(Head(Tail(LS))))</a:t>
            </a:r>
            <a:endParaRPr lang="en-US" altLang="zh-CN" dirty="0"/>
          </a:p>
        </p:txBody>
      </p:sp>
    </p:spTree>
    <p:extLst>
      <p:ext uri="{BB962C8B-B14F-4D97-AF65-F5344CB8AC3E}">
        <p14:creationId xmlns:p14="http://schemas.microsoft.com/office/powerpoint/2010/main" val="151480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1"/>
            <a:ext cx="10515600" cy="2710686"/>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5</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已知三对角矩阵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A[1..9, 1..9]</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的每个元素占用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2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个单元，现将其三条对角线上的元素逐行存储在起始地址为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1000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的连续内存单元中，则元素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A[8][7]</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的存储地址为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；如按列优先顺序进行存储，则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A[8][7]</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的存储地址为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(1) 1040</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(2) 1038</a:t>
            </a:r>
            <a:endParaRPr lang="zh-CN" altLang="en-US" sz="4000" dirty="0"/>
          </a:p>
        </p:txBody>
      </p:sp>
      <p:sp>
        <p:nvSpPr>
          <p:cNvPr id="28" name="内容占位符 6"/>
          <p:cNvSpPr>
            <a:spLocks noGrp="1"/>
          </p:cNvSpPr>
          <p:nvPr>
            <p:ph idx="1"/>
          </p:nvPr>
        </p:nvSpPr>
        <p:spPr>
          <a:xfrm>
            <a:off x="838200" y="2414727"/>
            <a:ext cx="10515600" cy="1166674"/>
          </a:xfrm>
        </p:spPr>
        <p:txBody>
          <a:bodyPr/>
          <a:lstStyle/>
          <a:p>
            <a:endParaRPr lang="en-US" altLang="zh-CN" dirty="0"/>
          </a:p>
          <a:p>
            <a:r>
              <a:rPr lang="zh-CN" altLang="en-US" dirty="0"/>
              <a:t>三对角矩阵是指矩阵中仅有主对角线、上对角线、和下对角线存在非零元素，其余元素为零。</a:t>
            </a:r>
            <a:endParaRPr lang="en-US" altLang="zh-CN" dirty="0"/>
          </a:p>
          <a:p>
            <a:endParaRPr lang="zh-CN" altLang="en-US" dirty="0"/>
          </a:p>
        </p:txBody>
      </p:sp>
      <p:sp>
        <p:nvSpPr>
          <p:cNvPr id="2" name="内容占位符 6">
            <a:extLst>
              <a:ext uri="{FF2B5EF4-FFF2-40B4-BE49-F238E27FC236}">
                <a16:creationId xmlns:a16="http://schemas.microsoft.com/office/drawing/2014/main" id="{E3FD99BA-1C63-7F12-1A76-6E6A93F20E56}"/>
              </a:ext>
            </a:extLst>
          </p:cNvPr>
          <p:cNvSpPr txBox="1">
            <a:spLocks/>
          </p:cNvSpPr>
          <p:nvPr/>
        </p:nvSpPr>
        <p:spPr>
          <a:xfrm>
            <a:off x="838200" y="3643662"/>
            <a:ext cx="4800600" cy="12035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0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1pPr>
            <a:lvl2pPr marL="685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2pPr>
            <a:lvl3pPr marL="11430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t>(1)</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逐行</a:t>
            </a:r>
            <a:r>
              <a:rPr lang="zh-CN" altLang="en-US" dirty="0"/>
              <a:t>存储</a:t>
            </a:r>
          </a:p>
          <a:p>
            <a:r>
              <a:rPr lang="en-US" altLang="zh-CN" dirty="0"/>
              <a:t>(2 + 3* (8 - 1 - 1)) * 2 = 1040</a:t>
            </a:r>
          </a:p>
        </p:txBody>
      </p:sp>
      <p:sp>
        <p:nvSpPr>
          <p:cNvPr id="3" name="内容占位符 6">
            <a:extLst>
              <a:ext uri="{FF2B5EF4-FFF2-40B4-BE49-F238E27FC236}">
                <a16:creationId xmlns:a16="http://schemas.microsoft.com/office/drawing/2014/main" id="{6CE6AF16-2BB2-F6C7-2150-77FAC108668F}"/>
              </a:ext>
            </a:extLst>
          </p:cNvPr>
          <p:cNvSpPr txBox="1">
            <a:spLocks/>
          </p:cNvSpPr>
          <p:nvPr/>
        </p:nvSpPr>
        <p:spPr>
          <a:xfrm>
            <a:off x="845869" y="4946224"/>
            <a:ext cx="5257800" cy="11666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0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1pPr>
            <a:lvl2pPr marL="685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2pPr>
            <a:lvl3pPr marL="1143000" indent="-228600" algn="l" defTabSz="914400" rtl="0" eaLnBrk="1" latinLnBrk="0" hangingPunct="1">
              <a:lnSpc>
                <a:spcPct val="90000"/>
              </a:lnSpc>
              <a:spcBef>
                <a:spcPts val="500"/>
              </a:spcBef>
              <a:buFont typeface="Arial" panose="020B0604020202090204" pitchFamily="34" charset="0"/>
              <a:buChar char="•"/>
              <a:defRPr sz="16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400" kern="1200">
                <a:solidFill>
                  <a:schemeClr val="tx1"/>
                </a:solidFill>
                <a:latin typeface="Times New Roman" panose="02020503050405090304" pitchFamily="18" charset="0"/>
                <a:ea typeface="宋体" panose="02010600030101010101" pitchFamily="2" charset="-122"/>
                <a:cs typeface="Times New Roman" panose="02020503050405090304" pitchFamily="18"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t>(2)</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逐列</a:t>
            </a:r>
            <a:r>
              <a:rPr lang="zh-CN" altLang="en-US" dirty="0"/>
              <a:t>存储</a:t>
            </a:r>
            <a:endParaRPr lang="en-US" altLang="zh-CN" dirty="0"/>
          </a:p>
          <a:p>
            <a:r>
              <a:rPr lang="en-US" altLang="zh-CN" dirty="0"/>
              <a:t>(2 + 3* (7 - 1 - 1) + 2) * 2 = 1038</a:t>
            </a:r>
          </a:p>
          <a:p>
            <a:endParaRPr lang="en-US" altLang="zh-CN" dirty="0"/>
          </a:p>
        </p:txBody>
      </p:sp>
      <p:sp>
        <p:nvSpPr>
          <p:cNvPr id="5" name="Rectangle 2">
            <a:extLst>
              <a:ext uri="{FF2B5EF4-FFF2-40B4-BE49-F238E27FC236}">
                <a16:creationId xmlns:a16="http://schemas.microsoft.com/office/drawing/2014/main" id="{C46B92FC-9E5F-DDE4-E27B-C5980C2AD17D}"/>
              </a:ext>
            </a:extLst>
          </p:cNvPr>
          <p:cNvSpPr>
            <a:spLocks noChangeArrowheads="1"/>
          </p:cNvSpPr>
          <p:nvPr/>
        </p:nvSpPr>
        <p:spPr bwMode="auto">
          <a:xfrm>
            <a:off x="10041441" y="4804820"/>
            <a:ext cx="765573" cy="885741"/>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Rectangle 3">
            <a:extLst>
              <a:ext uri="{FF2B5EF4-FFF2-40B4-BE49-F238E27FC236}">
                <a16:creationId xmlns:a16="http://schemas.microsoft.com/office/drawing/2014/main" id="{496474CA-A7B6-ED4D-0C1F-0A316328DC35}"/>
              </a:ext>
            </a:extLst>
          </p:cNvPr>
          <p:cNvSpPr>
            <a:spLocks noChangeArrowheads="1"/>
          </p:cNvSpPr>
          <p:nvPr/>
        </p:nvSpPr>
        <p:spPr bwMode="auto">
          <a:xfrm>
            <a:off x="9290515" y="4376059"/>
            <a:ext cx="765573" cy="131450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8" name="Rectangle 4">
            <a:extLst>
              <a:ext uri="{FF2B5EF4-FFF2-40B4-BE49-F238E27FC236}">
                <a16:creationId xmlns:a16="http://schemas.microsoft.com/office/drawing/2014/main" id="{A1938331-FE00-215B-E467-04B276EDC51D}"/>
              </a:ext>
            </a:extLst>
          </p:cNvPr>
          <p:cNvSpPr>
            <a:spLocks noChangeArrowheads="1"/>
          </p:cNvSpPr>
          <p:nvPr/>
        </p:nvSpPr>
        <p:spPr bwMode="auto">
          <a:xfrm>
            <a:off x="8257108" y="3799114"/>
            <a:ext cx="1043963" cy="150454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dirty="0">
              <a:latin typeface="Times New Roman" panose="02020503050405090304" pitchFamily="18" charset="0"/>
              <a:ea typeface="宋体" panose="02010600030101010101" pitchFamily="2" charset="-122"/>
              <a:cs typeface="Times New Roman" panose="02020503050405090304" pitchFamily="18" charset="0"/>
            </a:endParaRPr>
          </a:p>
        </p:txBody>
      </p:sp>
      <p:sp>
        <p:nvSpPr>
          <p:cNvPr id="9" name="Rectangle 5">
            <a:extLst>
              <a:ext uri="{FF2B5EF4-FFF2-40B4-BE49-F238E27FC236}">
                <a16:creationId xmlns:a16="http://schemas.microsoft.com/office/drawing/2014/main" id="{EC878365-0A89-23FC-8C8B-6F20C9374396}"/>
              </a:ext>
            </a:extLst>
          </p:cNvPr>
          <p:cNvSpPr>
            <a:spLocks noChangeArrowheads="1"/>
          </p:cNvSpPr>
          <p:nvPr/>
        </p:nvSpPr>
        <p:spPr bwMode="auto">
          <a:xfrm>
            <a:off x="7238265" y="3300274"/>
            <a:ext cx="1043963" cy="150454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10" name="Rectangle 6">
            <a:extLst>
              <a:ext uri="{FF2B5EF4-FFF2-40B4-BE49-F238E27FC236}">
                <a16:creationId xmlns:a16="http://schemas.microsoft.com/office/drawing/2014/main" id="{62BB06E7-5B95-C285-665B-D0EF44EE6979}"/>
              </a:ext>
            </a:extLst>
          </p:cNvPr>
          <p:cNvSpPr>
            <a:spLocks noChangeArrowheads="1"/>
          </p:cNvSpPr>
          <p:nvPr/>
        </p:nvSpPr>
        <p:spPr bwMode="auto">
          <a:xfrm>
            <a:off x="6326188" y="3304666"/>
            <a:ext cx="904768" cy="107139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kumimoji="1" lang="zh-CN" altLang="en-US" sz="2400">
              <a:latin typeface="Times New Roman" panose="02020503050405090304" pitchFamily="18" charset="0"/>
              <a:ea typeface="宋体" panose="02010600030101010101" pitchFamily="2" charset="-122"/>
              <a:cs typeface="Times New Roman" panose="02020503050405090304" pitchFamily="18" charset="0"/>
            </a:endParaRPr>
          </a:p>
        </p:txBody>
      </p:sp>
      <p:sp>
        <p:nvSpPr>
          <p:cNvPr id="11" name="Text Box 8">
            <a:extLst>
              <a:ext uri="{FF2B5EF4-FFF2-40B4-BE49-F238E27FC236}">
                <a16:creationId xmlns:a16="http://schemas.microsoft.com/office/drawing/2014/main" id="{566A6452-B880-CEF4-2F1D-32E36606C6A5}"/>
              </a:ext>
            </a:extLst>
          </p:cNvPr>
          <p:cNvSpPr txBox="1">
            <a:spLocks noChangeArrowheads="1"/>
          </p:cNvSpPr>
          <p:nvPr/>
        </p:nvSpPr>
        <p:spPr bwMode="auto">
          <a:xfrm>
            <a:off x="11259725" y="3505344"/>
            <a:ext cx="70167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lnSpc>
                <a:spcPct val="80000"/>
              </a:lnSpc>
            </a:pPr>
            <a:r>
              <a:rPr kumimoji="1" lang="zh-CN" altLang="en-US" sz="3200" dirty="0">
                <a:solidFill>
                  <a:srgbClr val="0000CC"/>
                </a:solidFill>
                <a:latin typeface="Times New Roman" panose="02020503050405090304" pitchFamily="18" charset="0"/>
                <a:ea typeface="隶书" panose="02010509060101010101" pitchFamily="49" charset="-122"/>
              </a:rPr>
              <a:t>三对角矩阵</a:t>
            </a:r>
            <a:endParaRPr kumimoji="1" lang="zh-CN" altLang="en-US" dirty="0">
              <a:latin typeface="Times New Roman" panose="0202050305040509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59D13C54-D7AE-04CC-B585-C8EFE9C46B2B}"/>
                  </a:ext>
                </a:extLst>
              </p:cNvPr>
              <p:cNvSpPr txBox="1"/>
              <p:nvPr/>
            </p:nvSpPr>
            <p:spPr bwMode="auto">
              <a:xfrm>
                <a:off x="6149705" y="3344071"/>
                <a:ext cx="4992686" cy="246346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lang="zh-CN" altLang="en-US" sz="3200" i="1" smtClean="0">
                              <a:solidFill>
                                <a:srgbClr val="000000"/>
                              </a:solidFill>
                              <a:latin typeface="Cambria Math" panose="02040503050406030204" pitchFamily="18" charset="0"/>
                            </a:rPr>
                          </m:ctrlPr>
                        </m:dPr>
                        <m:e>
                          <m:m>
                            <m:mPr>
                              <m:plcHide m:val="on"/>
                              <m:mcs>
                                <m:mc>
                                  <m:mcPr>
                                    <m:count m:val="5"/>
                                    <m:mcJc m:val="center"/>
                                  </m:mcPr>
                                </m:mc>
                              </m:mcs>
                              <m:ctrlPr>
                                <a:rPr lang="zh-CN" altLang="en-US" sz="3200" i="1">
                                  <a:solidFill>
                                    <a:srgbClr val="000000"/>
                                  </a:solidFill>
                                  <a:latin typeface="Cambria Math" panose="02040503050406030204" pitchFamily="18" charset="0"/>
                                </a:rPr>
                              </m:ctrlPr>
                            </m:mP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1</m:t>
                                    </m:r>
                                    <m:r>
                                      <a:rPr lang="zh-CN" altLang="en-US" sz="3200" i="1">
                                        <a:solidFill>
                                          <a:srgbClr val="000000"/>
                                        </a:solidFill>
                                        <a:latin typeface="Cambria Math" panose="02040503050406030204" pitchFamily="18" charset="0"/>
                                      </a:rPr>
                                      <m:t>𝑛</m:t>
                                    </m:r>
                                  </m:sub>
                                </m:sSub>
                              </m:e>
                            </m:m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m:t>
                                    </m:r>
                                    <m:r>
                                      <a:rPr lang="zh-CN" altLang="en-US" sz="3200" i="1">
                                        <a:solidFill>
                                          <a:srgbClr val="000000"/>
                                        </a:solidFill>
                                        <a:latin typeface="Cambria Math" panose="02040503050406030204" pitchFamily="18" charset="0"/>
                                      </a:rPr>
                                      <m:t>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2</m:t>
                                    </m:r>
                                    <m:r>
                                      <a:rPr lang="zh-CN" altLang="en-US" sz="3200" i="1">
                                        <a:solidFill>
                                          <a:srgbClr val="000000"/>
                                        </a:solidFill>
                                        <a:latin typeface="Cambria Math" panose="02040503050406030204" pitchFamily="18" charset="0"/>
                                      </a:rPr>
                                      <m:t>𝑛</m:t>
                                    </m:r>
                                  </m:sub>
                                </m:sSub>
                              </m:e>
                            </m:m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en-US" altLang="zh-CN" sz="3200" b="0" i="1" smtClean="0">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𝑛</m:t>
                                    </m:r>
                                  </m:sub>
                                </m:sSub>
                              </m:e>
                            </m:mr>
                            <m:mr>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e>
                                <m:r>
                                  <a:rPr lang="zh-CN" altLang="en-US" sz="3200" i="1">
                                    <a:solidFill>
                                      <a:srgbClr val="000000"/>
                                    </a:solidFill>
                                    <a:latin typeface="Cambria Math" panose="02040503050406030204" pitchFamily="18" charset="0"/>
                                  </a:rPr>
                                  <m:t>⋯</m:t>
                                </m:r>
                              </m:e>
                            </m:mr>
                            <m:mr>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m:t>
                                    </m:r>
                                    <m:r>
                                      <a:rPr lang="en-US" altLang="zh-CN" sz="3200" b="0" i="1" smtClean="0">
                                        <a:solidFill>
                                          <a:srgbClr val="000000"/>
                                        </a:solidFill>
                                        <a:latin typeface="Cambria Math" panose="02040503050406030204" pitchFamily="18" charset="0"/>
                                      </a:rPr>
                                      <m:t>1</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m:t>
                                    </m:r>
                                    <m:r>
                                      <a:rPr lang="en-US" altLang="zh-CN" sz="3200" b="0" i="1" smtClean="0">
                                        <a:solidFill>
                                          <a:srgbClr val="000000"/>
                                        </a:solidFill>
                                        <a:latin typeface="Cambria Math" panose="02040503050406030204" pitchFamily="18" charset="0"/>
                                      </a:rPr>
                                      <m:t>2</m:t>
                                    </m:r>
                                  </m:sub>
                                </m:sSub>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m:t>
                                    </m:r>
                                    <m:r>
                                      <a:rPr lang="en-US" altLang="zh-CN" sz="3200" b="0" i="1" smtClean="0">
                                        <a:solidFill>
                                          <a:srgbClr val="000000"/>
                                        </a:solidFill>
                                        <a:latin typeface="Cambria Math" panose="02040503050406030204" pitchFamily="18" charset="0"/>
                                      </a:rPr>
                                      <m:t>3</m:t>
                                    </m:r>
                                  </m:sub>
                                </m:sSub>
                              </m:e>
                              <m:e>
                                <m:r>
                                  <a:rPr lang="zh-CN" altLang="en-US" sz="3200" i="1">
                                    <a:solidFill>
                                      <a:srgbClr val="000000"/>
                                    </a:solidFill>
                                    <a:latin typeface="Cambria Math" panose="02040503050406030204" pitchFamily="18" charset="0"/>
                                  </a:rPr>
                                  <m:t>⋯</m:t>
                                </m:r>
                              </m:e>
                              <m:e>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𝑎</m:t>
                                    </m:r>
                                  </m:e>
                                  <m:sub>
                                    <m:r>
                                      <a:rPr lang="zh-CN" altLang="en-US" sz="3200" i="1">
                                        <a:solidFill>
                                          <a:srgbClr val="000000"/>
                                        </a:solidFill>
                                        <a:latin typeface="Cambria Math" panose="02040503050406030204" pitchFamily="18" charset="0"/>
                                      </a:rPr>
                                      <m:t>𝑛𝑛</m:t>
                                    </m:r>
                                  </m:sub>
                                </m:sSub>
                              </m:e>
                            </m:mr>
                          </m:m>
                        </m:e>
                      </m:d>
                    </m:oMath>
                  </m:oMathPara>
                </a14:m>
                <a:endParaRPr lang="zh-CN" altLang="en-US" sz="3200" dirty="0">
                  <a:latin typeface="Times New Roman" panose="02020503050405090304" pitchFamily="18" charset="0"/>
                  <a:cs typeface="Times New Roman" panose="02020503050405090304" pitchFamily="18" charset="0"/>
                </a:endParaRPr>
              </a:p>
            </p:txBody>
          </p:sp>
        </mc:Choice>
        <mc:Fallback xmlns="">
          <p:sp>
            <p:nvSpPr>
              <p:cNvPr id="12" name="Object 4">
                <a:extLst>
                  <a:ext uri="{FF2B5EF4-FFF2-40B4-BE49-F238E27FC236}">
                    <a16:creationId xmlns:a16="http://schemas.microsoft.com/office/drawing/2014/main" id="{59D13C54-D7AE-04CC-B585-C8EFE9C46B2B}"/>
                  </a:ext>
                </a:extLst>
              </p:cNvPr>
              <p:cNvSpPr txBox="1">
                <a:spLocks noRot="1" noChangeAspect="1" noMove="1" noResize="1" noEditPoints="1" noAdjustHandles="1" noChangeArrowheads="1" noChangeShapeType="1" noTextEdit="1"/>
              </p:cNvSpPr>
              <p:nvPr/>
            </p:nvSpPr>
            <p:spPr bwMode="auto">
              <a:xfrm>
                <a:off x="6149705" y="3344071"/>
                <a:ext cx="4992686" cy="2463460"/>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3" name="Rectangle 9">
            <a:extLst>
              <a:ext uri="{FF2B5EF4-FFF2-40B4-BE49-F238E27FC236}">
                <a16:creationId xmlns:a16="http://schemas.microsoft.com/office/drawing/2014/main" id="{35BF9981-B8A2-B22E-6D90-A6D15032A196}"/>
              </a:ext>
            </a:extLst>
          </p:cNvPr>
          <p:cNvSpPr>
            <a:spLocks noChangeArrowheads="1"/>
          </p:cNvSpPr>
          <p:nvPr/>
        </p:nvSpPr>
        <p:spPr bwMode="auto">
          <a:xfrm>
            <a:off x="5079786" y="6147515"/>
            <a:ext cx="7021684" cy="609600"/>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a:p>
        </p:txBody>
      </p:sp>
      <p:sp>
        <p:nvSpPr>
          <p:cNvPr id="14" name="Text Box 10">
            <a:extLst>
              <a:ext uri="{FF2B5EF4-FFF2-40B4-BE49-F238E27FC236}">
                <a16:creationId xmlns:a16="http://schemas.microsoft.com/office/drawing/2014/main" id="{DEE66268-CBBF-0FD0-F31D-1FB0A29D2024}"/>
              </a:ext>
            </a:extLst>
          </p:cNvPr>
          <p:cNvSpPr txBox="1">
            <a:spLocks noChangeArrowheads="1"/>
          </p:cNvSpPr>
          <p:nvPr/>
        </p:nvSpPr>
        <p:spPr bwMode="auto">
          <a:xfrm>
            <a:off x="5033750" y="6085254"/>
            <a:ext cx="72017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11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12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21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22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23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32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33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34  </a:t>
            </a:r>
            <a:r>
              <a:rPr kumimoji="1" lang="en-US" altLang="zh-CN" sz="3200" b="1" i="1" dirty="0">
                <a:solidFill>
                  <a:srgbClr val="000099"/>
                </a:solidFill>
                <a:latin typeface="Times New Roman" panose="02020503050405090304" pitchFamily="18" charset="0"/>
                <a:ea typeface="宋体" panose="02010600030101010101" pitchFamily="2" charset="-122"/>
              </a:rPr>
              <a:t>a</a:t>
            </a:r>
            <a:r>
              <a:rPr kumimoji="1" lang="en-US" altLang="zh-CN" sz="3200" b="1" baseline="-25000" dirty="0">
                <a:solidFill>
                  <a:srgbClr val="000099"/>
                </a:solidFill>
                <a:latin typeface="Times New Roman" panose="02020503050405090304" pitchFamily="18" charset="0"/>
                <a:ea typeface="宋体" panose="02010600030101010101" pitchFamily="2" charset="-122"/>
              </a:rPr>
              <a:t>43   ……</a:t>
            </a:r>
            <a:r>
              <a:rPr kumimoji="1" lang="en-US" altLang="zh-CN" sz="3200" b="1" baseline="-25000" dirty="0">
                <a:solidFill>
                  <a:srgbClr val="000099"/>
                </a:solidFill>
                <a:latin typeface="宋体" panose="02010600030101010101" pitchFamily="2" charset="-122"/>
                <a:ea typeface="宋体" panose="02010600030101010101" pitchFamily="2" charset="-122"/>
              </a:rPr>
              <a:t>  </a:t>
            </a:r>
            <a:r>
              <a:rPr kumimoji="1" lang="en-US" altLang="zh-CN" sz="3200" b="1" i="1" dirty="0" err="1">
                <a:solidFill>
                  <a:srgbClr val="000099"/>
                </a:solidFill>
                <a:latin typeface="Times New Roman" panose="02020503050405090304" pitchFamily="18" charset="0"/>
                <a:ea typeface="宋体" panose="02010600030101010101" pitchFamily="2" charset="-122"/>
              </a:rPr>
              <a:t>a</a:t>
            </a:r>
            <a:r>
              <a:rPr kumimoji="1" lang="en-US" altLang="zh-CN" sz="3200" b="1" baseline="-25000" dirty="0" err="1">
                <a:solidFill>
                  <a:srgbClr val="000099"/>
                </a:solidFill>
                <a:latin typeface="Times New Roman" panose="02020503050405090304" pitchFamily="18" charset="0"/>
                <a:ea typeface="宋体" panose="02010600030101010101" pitchFamily="2" charset="-122"/>
              </a:rPr>
              <a:t>nn</a:t>
            </a:r>
            <a:r>
              <a:rPr kumimoji="1" lang="en-US" altLang="zh-CN" sz="3200" b="1" baseline="-25000" dirty="0">
                <a:solidFill>
                  <a:srgbClr val="000099"/>
                </a:solidFill>
                <a:latin typeface="宋体" panose="02010600030101010101" pitchFamily="2" charset="-122"/>
                <a:ea typeface="宋体" panose="02010600030101010101" pitchFamily="2" charset="-122"/>
              </a:rPr>
              <a:t> </a:t>
            </a:r>
          </a:p>
        </p:txBody>
      </p:sp>
      <p:sp>
        <p:nvSpPr>
          <p:cNvPr id="15" name="Line 11">
            <a:extLst>
              <a:ext uri="{FF2B5EF4-FFF2-40B4-BE49-F238E27FC236}">
                <a16:creationId xmlns:a16="http://schemas.microsoft.com/office/drawing/2014/main" id="{6B8D6ED6-F46C-A214-5F2E-371D9CE22418}"/>
              </a:ext>
            </a:extLst>
          </p:cNvPr>
          <p:cNvSpPr>
            <a:spLocks noChangeShapeType="1"/>
          </p:cNvSpPr>
          <p:nvPr/>
        </p:nvSpPr>
        <p:spPr bwMode="auto">
          <a:xfrm>
            <a:off x="56893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6" name="Line 12">
            <a:extLst>
              <a:ext uri="{FF2B5EF4-FFF2-40B4-BE49-F238E27FC236}">
                <a16:creationId xmlns:a16="http://schemas.microsoft.com/office/drawing/2014/main" id="{B052DB79-3793-78D9-1AB9-F38EDB4A8AC7}"/>
              </a:ext>
            </a:extLst>
          </p:cNvPr>
          <p:cNvSpPr>
            <a:spLocks noChangeShapeType="1"/>
          </p:cNvSpPr>
          <p:nvPr/>
        </p:nvSpPr>
        <p:spPr bwMode="auto">
          <a:xfrm>
            <a:off x="62989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7" name="Line 13">
            <a:extLst>
              <a:ext uri="{FF2B5EF4-FFF2-40B4-BE49-F238E27FC236}">
                <a16:creationId xmlns:a16="http://schemas.microsoft.com/office/drawing/2014/main" id="{E66AD4A3-AC1D-214D-B33D-B030FEDD25AD}"/>
              </a:ext>
            </a:extLst>
          </p:cNvPr>
          <p:cNvSpPr>
            <a:spLocks noChangeShapeType="1"/>
          </p:cNvSpPr>
          <p:nvPr/>
        </p:nvSpPr>
        <p:spPr bwMode="auto">
          <a:xfrm>
            <a:off x="69085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8" name="Line 14">
            <a:extLst>
              <a:ext uri="{FF2B5EF4-FFF2-40B4-BE49-F238E27FC236}">
                <a16:creationId xmlns:a16="http://schemas.microsoft.com/office/drawing/2014/main" id="{86D7EBF3-A0F2-22F8-171F-EDDC0E9CCCAF}"/>
              </a:ext>
            </a:extLst>
          </p:cNvPr>
          <p:cNvSpPr>
            <a:spLocks noChangeShapeType="1"/>
          </p:cNvSpPr>
          <p:nvPr/>
        </p:nvSpPr>
        <p:spPr bwMode="auto">
          <a:xfrm>
            <a:off x="75181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9" name="Line 15">
            <a:extLst>
              <a:ext uri="{FF2B5EF4-FFF2-40B4-BE49-F238E27FC236}">
                <a16:creationId xmlns:a16="http://schemas.microsoft.com/office/drawing/2014/main" id="{F9DE4AF4-0135-D507-E3F2-95756E41E46E}"/>
              </a:ext>
            </a:extLst>
          </p:cNvPr>
          <p:cNvSpPr>
            <a:spLocks noChangeShapeType="1"/>
          </p:cNvSpPr>
          <p:nvPr/>
        </p:nvSpPr>
        <p:spPr bwMode="auto">
          <a:xfrm>
            <a:off x="81277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0" name="Line 16">
            <a:extLst>
              <a:ext uri="{FF2B5EF4-FFF2-40B4-BE49-F238E27FC236}">
                <a16:creationId xmlns:a16="http://schemas.microsoft.com/office/drawing/2014/main" id="{32C7C59B-86B9-C710-62CC-AF82F223B0B7}"/>
              </a:ext>
            </a:extLst>
          </p:cNvPr>
          <p:cNvSpPr>
            <a:spLocks noChangeShapeType="1"/>
          </p:cNvSpPr>
          <p:nvPr/>
        </p:nvSpPr>
        <p:spPr bwMode="auto">
          <a:xfrm>
            <a:off x="87373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1" name="Line 17">
            <a:extLst>
              <a:ext uri="{FF2B5EF4-FFF2-40B4-BE49-F238E27FC236}">
                <a16:creationId xmlns:a16="http://schemas.microsoft.com/office/drawing/2014/main" id="{20AA52D9-F870-57DC-7A4F-453B343922E0}"/>
              </a:ext>
            </a:extLst>
          </p:cNvPr>
          <p:cNvSpPr>
            <a:spLocks noChangeShapeType="1"/>
          </p:cNvSpPr>
          <p:nvPr/>
        </p:nvSpPr>
        <p:spPr bwMode="auto">
          <a:xfrm>
            <a:off x="93469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2" name="Line 18">
            <a:extLst>
              <a:ext uri="{FF2B5EF4-FFF2-40B4-BE49-F238E27FC236}">
                <a16:creationId xmlns:a16="http://schemas.microsoft.com/office/drawing/2014/main" id="{F66340C3-3CDF-CD9C-1F6B-E7C5D83608B7}"/>
              </a:ext>
            </a:extLst>
          </p:cNvPr>
          <p:cNvSpPr>
            <a:spLocks noChangeShapeType="1"/>
          </p:cNvSpPr>
          <p:nvPr/>
        </p:nvSpPr>
        <p:spPr bwMode="auto">
          <a:xfrm>
            <a:off x="99565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3" name="Line 19">
            <a:extLst>
              <a:ext uri="{FF2B5EF4-FFF2-40B4-BE49-F238E27FC236}">
                <a16:creationId xmlns:a16="http://schemas.microsoft.com/office/drawing/2014/main" id="{084EA06B-7524-C655-F9CE-71A76B434E8E}"/>
              </a:ext>
            </a:extLst>
          </p:cNvPr>
          <p:cNvSpPr>
            <a:spLocks noChangeShapeType="1"/>
          </p:cNvSpPr>
          <p:nvPr/>
        </p:nvSpPr>
        <p:spPr bwMode="auto">
          <a:xfrm>
            <a:off x="105661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4" name="Line 20">
            <a:extLst>
              <a:ext uri="{FF2B5EF4-FFF2-40B4-BE49-F238E27FC236}">
                <a16:creationId xmlns:a16="http://schemas.microsoft.com/office/drawing/2014/main" id="{459417C2-6AD7-22CC-A7F8-C67DA80DD351}"/>
              </a:ext>
            </a:extLst>
          </p:cNvPr>
          <p:cNvSpPr>
            <a:spLocks noChangeShapeType="1"/>
          </p:cNvSpPr>
          <p:nvPr/>
        </p:nvSpPr>
        <p:spPr bwMode="auto">
          <a:xfrm>
            <a:off x="11328186" y="6147515"/>
            <a:ext cx="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5" name="Text Box 21">
            <a:extLst>
              <a:ext uri="{FF2B5EF4-FFF2-40B4-BE49-F238E27FC236}">
                <a16:creationId xmlns:a16="http://schemas.microsoft.com/office/drawing/2014/main" id="{D4F6C6F8-43F4-6E94-EED2-9A44FEA6749E}"/>
              </a:ext>
            </a:extLst>
          </p:cNvPr>
          <p:cNvSpPr txBox="1">
            <a:spLocks noChangeArrowheads="1"/>
          </p:cNvSpPr>
          <p:nvPr/>
        </p:nvSpPr>
        <p:spPr bwMode="auto">
          <a:xfrm>
            <a:off x="5246646" y="5731590"/>
            <a:ext cx="69008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r>
              <a:rPr kumimoji="1" lang="en-US" altLang="zh-CN" sz="2400" dirty="0">
                <a:latin typeface="Times New Roman" panose="02020503050405090304" pitchFamily="18" charset="0"/>
                <a:ea typeface="宋体" panose="02010600030101010101" pitchFamily="2" charset="-122"/>
              </a:rPr>
              <a:t>0     1      2      3      4      5      6      7      8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6</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一个深度为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k</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k&gt;2</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规定根结点的深度为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0</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）的具有最少结点的完全二叉树按层次（同层次从左向右）对结点编号，编号为从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开始的整数，则编号最大的叶子结点的编号是</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2</a:t>
            </a:r>
            <a:r>
              <a:rPr lang="en-US" altLang="zh-CN"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k</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内容占位符 6"/>
          <p:cNvSpPr>
            <a:spLocks noGrp="1"/>
          </p:cNvSpPr>
          <p:nvPr>
            <p:ph idx="1"/>
          </p:nvPr>
        </p:nvSpPr>
        <p:spPr>
          <a:xfrm>
            <a:off x="838200" y="2838942"/>
            <a:ext cx="4397829" cy="3338021"/>
          </a:xfrm>
        </p:spPr>
        <p:txBody>
          <a:bodyPr/>
          <a:lstStyle/>
          <a:p>
            <a:pPr marL="0" indent="0">
              <a:buNone/>
            </a:pPr>
            <a:endParaRPr lang="en-US" altLang="zh-CN" dirty="0"/>
          </a:p>
          <a:p>
            <a:r>
              <a:rPr lang="zh-CN" altLang="en-US" dirty="0"/>
              <a:t>完全二叉树：</a:t>
            </a:r>
            <a:endParaRPr lang="en-US" altLang="zh-CN" dirty="0"/>
          </a:p>
          <a:p>
            <a:r>
              <a:rPr lang="zh-CN" altLang="en-US" dirty="0"/>
              <a:t>除第 </a:t>
            </a:r>
            <a:r>
              <a:rPr lang="en" altLang="zh-CN" dirty="0"/>
              <a:t>k</a:t>
            </a:r>
            <a:r>
              <a:rPr lang="zh-CN" altLang="en-US" dirty="0"/>
              <a:t>层外，其它各层 </a:t>
            </a:r>
            <a:r>
              <a:rPr lang="en-US" altLang="zh-CN" dirty="0"/>
              <a:t>(1</a:t>
            </a:r>
            <a:r>
              <a:rPr lang="zh-CN" altLang="en-US" dirty="0"/>
              <a:t>～</a:t>
            </a:r>
            <a:r>
              <a:rPr lang="en" altLang="zh-CN" dirty="0"/>
              <a:t>k-1) </a:t>
            </a:r>
            <a:r>
              <a:rPr lang="zh-CN" altLang="en-US" dirty="0"/>
              <a:t>的结点数都达到最大个数</a:t>
            </a:r>
          </a:p>
          <a:p>
            <a:endParaRPr lang="zh-CN" altLang="en-US" dirty="0"/>
          </a:p>
        </p:txBody>
      </p:sp>
      <p:sp>
        <p:nvSpPr>
          <p:cNvPr id="2" name="椭圆 1">
            <a:extLst>
              <a:ext uri="{FF2B5EF4-FFF2-40B4-BE49-F238E27FC236}">
                <a16:creationId xmlns:a16="http://schemas.microsoft.com/office/drawing/2014/main" id="{032D2C9C-D52D-D88C-FDF4-D2599627F09A}"/>
              </a:ext>
            </a:extLst>
          </p:cNvPr>
          <p:cNvSpPr/>
          <p:nvPr/>
        </p:nvSpPr>
        <p:spPr>
          <a:xfrm>
            <a:off x="8524958" y="2838942"/>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a:t>
            </a:r>
            <a:endParaRPr kumimoji="1" lang="zh-CN" altLang="en-US" dirty="0"/>
          </a:p>
        </p:txBody>
      </p:sp>
      <p:cxnSp>
        <p:nvCxnSpPr>
          <p:cNvPr id="3" name="直线连接符 2">
            <a:extLst>
              <a:ext uri="{FF2B5EF4-FFF2-40B4-BE49-F238E27FC236}">
                <a16:creationId xmlns:a16="http://schemas.microsoft.com/office/drawing/2014/main" id="{DB546C90-16B8-4A69-FDA6-7DFAB6637EEF}"/>
              </a:ext>
            </a:extLst>
          </p:cNvPr>
          <p:cNvCxnSpPr>
            <a:cxnSpLocks/>
            <a:stCxn id="2" idx="3"/>
            <a:endCxn id="4" idx="7"/>
          </p:cNvCxnSpPr>
          <p:nvPr/>
        </p:nvCxnSpPr>
        <p:spPr>
          <a:xfrm flipH="1">
            <a:off x="7930050" y="3318520"/>
            <a:ext cx="677190" cy="456855"/>
          </a:xfrm>
          <a:prstGeom prst="line">
            <a:avLst/>
          </a:prstGeom>
          <a:ln w="28575"/>
        </p:spPr>
        <p:style>
          <a:lnRef idx="1">
            <a:schemeClr val="dk1"/>
          </a:lnRef>
          <a:fillRef idx="0">
            <a:schemeClr val="dk1"/>
          </a:fillRef>
          <a:effectRef idx="0">
            <a:schemeClr val="dk1"/>
          </a:effectRef>
          <a:fontRef idx="minor">
            <a:schemeClr val="tx1"/>
          </a:fontRef>
        </p:style>
      </p:cxnSp>
      <p:sp>
        <p:nvSpPr>
          <p:cNvPr id="4" name="椭圆 3">
            <a:extLst>
              <a:ext uri="{FF2B5EF4-FFF2-40B4-BE49-F238E27FC236}">
                <a16:creationId xmlns:a16="http://schemas.microsoft.com/office/drawing/2014/main" id="{6E1DE0F8-94AD-BC42-E16E-2CC0E84DA7D7}"/>
              </a:ext>
            </a:extLst>
          </p:cNvPr>
          <p:cNvSpPr/>
          <p:nvPr/>
        </p:nvSpPr>
        <p:spPr>
          <a:xfrm>
            <a:off x="7450472" y="3693093"/>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a:t>
            </a:r>
            <a:endParaRPr kumimoji="1" lang="zh-CN" altLang="en-US" dirty="0"/>
          </a:p>
        </p:txBody>
      </p:sp>
      <p:cxnSp>
        <p:nvCxnSpPr>
          <p:cNvPr id="5" name="直线连接符 4">
            <a:extLst>
              <a:ext uri="{FF2B5EF4-FFF2-40B4-BE49-F238E27FC236}">
                <a16:creationId xmlns:a16="http://schemas.microsoft.com/office/drawing/2014/main" id="{4F4D9F00-5922-0926-1B44-CF810003EA9B}"/>
              </a:ext>
            </a:extLst>
          </p:cNvPr>
          <p:cNvCxnSpPr>
            <a:cxnSpLocks/>
            <a:stCxn id="8" idx="3"/>
            <a:endCxn id="11" idx="7"/>
          </p:cNvCxnSpPr>
          <p:nvPr/>
        </p:nvCxnSpPr>
        <p:spPr>
          <a:xfrm flipH="1">
            <a:off x="9458979" y="4172671"/>
            <a:ext cx="271981" cy="577345"/>
          </a:xfrm>
          <a:prstGeom prst="line">
            <a:avLst/>
          </a:prstGeom>
          <a:ln w="28575"/>
        </p:spPr>
        <p:style>
          <a:lnRef idx="1">
            <a:schemeClr val="dk1"/>
          </a:lnRef>
          <a:fillRef idx="0">
            <a:schemeClr val="dk1"/>
          </a:fillRef>
          <a:effectRef idx="0">
            <a:schemeClr val="dk1"/>
          </a:effectRef>
          <a:fontRef idx="minor">
            <a:schemeClr val="tx1"/>
          </a:fontRef>
        </p:style>
      </p:cxnSp>
      <p:sp>
        <p:nvSpPr>
          <p:cNvPr id="8" name="椭圆 7">
            <a:extLst>
              <a:ext uri="{FF2B5EF4-FFF2-40B4-BE49-F238E27FC236}">
                <a16:creationId xmlns:a16="http://schemas.microsoft.com/office/drawing/2014/main" id="{45348E5A-9C84-4D30-0767-32F91B6DC301}"/>
              </a:ext>
            </a:extLst>
          </p:cNvPr>
          <p:cNvSpPr/>
          <p:nvPr/>
        </p:nvSpPr>
        <p:spPr>
          <a:xfrm>
            <a:off x="9648678" y="3693093"/>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a:t>
            </a:r>
            <a:endParaRPr kumimoji="1" lang="zh-CN" altLang="en-US" dirty="0"/>
          </a:p>
        </p:txBody>
      </p:sp>
      <p:cxnSp>
        <p:nvCxnSpPr>
          <p:cNvPr id="9" name="直线连接符 8">
            <a:extLst>
              <a:ext uri="{FF2B5EF4-FFF2-40B4-BE49-F238E27FC236}">
                <a16:creationId xmlns:a16="http://schemas.microsoft.com/office/drawing/2014/main" id="{6A2876AB-704F-67AB-2CEB-45354523127C}"/>
              </a:ext>
            </a:extLst>
          </p:cNvPr>
          <p:cNvCxnSpPr>
            <a:cxnSpLocks/>
            <a:stCxn id="2" idx="5"/>
            <a:endCxn id="8" idx="1"/>
          </p:cNvCxnSpPr>
          <p:nvPr/>
        </p:nvCxnSpPr>
        <p:spPr>
          <a:xfrm>
            <a:off x="9004536" y="3318520"/>
            <a:ext cx="726424" cy="456855"/>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直线连接符 9">
            <a:extLst>
              <a:ext uri="{FF2B5EF4-FFF2-40B4-BE49-F238E27FC236}">
                <a16:creationId xmlns:a16="http://schemas.microsoft.com/office/drawing/2014/main" id="{636129E5-099C-1BEB-F78F-C44E6BC83188}"/>
              </a:ext>
            </a:extLst>
          </p:cNvPr>
          <p:cNvCxnSpPr>
            <a:cxnSpLocks/>
            <a:stCxn id="4" idx="5"/>
            <a:endCxn id="12" idx="1"/>
          </p:cNvCxnSpPr>
          <p:nvPr/>
        </p:nvCxnSpPr>
        <p:spPr>
          <a:xfrm>
            <a:off x="7930050" y="4172671"/>
            <a:ext cx="255795" cy="577345"/>
          </a:xfrm>
          <a:prstGeom prst="line">
            <a:avLst/>
          </a:prstGeom>
          <a:ln w="28575"/>
        </p:spPr>
        <p:style>
          <a:lnRef idx="1">
            <a:schemeClr val="dk1"/>
          </a:lnRef>
          <a:fillRef idx="0">
            <a:schemeClr val="dk1"/>
          </a:fillRef>
          <a:effectRef idx="0">
            <a:schemeClr val="dk1"/>
          </a:effectRef>
          <a:fontRef idx="minor">
            <a:schemeClr val="tx1"/>
          </a:fontRef>
        </p:style>
      </p:cxnSp>
      <p:sp>
        <p:nvSpPr>
          <p:cNvPr id="11" name="椭圆 10">
            <a:extLst>
              <a:ext uri="{FF2B5EF4-FFF2-40B4-BE49-F238E27FC236}">
                <a16:creationId xmlns:a16="http://schemas.microsoft.com/office/drawing/2014/main" id="{36C787A8-00FF-D937-1341-6216F44599FB}"/>
              </a:ext>
            </a:extLst>
          </p:cNvPr>
          <p:cNvSpPr/>
          <p:nvPr/>
        </p:nvSpPr>
        <p:spPr>
          <a:xfrm>
            <a:off x="8979401" y="4667734"/>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6</a:t>
            </a:r>
            <a:endParaRPr kumimoji="1" lang="zh-CN" altLang="en-US" dirty="0"/>
          </a:p>
        </p:txBody>
      </p:sp>
      <p:sp>
        <p:nvSpPr>
          <p:cNvPr id="12" name="椭圆 11">
            <a:extLst>
              <a:ext uri="{FF2B5EF4-FFF2-40B4-BE49-F238E27FC236}">
                <a16:creationId xmlns:a16="http://schemas.microsoft.com/office/drawing/2014/main" id="{BFAF6A3C-509B-215F-0C8B-34189984A661}"/>
              </a:ext>
            </a:extLst>
          </p:cNvPr>
          <p:cNvSpPr/>
          <p:nvPr/>
        </p:nvSpPr>
        <p:spPr>
          <a:xfrm>
            <a:off x="8103563" y="4667734"/>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a:t>
            </a:r>
            <a:endParaRPr kumimoji="1" lang="zh-CN" altLang="en-US" dirty="0"/>
          </a:p>
        </p:txBody>
      </p:sp>
      <p:cxnSp>
        <p:nvCxnSpPr>
          <p:cNvPr id="14" name="直线连接符 13">
            <a:extLst>
              <a:ext uri="{FF2B5EF4-FFF2-40B4-BE49-F238E27FC236}">
                <a16:creationId xmlns:a16="http://schemas.microsoft.com/office/drawing/2014/main" id="{4B593414-510C-9486-9DFA-396CBD1ADA5A}"/>
              </a:ext>
            </a:extLst>
          </p:cNvPr>
          <p:cNvCxnSpPr>
            <a:cxnSpLocks/>
            <a:stCxn id="4" idx="3"/>
            <a:endCxn id="17" idx="7"/>
          </p:cNvCxnSpPr>
          <p:nvPr/>
        </p:nvCxnSpPr>
        <p:spPr>
          <a:xfrm flipH="1">
            <a:off x="7138816" y="4172671"/>
            <a:ext cx="393938" cy="599584"/>
          </a:xfrm>
          <a:prstGeom prst="line">
            <a:avLst/>
          </a:prstGeom>
          <a:ln w="28575"/>
        </p:spPr>
        <p:style>
          <a:lnRef idx="1">
            <a:schemeClr val="dk1"/>
          </a:lnRef>
          <a:fillRef idx="0">
            <a:schemeClr val="dk1"/>
          </a:fillRef>
          <a:effectRef idx="0">
            <a:schemeClr val="dk1"/>
          </a:effectRef>
          <a:fontRef idx="minor">
            <a:schemeClr val="tx1"/>
          </a:fontRef>
        </p:style>
      </p:cxnSp>
      <p:sp>
        <p:nvSpPr>
          <p:cNvPr id="17" name="椭圆 16">
            <a:extLst>
              <a:ext uri="{FF2B5EF4-FFF2-40B4-BE49-F238E27FC236}">
                <a16:creationId xmlns:a16="http://schemas.microsoft.com/office/drawing/2014/main" id="{320791AF-445C-B0FA-AF93-FCB1C10ACCAE}"/>
              </a:ext>
            </a:extLst>
          </p:cNvPr>
          <p:cNvSpPr/>
          <p:nvPr/>
        </p:nvSpPr>
        <p:spPr>
          <a:xfrm>
            <a:off x="6659238" y="4689973"/>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4</a:t>
            </a:r>
            <a:endParaRPr kumimoji="1" lang="zh-CN" altLang="en-US" dirty="0"/>
          </a:p>
        </p:txBody>
      </p:sp>
      <p:cxnSp>
        <p:nvCxnSpPr>
          <p:cNvPr id="20" name="直线连接符 19">
            <a:extLst>
              <a:ext uri="{FF2B5EF4-FFF2-40B4-BE49-F238E27FC236}">
                <a16:creationId xmlns:a16="http://schemas.microsoft.com/office/drawing/2014/main" id="{0551B74E-E3D6-F3C7-3938-A94D084ED4CA}"/>
              </a:ext>
            </a:extLst>
          </p:cNvPr>
          <p:cNvCxnSpPr>
            <a:cxnSpLocks/>
            <a:stCxn id="8" idx="5"/>
            <a:endCxn id="23" idx="1"/>
          </p:cNvCxnSpPr>
          <p:nvPr/>
        </p:nvCxnSpPr>
        <p:spPr>
          <a:xfrm>
            <a:off x="10128256" y="4172671"/>
            <a:ext cx="288843" cy="565992"/>
          </a:xfrm>
          <a:prstGeom prst="line">
            <a:avLst/>
          </a:prstGeom>
          <a:ln w="28575"/>
        </p:spPr>
        <p:style>
          <a:lnRef idx="1">
            <a:schemeClr val="dk1"/>
          </a:lnRef>
          <a:fillRef idx="0">
            <a:schemeClr val="dk1"/>
          </a:fillRef>
          <a:effectRef idx="0">
            <a:schemeClr val="dk1"/>
          </a:effectRef>
          <a:fontRef idx="minor">
            <a:schemeClr val="tx1"/>
          </a:fontRef>
        </p:style>
      </p:cxnSp>
      <p:sp>
        <p:nvSpPr>
          <p:cNvPr id="23" name="椭圆 22">
            <a:extLst>
              <a:ext uri="{FF2B5EF4-FFF2-40B4-BE49-F238E27FC236}">
                <a16:creationId xmlns:a16="http://schemas.microsoft.com/office/drawing/2014/main" id="{26759217-7B10-6FEF-1CCD-E0530D36ADE2}"/>
              </a:ext>
            </a:extLst>
          </p:cNvPr>
          <p:cNvSpPr/>
          <p:nvPr/>
        </p:nvSpPr>
        <p:spPr>
          <a:xfrm>
            <a:off x="10334817" y="4656381"/>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a:t>
            </a:r>
            <a:endParaRPr kumimoji="1" lang="zh-CN" altLang="en-US" dirty="0"/>
          </a:p>
        </p:txBody>
      </p:sp>
      <p:sp>
        <p:nvSpPr>
          <p:cNvPr id="26" name="椭圆 25">
            <a:extLst>
              <a:ext uri="{FF2B5EF4-FFF2-40B4-BE49-F238E27FC236}">
                <a16:creationId xmlns:a16="http://schemas.microsoft.com/office/drawing/2014/main" id="{3AC43927-E96D-C11C-09A9-D364492DB0A0}"/>
              </a:ext>
            </a:extLst>
          </p:cNvPr>
          <p:cNvSpPr/>
          <p:nvPr/>
        </p:nvSpPr>
        <p:spPr>
          <a:xfrm>
            <a:off x="5815070" y="5798061"/>
            <a:ext cx="561860" cy="561860"/>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8</a:t>
            </a:r>
            <a:endParaRPr kumimoji="1" lang="zh-CN" altLang="en-US" dirty="0"/>
          </a:p>
        </p:txBody>
      </p:sp>
      <p:cxnSp>
        <p:nvCxnSpPr>
          <p:cNvPr id="27" name="直线连接符 26">
            <a:extLst>
              <a:ext uri="{FF2B5EF4-FFF2-40B4-BE49-F238E27FC236}">
                <a16:creationId xmlns:a16="http://schemas.microsoft.com/office/drawing/2014/main" id="{DA29068D-AF3D-55DB-4B7B-3026C5AD4A50}"/>
              </a:ext>
            </a:extLst>
          </p:cNvPr>
          <p:cNvCxnSpPr>
            <a:cxnSpLocks/>
            <a:stCxn id="17" idx="3"/>
            <a:endCxn id="26" idx="7"/>
          </p:cNvCxnSpPr>
          <p:nvPr/>
        </p:nvCxnSpPr>
        <p:spPr>
          <a:xfrm flipH="1">
            <a:off x="6294648" y="5169551"/>
            <a:ext cx="446872" cy="710792"/>
          </a:xfrm>
          <a:prstGeom prst="line">
            <a:avLst/>
          </a:prstGeom>
          <a:ln w="2857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B195B-5EB5-151F-94EF-7FA569C5780C}"/>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C552937B-9C02-C940-8CAF-A59CD56C5423}"/>
              </a:ext>
            </a:extLst>
          </p:cNvPr>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7</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一棵树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转换成二叉树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中有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m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个非叶结点，则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中没有右孩子的结点数目为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en-US" altLang="zh-CN"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m+1</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内容占位符 6">
            <a:extLst>
              <a:ext uri="{FF2B5EF4-FFF2-40B4-BE49-F238E27FC236}">
                <a16:creationId xmlns:a16="http://schemas.microsoft.com/office/drawing/2014/main" id="{167C971D-0C3E-2D51-02D8-B6E494AA9106}"/>
              </a:ext>
            </a:extLst>
          </p:cNvPr>
          <p:cNvSpPr>
            <a:spLocks noGrp="1"/>
          </p:cNvSpPr>
          <p:nvPr>
            <p:ph idx="1"/>
          </p:nvPr>
        </p:nvSpPr>
        <p:spPr>
          <a:xfrm>
            <a:off x="838200" y="2414726"/>
            <a:ext cx="10374086" cy="3762237"/>
          </a:xfrm>
        </p:spPr>
        <p:txBody>
          <a:bodyPr/>
          <a:lstStyle/>
          <a:p>
            <a:pPr marL="0" indent="0">
              <a:buNone/>
            </a:pPr>
            <a:endParaRPr lang="en-US" altLang="zh-CN" dirty="0"/>
          </a:p>
          <a:p>
            <a:r>
              <a:rPr lang="zh-CN" altLang="en-US" dirty="0"/>
              <a:t>假设树有</a:t>
            </a:r>
            <a:r>
              <a:rPr lang="en-US" altLang="zh-CN" dirty="0"/>
              <a:t>n</a:t>
            </a:r>
            <a:r>
              <a:rPr lang="zh-CN" altLang="en-US" dirty="0"/>
              <a:t>个结点，那么其有</a:t>
            </a:r>
            <a:r>
              <a:rPr lang="en-US" altLang="zh-CN" dirty="0"/>
              <a:t>n-1</a:t>
            </a:r>
            <a:r>
              <a:rPr lang="zh-CN" altLang="en-US" dirty="0"/>
              <a:t>个边。</a:t>
            </a:r>
            <a:endParaRPr lang="en-US" altLang="zh-CN" dirty="0"/>
          </a:p>
          <a:p>
            <a:endParaRPr lang="en-US" altLang="zh-CN" dirty="0"/>
          </a:p>
          <a:p>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非叶结点的个数为</a:t>
            </a:r>
            <a:r>
              <a:rPr lang="en-US"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m</a:t>
            </a:r>
            <a:r>
              <a:rPr lang="zh-CN" altLang="en-US" kern="100" dirty="0">
                <a:solidFill>
                  <a:srgbClr val="000000"/>
                </a:solidFill>
              </a:rPr>
              <a:t>，每个</a:t>
            </a:r>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非叶结点有且仅有一个长子，</a:t>
            </a:r>
            <a:r>
              <a:rPr lang="zh-CN" altLang="en-US" kern="100" dirty="0">
                <a:solidFill>
                  <a:srgbClr val="000000"/>
                </a:solidFill>
              </a:rPr>
              <a:t>转化为二叉树后对应</a:t>
            </a:r>
            <a:r>
              <a:rPr lang="en-US" altLang="zh-CN" kern="100" dirty="0">
                <a:solidFill>
                  <a:srgbClr val="000000"/>
                </a:solidFill>
              </a:rPr>
              <a:t>m</a:t>
            </a:r>
            <a:r>
              <a:rPr lang="zh-CN" altLang="en-US" kern="100" dirty="0">
                <a:solidFill>
                  <a:srgbClr val="000000"/>
                </a:solidFill>
              </a:rPr>
              <a:t>个左向边</a:t>
            </a:r>
            <a:endParaRPr lang="en-US" altLang="zh-CN" kern="100" dirty="0">
              <a:solidFill>
                <a:srgbClr val="000000"/>
              </a:solidFill>
            </a:endParaRPr>
          </a:p>
          <a:p>
            <a:endParaRPr lang="en-US" altLang="zh-CN" dirty="0"/>
          </a:p>
          <a:p>
            <a:r>
              <a:rPr lang="zh-CN" altLang="en-US" dirty="0"/>
              <a:t>右向边</a:t>
            </a:r>
            <a:r>
              <a:rPr lang="en-US" altLang="zh-CN" dirty="0"/>
              <a:t>=</a:t>
            </a:r>
            <a:r>
              <a:rPr lang="zh-CN" altLang="en-US" dirty="0"/>
              <a:t>总边数</a:t>
            </a:r>
            <a:r>
              <a:rPr lang="en-US" altLang="zh-CN" dirty="0"/>
              <a:t>-</a:t>
            </a:r>
            <a:r>
              <a:rPr lang="zh-CN" altLang="en-US" dirty="0"/>
              <a:t>左向边</a:t>
            </a:r>
            <a:r>
              <a:rPr lang="en-US" altLang="zh-CN" dirty="0"/>
              <a:t> = (n - 1) - m</a:t>
            </a:r>
          </a:p>
          <a:p>
            <a:endParaRPr lang="en-US" altLang="zh-CN" dirty="0"/>
          </a:p>
          <a:p>
            <a:r>
              <a:rPr lang="zh-CN" altLang="en-US" dirty="0"/>
              <a:t>总共有</a:t>
            </a:r>
            <a:r>
              <a:rPr lang="en-US" altLang="zh-CN" dirty="0"/>
              <a:t>n</a:t>
            </a:r>
            <a:r>
              <a:rPr lang="zh-CN" altLang="en-US" dirty="0"/>
              <a:t>个结点，其中</a:t>
            </a:r>
            <a:r>
              <a:rPr lang="en-US" altLang="zh-CN" dirty="0"/>
              <a:t>(n - 1) - m</a:t>
            </a:r>
            <a:r>
              <a:rPr lang="zh-CN" altLang="en-US" dirty="0"/>
              <a:t>个结点有右孩子，那么剩下没有右孩子的结点是</a:t>
            </a:r>
            <a:r>
              <a:rPr lang="en-US" altLang="zh-CN" dirty="0"/>
              <a:t>n - ((n - 1) - m) = m + 1</a:t>
            </a:r>
          </a:p>
          <a:p>
            <a:endParaRPr lang="zh-CN" altLang="en-US" dirty="0"/>
          </a:p>
        </p:txBody>
      </p:sp>
    </p:spTree>
    <p:extLst>
      <p:ext uri="{BB962C8B-B14F-4D97-AF65-F5344CB8AC3E}">
        <p14:creationId xmlns:p14="http://schemas.microsoft.com/office/powerpoint/2010/main" val="31651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E1400-338E-3283-E27C-CF2DBBD04DE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8BC35496-F0A7-C1F2-CA12-B3A1241703D8}"/>
              </a:ext>
            </a:extLst>
          </p:cNvPr>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8</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在中序线索化二叉树中的结点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已知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的后继是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a:t>
            </a:r>
            <a:r>
              <a:rPr lang="zh-CN" altLang="e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并且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不是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的孩子结点，则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x </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在 </a:t>
            </a:r>
            <a:r>
              <a:rPr lang="en"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y</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子树上。</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左</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7" name="内容占位符 6">
            <a:extLst>
              <a:ext uri="{FF2B5EF4-FFF2-40B4-BE49-F238E27FC236}">
                <a16:creationId xmlns:a16="http://schemas.microsoft.com/office/drawing/2014/main" id="{80F67185-ABBD-DEB1-50B4-9717931A915E}"/>
              </a:ext>
            </a:extLst>
          </p:cNvPr>
          <p:cNvSpPr>
            <a:spLocks noGrp="1"/>
          </p:cNvSpPr>
          <p:nvPr>
            <p:ph idx="1"/>
          </p:nvPr>
        </p:nvSpPr>
        <p:spPr>
          <a:xfrm>
            <a:off x="838200" y="2414726"/>
            <a:ext cx="10025743" cy="3762237"/>
          </a:xfrm>
        </p:spPr>
        <p:txBody>
          <a:bodyPr>
            <a:normAutofit/>
          </a:bodyPr>
          <a:lstStyle/>
          <a:p>
            <a:pPr marL="0" indent="0">
              <a:buNone/>
            </a:pPr>
            <a:endParaRPr lang="en-US" altLang="zh-CN" dirty="0"/>
          </a:p>
          <a:p>
            <a:r>
              <a:rPr lang="zh-CN" altLang="en-US" dirty="0"/>
              <a:t>中序遍历的顺序是：</a:t>
            </a:r>
            <a:r>
              <a:rPr lang="zh-CN" altLang="en-US" b="1" dirty="0"/>
              <a:t>左子树 → 根 → 右子树</a:t>
            </a:r>
            <a:r>
              <a:rPr lang="zh-CN" altLang="en-US" dirty="0"/>
              <a:t>。</a:t>
            </a:r>
            <a:endParaRPr lang="en-US" altLang="zh-CN" dirty="0"/>
          </a:p>
          <a:p>
            <a:endParaRPr lang="en-US" altLang="zh-CN" dirty="0"/>
          </a:p>
          <a:p>
            <a:r>
              <a:rPr lang="zh-CN" altLang="en-US" dirty="0"/>
              <a:t>如果 </a:t>
            </a:r>
            <a:r>
              <a:rPr lang="en-US" altLang="zh-CN" dirty="0"/>
              <a:t>x </a:t>
            </a:r>
            <a:r>
              <a:rPr lang="zh-CN" altLang="en-US" dirty="0"/>
              <a:t>的后继 </a:t>
            </a:r>
            <a:r>
              <a:rPr lang="en-US" altLang="zh-CN" dirty="0"/>
              <a:t>y </a:t>
            </a:r>
            <a:r>
              <a:rPr lang="zh-CN" altLang="en-US" dirty="0"/>
              <a:t>在 </a:t>
            </a:r>
            <a:r>
              <a:rPr lang="en-US" altLang="zh-CN" dirty="0"/>
              <a:t>x </a:t>
            </a:r>
            <a:r>
              <a:rPr lang="zh-CN" altLang="en-US" dirty="0"/>
              <a:t>的右子树中，说明 </a:t>
            </a:r>
            <a:r>
              <a:rPr lang="en-US" altLang="zh-CN" dirty="0"/>
              <a:t>y </a:t>
            </a:r>
            <a:r>
              <a:rPr lang="zh-CN" altLang="en-US" dirty="0"/>
              <a:t>是 </a:t>
            </a:r>
            <a:r>
              <a:rPr lang="en-US" altLang="zh-CN" dirty="0"/>
              <a:t>x </a:t>
            </a:r>
            <a:r>
              <a:rPr lang="zh-CN" altLang="en-US" dirty="0"/>
              <a:t>的某个孩子，但这与题目描述不符。</a:t>
            </a:r>
            <a:endParaRPr lang="en-US" altLang="zh-CN" dirty="0"/>
          </a:p>
          <a:p>
            <a:r>
              <a:rPr lang="zh-CN" altLang="en-US" dirty="0"/>
              <a:t>如果 </a:t>
            </a:r>
            <a:r>
              <a:rPr lang="en" altLang="zh-CN" dirty="0"/>
              <a:t>x </a:t>
            </a:r>
            <a:r>
              <a:rPr lang="zh-CN" altLang="en-US" dirty="0"/>
              <a:t>的后继 </a:t>
            </a:r>
            <a:r>
              <a:rPr lang="en" altLang="zh-CN" dirty="0"/>
              <a:t>y </a:t>
            </a:r>
            <a:r>
              <a:rPr lang="zh-CN" altLang="en-US" dirty="0"/>
              <a:t>不是 </a:t>
            </a:r>
            <a:r>
              <a:rPr lang="en" altLang="zh-CN" dirty="0"/>
              <a:t>x </a:t>
            </a:r>
            <a:r>
              <a:rPr lang="zh-CN" altLang="en-US" dirty="0"/>
              <a:t>的孩子，且 </a:t>
            </a:r>
            <a:r>
              <a:rPr lang="en" altLang="zh-CN" dirty="0"/>
              <a:t>y </a:t>
            </a:r>
            <a:r>
              <a:rPr lang="zh-CN" altLang="en" dirty="0"/>
              <a:t>是</a:t>
            </a:r>
            <a:r>
              <a:rPr lang="zh-CN" altLang="en-US" dirty="0"/>
              <a:t>在 </a:t>
            </a:r>
            <a:r>
              <a:rPr lang="en" altLang="zh-CN" dirty="0"/>
              <a:t>x </a:t>
            </a:r>
            <a:r>
              <a:rPr lang="zh-CN" altLang="en-US" dirty="0"/>
              <a:t>的中序遍历序列后，</a:t>
            </a:r>
            <a:r>
              <a:rPr lang="en" altLang="zh-CN" dirty="0"/>
              <a:t>y </a:t>
            </a:r>
            <a:r>
              <a:rPr lang="zh-CN" altLang="en-US" dirty="0"/>
              <a:t>必然是 </a:t>
            </a:r>
            <a:r>
              <a:rPr lang="en" altLang="zh-CN" dirty="0"/>
              <a:t>x </a:t>
            </a:r>
            <a:r>
              <a:rPr lang="zh-CN" altLang="en-US" dirty="0"/>
              <a:t>的某个祖先结点，那么 </a:t>
            </a:r>
            <a:r>
              <a:rPr lang="en" altLang="zh-CN" dirty="0"/>
              <a:t>x </a:t>
            </a:r>
            <a:r>
              <a:rPr lang="zh-CN" altLang="en-US" dirty="0"/>
              <a:t>在 </a:t>
            </a:r>
            <a:r>
              <a:rPr lang="en" altLang="zh-CN" dirty="0"/>
              <a:t>y </a:t>
            </a:r>
            <a:r>
              <a:rPr lang="zh-CN" altLang="en-US" dirty="0"/>
              <a:t>的左子树上</a:t>
            </a:r>
          </a:p>
        </p:txBody>
      </p:sp>
    </p:spTree>
    <p:extLst>
      <p:ext uri="{BB962C8B-B14F-4D97-AF65-F5344CB8AC3E}">
        <p14:creationId xmlns:p14="http://schemas.microsoft.com/office/powerpoint/2010/main" val="3816644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D8EAC-5A5A-3A67-B364-FB028D340FBF}"/>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F732BE84-9275-1186-0FCA-9D93854A4FF1}"/>
              </a:ext>
            </a:extLst>
          </p:cNvPr>
          <p:cNvSpPr>
            <a:spLocks noGrp="1"/>
          </p:cNvSpPr>
          <p:nvPr>
            <p:ph type="title"/>
          </p:nvPr>
        </p:nvSpPr>
        <p:spPr>
          <a:xfrm>
            <a:off x="838200" y="365125"/>
            <a:ext cx="10515600" cy="1873039"/>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9</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下面编号为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的关键码序列是堆。</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①{16, 72, 94, 23, 31, 53}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②{94, 53, 31, 72, 16, 23}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③{16, 53, 23, 94, 31, 72} </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④{16, 94, 23, 31, 53, 72}</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⑤{94, 31,53, 23, 16, 72}</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答：无</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8" name="椭圆 7">
            <a:extLst>
              <a:ext uri="{FF2B5EF4-FFF2-40B4-BE49-F238E27FC236}">
                <a16:creationId xmlns:a16="http://schemas.microsoft.com/office/drawing/2014/main" id="{ED469B1A-AF2E-4D65-D900-1A8C18E7B058}"/>
              </a:ext>
            </a:extLst>
          </p:cNvPr>
          <p:cNvSpPr/>
          <p:nvPr/>
        </p:nvSpPr>
        <p:spPr>
          <a:xfrm>
            <a:off x="2201232" y="2831219"/>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9" name="直线连接符 8">
            <a:extLst>
              <a:ext uri="{FF2B5EF4-FFF2-40B4-BE49-F238E27FC236}">
                <a16:creationId xmlns:a16="http://schemas.microsoft.com/office/drawing/2014/main" id="{815A9BBD-DC2A-5BA5-3C80-7559AD0DB893}"/>
              </a:ext>
            </a:extLst>
          </p:cNvPr>
          <p:cNvCxnSpPr>
            <a:cxnSpLocks/>
            <a:stCxn id="8" idx="3"/>
            <a:endCxn id="10" idx="7"/>
          </p:cNvCxnSpPr>
          <p:nvPr/>
        </p:nvCxnSpPr>
        <p:spPr>
          <a:xfrm flipH="1">
            <a:off x="1684194" y="3368896"/>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10" name="椭圆 9">
            <a:extLst>
              <a:ext uri="{FF2B5EF4-FFF2-40B4-BE49-F238E27FC236}">
                <a16:creationId xmlns:a16="http://schemas.microsoft.com/office/drawing/2014/main" id="{4DC8B9D5-2570-C43B-5D46-B1BB79238F12}"/>
              </a:ext>
            </a:extLst>
          </p:cNvPr>
          <p:cNvSpPr/>
          <p:nvPr/>
        </p:nvSpPr>
        <p:spPr>
          <a:xfrm>
            <a:off x="1126745" y="3662207"/>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cxnSp>
        <p:nvCxnSpPr>
          <p:cNvPr id="11" name="直线连接符 10">
            <a:extLst>
              <a:ext uri="{FF2B5EF4-FFF2-40B4-BE49-F238E27FC236}">
                <a16:creationId xmlns:a16="http://schemas.microsoft.com/office/drawing/2014/main" id="{92CC9DB2-0EDD-D12D-A70E-FF6CBCA03BAD}"/>
              </a:ext>
            </a:extLst>
          </p:cNvPr>
          <p:cNvCxnSpPr>
            <a:cxnSpLocks/>
            <a:stCxn id="12" idx="3"/>
            <a:endCxn id="15" idx="7"/>
          </p:cNvCxnSpPr>
          <p:nvPr/>
        </p:nvCxnSpPr>
        <p:spPr>
          <a:xfrm flipH="1">
            <a:off x="3187299" y="4226070"/>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12" name="椭圆 11">
            <a:extLst>
              <a:ext uri="{FF2B5EF4-FFF2-40B4-BE49-F238E27FC236}">
                <a16:creationId xmlns:a16="http://schemas.microsoft.com/office/drawing/2014/main" id="{6B1F6E72-561A-4F57-6D42-A4937345A42E}"/>
              </a:ext>
            </a:extLst>
          </p:cNvPr>
          <p:cNvSpPr/>
          <p:nvPr/>
        </p:nvSpPr>
        <p:spPr>
          <a:xfrm>
            <a:off x="3324951" y="3706009"/>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13" name="直线连接符 12">
            <a:extLst>
              <a:ext uri="{FF2B5EF4-FFF2-40B4-BE49-F238E27FC236}">
                <a16:creationId xmlns:a16="http://schemas.microsoft.com/office/drawing/2014/main" id="{961BC6CC-8A41-DAD4-7906-C28F1F77145C}"/>
              </a:ext>
            </a:extLst>
          </p:cNvPr>
          <p:cNvCxnSpPr>
            <a:cxnSpLocks/>
            <a:stCxn id="8" idx="5"/>
            <a:endCxn id="12" idx="1"/>
          </p:cNvCxnSpPr>
          <p:nvPr/>
        </p:nvCxnSpPr>
        <p:spPr>
          <a:xfrm>
            <a:off x="2738909" y="3368896"/>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直线连接符 13">
            <a:extLst>
              <a:ext uri="{FF2B5EF4-FFF2-40B4-BE49-F238E27FC236}">
                <a16:creationId xmlns:a16="http://schemas.microsoft.com/office/drawing/2014/main" id="{D834939E-F431-EB47-47B4-281C99514AFB}"/>
              </a:ext>
            </a:extLst>
          </p:cNvPr>
          <p:cNvCxnSpPr>
            <a:cxnSpLocks/>
            <a:stCxn id="10" idx="5"/>
            <a:endCxn id="16" idx="1"/>
          </p:cNvCxnSpPr>
          <p:nvPr/>
        </p:nvCxnSpPr>
        <p:spPr>
          <a:xfrm>
            <a:off x="1684194" y="4219656"/>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15" name="椭圆 14">
            <a:extLst>
              <a:ext uri="{FF2B5EF4-FFF2-40B4-BE49-F238E27FC236}">
                <a16:creationId xmlns:a16="http://schemas.microsoft.com/office/drawing/2014/main" id="{6E4B84B6-533E-FE21-9762-6666E1FF38FD}"/>
              </a:ext>
            </a:extLst>
          </p:cNvPr>
          <p:cNvSpPr/>
          <p:nvPr/>
        </p:nvSpPr>
        <p:spPr>
          <a:xfrm>
            <a:off x="2655674" y="4667102"/>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sp>
        <p:nvSpPr>
          <p:cNvPr id="16" name="椭圆 15">
            <a:extLst>
              <a:ext uri="{FF2B5EF4-FFF2-40B4-BE49-F238E27FC236}">
                <a16:creationId xmlns:a16="http://schemas.microsoft.com/office/drawing/2014/main" id="{CF5E654A-87C9-721F-CC44-A96042780588}"/>
              </a:ext>
            </a:extLst>
          </p:cNvPr>
          <p:cNvSpPr/>
          <p:nvPr/>
        </p:nvSpPr>
        <p:spPr>
          <a:xfrm>
            <a:off x="1779836" y="4667102"/>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17" name="直线连接符 16">
            <a:extLst>
              <a:ext uri="{FF2B5EF4-FFF2-40B4-BE49-F238E27FC236}">
                <a16:creationId xmlns:a16="http://schemas.microsoft.com/office/drawing/2014/main" id="{29510DD5-5075-C233-AD39-EE23E5E5AD7F}"/>
              </a:ext>
            </a:extLst>
          </p:cNvPr>
          <p:cNvCxnSpPr>
            <a:cxnSpLocks/>
            <a:stCxn id="10" idx="3"/>
            <a:endCxn id="18" idx="7"/>
          </p:cNvCxnSpPr>
          <p:nvPr/>
        </p:nvCxnSpPr>
        <p:spPr>
          <a:xfrm flipH="1">
            <a:off x="886119" y="4219656"/>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18" name="椭圆 17">
            <a:extLst>
              <a:ext uri="{FF2B5EF4-FFF2-40B4-BE49-F238E27FC236}">
                <a16:creationId xmlns:a16="http://schemas.microsoft.com/office/drawing/2014/main" id="{207E113A-DA68-84C5-F368-926A44285F25}"/>
              </a:ext>
            </a:extLst>
          </p:cNvPr>
          <p:cNvSpPr/>
          <p:nvPr/>
        </p:nvSpPr>
        <p:spPr>
          <a:xfrm>
            <a:off x="335512" y="4667102"/>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sp>
        <p:nvSpPr>
          <p:cNvPr id="2" name="椭圆 1">
            <a:extLst>
              <a:ext uri="{FF2B5EF4-FFF2-40B4-BE49-F238E27FC236}">
                <a16:creationId xmlns:a16="http://schemas.microsoft.com/office/drawing/2014/main" id="{618400B1-8DC1-8512-7273-7F302B18B229}"/>
              </a:ext>
            </a:extLst>
          </p:cNvPr>
          <p:cNvSpPr/>
          <p:nvPr/>
        </p:nvSpPr>
        <p:spPr>
          <a:xfrm>
            <a:off x="6182567" y="2995714"/>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3" name="直线连接符 2">
            <a:extLst>
              <a:ext uri="{FF2B5EF4-FFF2-40B4-BE49-F238E27FC236}">
                <a16:creationId xmlns:a16="http://schemas.microsoft.com/office/drawing/2014/main" id="{9B811BC7-2C2D-9120-BADF-C060358C9C69}"/>
              </a:ext>
            </a:extLst>
          </p:cNvPr>
          <p:cNvCxnSpPr>
            <a:cxnSpLocks/>
            <a:stCxn id="2" idx="3"/>
            <a:endCxn id="4" idx="7"/>
          </p:cNvCxnSpPr>
          <p:nvPr/>
        </p:nvCxnSpPr>
        <p:spPr>
          <a:xfrm flipH="1">
            <a:off x="5665529" y="3533391"/>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4" name="椭圆 3">
            <a:extLst>
              <a:ext uri="{FF2B5EF4-FFF2-40B4-BE49-F238E27FC236}">
                <a16:creationId xmlns:a16="http://schemas.microsoft.com/office/drawing/2014/main" id="{C1301FEB-E64F-9D10-0E2F-2BF7557057DE}"/>
              </a:ext>
            </a:extLst>
          </p:cNvPr>
          <p:cNvSpPr/>
          <p:nvPr/>
        </p:nvSpPr>
        <p:spPr>
          <a:xfrm>
            <a:off x="5108080" y="3826702"/>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5" name="直线连接符 4">
            <a:extLst>
              <a:ext uri="{FF2B5EF4-FFF2-40B4-BE49-F238E27FC236}">
                <a16:creationId xmlns:a16="http://schemas.microsoft.com/office/drawing/2014/main" id="{CF3D2824-A1F4-3FC2-C2B7-D219C30F41F0}"/>
              </a:ext>
            </a:extLst>
          </p:cNvPr>
          <p:cNvCxnSpPr>
            <a:cxnSpLocks/>
            <a:stCxn id="7" idx="3"/>
            <a:endCxn id="21" idx="7"/>
          </p:cNvCxnSpPr>
          <p:nvPr/>
        </p:nvCxnSpPr>
        <p:spPr>
          <a:xfrm flipH="1">
            <a:off x="7168634" y="4390565"/>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7" name="椭圆 6">
            <a:extLst>
              <a:ext uri="{FF2B5EF4-FFF2-40B4-BE49-F238E27FC236}">
                <a16:creationId xmlns:a16="http://schemas.microsoft.com/office/drawing/2014/main" id="{2BE0BFA0-E91E-B02E-C6B4-1A12E8B614FB}"/>
              </a:ext>
            </a:extLst>
          </p:cNvPr>
          <p:cNvSpPr/>
          <p:nvPr/>
        </p:nvSpPr>
        <p:spPr>
          <a:xfrm>
            <a:off x="7306286" y="3870504"/>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19" name="直线连接符 18">
            <a:extLst>
              <a:ext uri="{FF2B5EF4-FFF2-40B4-BE49-F238E27FC236}">
                <a16:creationId xmlns:a16="http://schemas.microsoft.com/office/drawing/2014/main" id="{61289357-7946-4612-75D3-55833994F004}"/>
              </a:ext>
            </a:extLst>
          </p:cNvPr>
          <p:cNvCxnSpPr>
            <a:cxnSpLocks/>
            <a:stCxn id="2" idx="5"/>
            <a:endCxn id="7" idx="1"/>
          </p:cNvCxnSpPr>
          <p:nvPr/>
        </p:nvCxnSpPr>
        <p:spPr>
          <a:xfrm>
            <a:off x="6720244" y="3533391"/>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直线连接符 19">
            <a:extLst>
              <a:ext uri="{FF2B5EF4-FFF2-40B4-BE49-F238E27FC236}">
                <a16:creationId xmlns:a16="http://schemas.microsoft.com/office/drawing/2014/main" id="{1F5663A2-571C-20A6-AB9C-E11953888793}"/>
              </a:ext>
            </a:extLst>
          </p:cNvPr>
          <p:cNvCxnSpPr>
            <a:cxnSpLocks/>
            <a:stCxn id="4" idx="5"/>
            <a:endCxn id="22" idx="1"/>
          </p:cNvCxnSpPr>
          <p:nvPr/>
        </p:nvCxnSpPr>
        <p:spPr>
          <a:xfrm>
            <a:off x="5665529" y="4384151"/>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21" name="椭圆 20">
            <a:extLst>
              <a:ext uri="{FF2B5EF4-FFF2-40B4-BE49-F238E27FC236}">
                <a16:creationId xmlns:a16="http://schemas.microsoft.com/office/drawing/2014/main" id="{EE666DE2-8826-3C0D-C15E-23EDB6951D3B}"/>
              </a:ext>
            </a:extLst>
          </p:cNvPr>
          <p:cNvSpPr/>
          <p:nvPr/>
        </p:nvSpPr>
        <p:spPr>
          <a:xfrm>
            <a:off x="6637009" y="4831597"/>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sp>
        <p:nvSpPr>
          <p:cNvPr id="22" name="椭圆 21">
            <a:extLst>
              <a:ext uri="{FF2B5EF4-FFF2-40B4-BE49-F238E27FC236}">
                <a16:creationId xmlns:a16="http://schemas.microsoft.com/office/drawing/2014/main" id="{91EACB02-A429-FDE5-84F4-D0C2E91E6242}"/>
              </a:ext>
            </a:extLst>
          </p:cNvPr>
          <p:cNvSpPr/>
          <p:nvPr/>
        </p:nvSpPr>
        <p:spPr>
          <a:xfrm>
            <a:off x="5761171" y="4831597"/>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23" name="直线连接符 22">
            <a:extLst>
              <a:ext uri="{FF2B5EF4-FFF2-40B4-BE49-F238E27FC236}">
                <a16:creationId xmlns:a16="http://schemas.microsoft.com/office/drawing/2014/main" id="{9AFB0594-C18E-591D-7190-C07510886EA2}"/>
              </a:ext>
            </a:extLst>
          </p:cNvPr>
          <p:cNvCxnSpPr>
            <a:cxnSpLocks/>
            <a:stCxn id="4" idx="3"/>
            <a:endCxn id="24" idx="7"/>
          </p:cNvCxnSpPr>
          <p:nvPr/>
        </p:nvCxnSpPr>
        <p:spPr>
          <a:xfrm flipH="1">
            <a:off x="4867454" y="4384151"/>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24" name="椭圆 23">
            <a:extLst>
              <a:ext uri="{FF2B5EF4-FFF2-40B4-BE49-F238E27FC236}">
                <a16:creationId xmlns:a16="http://schemas.microsoft.com/office/drawing/2014/main" id="{06C6C09D-D316-8D58-0E4B-6A2D8020B440}"/>
              </a:ext>
            </a:extLst>
          </p:cNvPr>
          <p:cNvSpPr/>
          <p:nvPr/>
        </p:nvSpPr>
        <p:spPr>
          <a:xfrm>
            <a:off x="4316847" y="4831597"/>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26" name="文本框 25">
            <a:extLst>
              <a:ext uri="{FF2B5EF4-FFF2-40B4-BE49-F238E27FC236}">
                <a16:creationId xmlns:a16="http://schemas.microsoft.com/office/drawing/2014/main" id="{A4FD36B9-682C-9295-D43B-5E2DBAE6CC52}"/>
              </a:ext>
            </a:extLst>
          </p:cNvPr>
          <p:cNvSpPr txBox="1"/>
          <p:nvPr/>
        </p:nvSpPr>
        <p:spPr>
          <a:xfrm>
            <a:off x="478228" y="3021883"/>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①</a:t>
            </a:r>
            <a:endParaRPr lang="zh-CN" altLang="en-US" dirty="0"/>
          </a:p>
        </p:txBody>
      </p:sp>
      <p:sp>
        <p:nvSpPr>
          <p:cNvPr id="27" name="文本框 26">
            <a:extLst>
              <a:ext uri="{FF2B5EF4-FFF2-40B4-BE49-F238E27FC236}">
                <a16:creationId xmlns:a16="http://schemas.microsoft.com/office/drawing/2014/main" id="{2681C3DA-74EE-484D-BE01-48254D58655A}"/>
              </a:ext>
            </a:extLst>
          </p:cNvPr>
          <p:cNvSpPr txBox="1"/>
          <p:nvPr/>
        </p:nvSpPr>
        <p:spPr>
          <a:xfrm>
            <a:off x="4388205" y="2980882"/>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②</a:t>
            </a:r>
            <a:endParaRPr lang="zh-CN" altLang="en-US" dirty="0"/>
          </a:p>
        </p:txBody>
      </p:sp>
      <p:sp>
        <p:nvSpPr>
          <p:cNvPr id="28" name="椭圆 27">
            <a:extLst>
              <a:ext uri="{FF2B5EF4-FFF2-40B4-BE49-F238E27FC236}">
                <a16:creationId xmlns:a16="http://schemas.microsoft.com/office/drawing/2014/main" id="{2D3FA8DA-CF06-5703-B4D8-E916B32FF623}"/>
              </a:ext>
            </a:extLst>
          </p:cNvPr>
          <p:cNvSpPr/>
          <p:nvPr/>
        </p:nvSpPr>
        <p:spPr>
          <a:xfrm>
            <a:off x="10309553" y="2903463"/>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29" name="直线连接符 28">
            <a:extLst>
              <a:ext uri="{FF2B5EF4-FFF2-40B4-BE49-F238E27FC236}">
                <a16:creationId xmlns:a16="http://schemas.microsoft.com/office/drawing/2014/main" id="{4420CF85-6102-7CC6-3D77-22BB3795A06C}"/>
              </a:ext>
            </a:extLst>
          </p:cNvPr>
          <p:cNvCxnSpPr>
            <a:cxnSpLocks/>
            <a:stCxn id="28" idx="3"/>
            <a:endCxn id="30" idx="7"/>
          </p:cNvCxnSpPr>
          <p:nvPr/>
        </p:nvCxnSpPr>
        <p:spPr>
          <a:xfrm flipH="1">
            <a:off x="9792515" y="3441140"/>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30" name="椭圆 29">
            <a:extLst>
              <a:ext uri="{FF2B5EF4-FFF2-40B4-BE49-F238E27FC236}">
                <a16:creationId xmlns:a16="http://schemas.microsoft.com/office/drawing/2014/main" id="{B4D4BDD7-A697-F88E-9E72-E5FCEB02039C}"/>
              </a:ext>
            </a:extLst>
          </p:cNvPr>
          <p:cNvSpPr/>
          <p:nvPr/>
        </p:nvSpPr>
        <p:spPr>
          <a:xfrm>
            <a:off x="9235066" y="3734451"/>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31" name="直线连接符 30">
            <a:extLst>
              <a:ext uri="{FF2B5EF4-FFF2-40B4-BE49-F238E27FC236}">
                <a16:creationId xmlns:a16="http://schemas.microsoft.com/office/drawing/2014/main" id="{D31C1EC6-6B37-AAF4-2F5B-C9CCB2CD8AAF}"/>
              </a:ext>
            </a:extLst>
          </p:cNvPr>
          <p:cNvCxnSpPr>
            <a:cxnSpLocks/>
            <a:stCxn id="32" idx="3"/>
            <a:endCxn id="35" idx="7"/>
          </p:cNvCxnSpPr>
          <p:nvPr/>
        </p:nvCxnSpPr>
        <p:spPr>
          <a:xfrm flipH="1">
            <a:off x="11295620" y="4298314"/>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32" name="椭圆 31">
            <a:extLst>
              <a:ext uri="{FF2B5EF4-FFF2-40B4-BE49-F238E27FC236}">
                <a16:creationId xmlns:a16="http://schemas.microsoft.com/office/drawing/2014/main" id="{406FD471-653C-B0C2-5140-4E7ABA44E7EB}"/>
              </a:ext>
            </a:extLst>
          </p:cNvPr>
          <p:cNvSpPr/>
          <p:nvPr/>
        </p:nvSpPr>
        <p:spPr>
          <a:xfrm>
            <a:off x="11433272" y="3778253"/>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cxnSp>
        <p:nvCxnSpPr>
          <p:cNvPr id="33" name="直线连接符 32">
            <a:extLst>
              <a:ext uri="{FF2B5EF4-FFF2-40B4-BE49-F238E27FC236}">
                <a16:creationId xmlns:a16="http://schemas.microsoft.com/office/drawing/2014/main" id="{C9A791FD-02E5-21C8-5739-DCDCAF748FAE}"/>
              </a:ext>
            </a:extLst>
          </p:cNvPr>
          <p:cNvCxnSpPr>
            <a:cxnSpLocks/>
            <a:stCxn id="28" idx="5"/>
            <a:endCxn id="32" idx="1"/>
          </p:cNvCxnSpPr>
          <p:nvPr/>
        </p:nvCxnSpPr>
        <p:spPr>
          <a:xfrm>
            <a:off x="10847230" y="3441140"/>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直线连接符 33">
            <a:extLst>
              <a:ext uri="{FF2B5EF4-FFF2-40B4-BE49-F238E27FC236}">
                <a16:creationId xmlns:a16="http://schemas.microsoft.com/office/drawing/2014/main" id="{BA82A1E6-5243-3059-39C8-D4437FC8C845}"/>
              </a:ext>
            </a:extLst>
          </p:cNvPr>
          <p:cNvCxnSpPr>
            <a:cxnSpLocks/>
            <a:stCxn id="30" idx="5"/>
            <a:endCxn id="36" idx="1"/>
          </p:cNvCxnSpPr>
          <p:nvPr/>
        </p:nvCxnSpPr>
        <p:spPr>
          <a:xfrm>
            <a:off x="9792515" y="4291900"/>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35" name="椭圆 34">
            <a:extLst>
              <a:ext uri="{FF2B5EF4-FFF2-40B4-BE49-F238E27FC236}">
                <a16:creationId xmlns:a16="http://schemas.microsoft.com/office/drawing/2014/main" id="{E01F7304-598D-F07A-C900-5DAB4FA64F9D}"/>
              </a:ext>
            </a:extLst>
          </p:cNvPr>
          <p:cNvSpPr/>
          <p:nvPr/>
        </p:nvSpPr>
        <p:spPr>
          <a:xfrm>
            <a:off x="10763995" y="4739346"/>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36" name="椭圆 35">
            <a:extLst>
              <a:ext uri="{FF2B5EF4-FFF2-40B4-BE49-F238E27FC236}">
                <a16:creationId xmlns:a16="http://schemas.microsoft.com/office/drawing/2014/main" id="{6EECAC76-70DE-8F5D-786C-6DA66AA3B62F}"/>
              </a:ext>
            </a:extLst>
          </p:cNvPr>
          <p:cNvSpPr/>
          <p:nvPr/>
        </p:nvSpPr>
        <p:spPr>
          <a:xfrm>
            <a:off x="9888157" y="4739346"/>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37" name="直线连接符 36">
            <a:extLst>
              <a:ext uri="{FF2B5EF4-FFF2-40B4-BE49-F238E27FC236}">
                <a16:creationId xmlns:a16="http://schemas.microsoft.com/office/drawing/2014/main" id="{9FE4ED68-B1A6-A95B-ACCF-B6D54B203EEF}"/>
              </a:ext>
            </a:extLst>
          </p:cNvPr>
          <p:cNvCxnSpPr>
            <a:cxnSpLocks/>
            <a:stCxn id="30" idx="3"/>
            <a:endCxn id="38" idx="7"/>
          </p:cNvCxnSpPr>
          <p:nvPr/>
        </p:nvCxnSpPr>
        <p:spPr>
          <a:xfrm flipH="1">
            <a:off x="8994440" y="4291900"/>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38" name="椭圆 37">
            <a:extLst>
              <a:ext uri="{FF2B5EF4-FFF2-40B4-BE49-F238E27FC236}">
                <a16:creationId xmlns:a16="http://schemas.microsoft.com/office/drawing/2014/main" id="{4E759C82-5868-C6B4-C3B2-5313AAA199FA}"/>
              </a:ext>
            </a:extLst>
          </p:cNvPr>
          <p:cNvSpPr/>
          <p:nvPr/>
        </p:nvSpPr>
        <p:spPr>
          <a:xfrm>
            <a:off x="8443833" y="4739346"/>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sp>
        <p:nvSpPr>
          <p:cNvPr id="39" name="文本框 38">
            <a:extLst>
              <a:ext uri="{FF2B5EF4-FFF2-40B4-BE49-F238E27FC236}">
                <a16:creationId xmlns:a16="http://schemas.microsoft.com/office/drawing/2014/main" id="{CEE62F7C-1D72-D727-D1F4-8B6E935AA1B4}"/>
              </a:ext>
            </a:extLst>
          </p:cNvPr>
          <p:cNvSpPr txBox="1"/>
          <p:nvPr/>
        </p:nvSpPr>
        <p:spPr>
          <a:xfrm>
            <a:off x="8515191" y="2888631"/>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③</a:t>
            </a:r>
            <a:endParaRPr lang="zh-CN" altLang="en-US" dirty="0"/>
          </a:p>
        </p:txBody>
      </p:sp>
    </p:spTree>
    <p:extLst>
      <p:ext uri="{BB962C8B-B14F-4D97-AF65-F5344CB8AC3E}">
        <p14:creationId xmlns:p14="http://schemas.microsoft.com/office/powerpoint/2010/main" val="3202046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D0D0A-8512-DAE7-80FB-05410351B3FF}"/>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CB0BD8F-589C-4B76-D1FC-5686B3218E20}"/>
              </a:ext>
            </a:extLst>
          </p:cNvPr>
          <p:cNvSpPr>
            <a:spLocks noGrp="1"/>
          </p:cNvSpPr>
          <p:nvPr>
            <p:ph type="title"/>
          </p:nvPr>
        </p:nvSpPr>
        <p:spPr>
          <a:xfrm>
            <a:off x="838200" y="365125"/>
            <a:ext cx="10515600" cy="1873039"/>
          </a:xfrm>
        </p:spPr>
        <p:txBody>
          <a:bodyPr>
            <a:normAutofit fontScale="90000"/>
          </a:bodyPr>
          <a:lstStyle/>
          <a:p>
            <a:pPr marL="342900" indent="-342900">
              <a:lnSpc>
                <a:spcPct val="150000"/>
              </a:lnSpc>
              <a:tabLst>
                <a:tab pos="266700" algn="l"/>
              </a:tabLst>
            </a:pPr>
            <a:r>
              <a:rPr lang="zh-CN" altLang="en-US" sz="24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填空题</a:t>
            </a:r>
            <a:r>
              <a:rPr lang="en-US" altLang="zh-CN" sz="2400" b="1"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9</a:t>
            </a:r>
            <a:r>
              <a:rPr lang="zh-CN" altLang="en-US" sz="24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下面编号为</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___________</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的关键码序列是堆。</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①{16, 72, 94, 23, 31, 53}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②{94, 53, 31, 72, 16, 23}</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③{16, 53, 23, 94, 31, 72} </a:t>
            </a:r>
            <a:b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④{16, 94, 23, 31, 53, 72}</a:t>
            </a: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 </a:t>
            </a:r>
            <a:r>
              <a:rPr lang="en-US" altLang="zh-CN"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⑤{94, 31,53, 23, 16, 72}</a:t>
            </a:r>
            <a:b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r>
              <a:rPr lang="zh-CN" altLang="en-US" sz="24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答：无</a:t>
            </a:r>
            <a:endParaRPr lang="zh-CN" altLang="en-US" sz="2400" kern="100" baseline="300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p:sp>
        <p:nvSpPr>
          <p:cNvPr id="8" name="椭圆 7">
            <a:extLst>
              <a:ext uri="{FF2B5EF4-FFF2-40B4-BE49-F238E27FC236}">
                <a16:creationId xmlns:a16="http://schemas.microsoft.com/office/drawing/2014/main" id="{6E1BBB22-A8C1-DAB5-8E5A-F1CE17039543}"/>
              </a:ext>
            </a:extLst>
          </p:cNvPr>
          <p:cNvSpPr/>
          <p:nvPr/>
        </p:nvSpPr>
        <p:spPr>
          <a:xfrm>
            <a:off x="3660304" y="2693211"/>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9" name="直线连接符 8">
            <a:extLst>
              <a:ext uri="{FF2B5EF4-FFF2-40B4-BE49-F238E27FC236}">
                <a16:creationId xmlns:a16="http://schemas.microsoft.com/office/drawing/2014/main" id="{17AB6476-72B2-3FBF-9D78-773BCD8F9E0B}"/>
              </a:ext>
            </a:extLst>
          </p:cNvPr>
          <p:cNvCxnSpPr>
            <a:cxnSpLocks/>
            <a:stCxn id="8" idx="3"/>
            <a:endCxn id="10" idx="7"/>
          </p:cNvCxnSpPr>
          <p:nvPr/>
        </p:nvCxnSpPr>
        <p:spPr>
          <a:xfrm flipH="1">
            <a:off x="3143266" y="3230888"/>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10" name="椭圆 9">
            <a:extLst>
              <a:ext uri="{FF2B5EF4-FFF2-40B4-BE49-F238E27FC236}">
                <a16:creationId xmlns:a16="http://schemas.microsoft.com/office/drawing/2014/main" id="{E045CE65-9D26-DC75-F38C-BE7D6C83FEFB}"/>
              </a:ext>
            </a:extLst>
          </p:cNvPr>
          <p:cNvSpPr/>
          <p:nvPr/>
        </p:nvSpPr>
        <p:spPr>
          <a:xfrm>
            <a:off x="2585817" y="3524199"/>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11" name="直线连接符 10">
            <a:extLst>
              <a:ext uri="{FF2B5EF4-FFF2-40B4-BE49-F238E27FC236}">
                <a16:creationId xmlns:a16="http://schemas.microsoft.com/office/drawing/2014/main" id="{F9C55910-58A5-4E9A-9BEB-966618DBFC73}"/>
              </a:ext>
            </a:extLst>
          </p:cNvPr>
          <p:cNvCxnSpPr>
            <a:cxnSpLocks/>
            <a:stCxn id="12" idx="3"/>
            <a:endCxn id="15" idx="7"/>
          </p:cNvCxnSpPr>
          <p:nvPr/>
        </p:nvCxnSpPr>
        <p:spPr>
          <a:xfrm flipH="1">
            <a:off x="4646371" y="4088062"/>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12" name="椭圆 11">
            <a:extLst>
              <a:ext uri="{FF2B5EF4-FFF2-40B4-BE49-F238E27FC236}">
                <a16:creationId xmlns:a16="http://schemas.microsoft.com/office/drawing/2014/main" id="{273E5A25-25EA-3DF4-BB8E-8E3631019CD5}"/>
              </a:ext>
            </a:extLst>
          </p:cNvPr>
          <p:cNvSpPr/>
          <p:nvPr/>
        </p:nvSpPr>
        <p:spPr>
          <a:xfrm>
            <a:off x="4784023" y="3568001"/>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cxnSp>
        <p:nvCxnSpPr>
          <p:cNvPr id="13" name="直线连接符 12">
            <a:extLst>
              <a:ext uri="{FF2B5EF4-FFF2-40B4-BE49-F238E27FC236}">
                <a16:creationId xmlns:a16="http://schemas.microsoft.com/office/drawing/2014/main" id="{41DFE8CF-260F-E605-5A68-825CD9548D72}"/>
              </a:ext>
            </a:extLst>
          </p:cNvPr>
          <p:cNvCxnSpPr>
            <a:cxnSpLocks/>
            <a:stCxn id="8" idx="5"/>
            <a:endCxn id="12" idx="1"/>
          </p:cNvCxnSpPr>
          <p:nvPr/>
        </p:nvCxnSpPr>
        <p:spPr>
          <a:xfrm>
            <a:off x="4197981" y="3230888"/>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直线连接符 13">
            <a:extLst>
              <a:ext uri="{FF2B5EF4-FFF2-40B4-BE49-F238E27FC236}">
                <a16:creationId xmlns:a16="http://schemas.microsoft.com/office/drawing/2014/main" id="{27BDC90D-13E4-B7C7-92D6-2B40881F1AA9}"/>
              </a:ext>
            </a:extLst>
          </p:cNvPr>
          <p:cNvCxnSpPr>
            <a:cxnSpLocks/>
            <a:stCxn id="10" idx="5"/>
            <a:endCxn id="16" idx="1"/>
          </p:cNvCxnSpPr>
          <p:nvPr/>
        </p:nvCxnSpPr>
        <p:spPr>
          <a:xfrm>
            <a:off x="3143266" y="4081648"/>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15" name="椭圆 14">
            <a:extLst>
              <a:ext uri="{FF2B5EF4-FFF2-40B4-BE49-F238E27FC236}">
                <a16:creationId xmlns:a16="http://schemas.microsoft.com/office/drawing/2014/main" id="{EFE28F8A-874D-021F-9D67-D2304ADA070F}"/>
              </a:ext>
            </a:extLst>
          </p:cNvPr>
          <p:cNvSpPr/>
          <p:nvPr/>
        </p:nvSpPr>
        <p:spPr>
          <a:xfrm>
            <a:off x="4114746" y="4529094"/>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16" name="椭圆 15">
            <a:extLst>
              <a:ext uri="{FF2B5EF4-FFF2-40B4-BE49-F238E27FC236}">
                <a16:creationId xmlns:a16="http://schemas.microsoft.com/office/drawing/2014/main" id="{E1925DED-4CA7-71B8-CAAE-48AF435B2171}"/>
              </a:ext>
            </a:extLst>
          </p:cNvPr>
          <p:cNvSpPr/>
          <p:nvPr/>
        </p:nvSpPr>
        <p:spPr>
          <a:xfrm>
            <a:off x="3238908" y="4529094"/>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17" name="直线连接符 16">
            <a:extLst>
              <a:ext uri="{FF2B5EF4-FFF2-40B4-BE49-F238E27FC236}">
                <a16:creationId xmlns:a16="http://schemas.microsoft.com/office/drawing/2014/main" id="{AE17C3D6-6A64-2381-5D79-284989F6E007}"/>
              </a:ext>
            </a:extLst>
          </p:cNvPr>
          <p:cNvCxnSpPr>
            <a:cxnSpLocks/>
            <a:stCxn id="10" idx="3"/>
            <a:endCxn id="18" idx="7"/>
          </p:cNvCxnSpPr>
          <p:nvPr/>
        </p:nvCxnSpPr>
        <p:spPr>
          <a:xfrm flipH="1">
            <a:off x="2345191" y="4081648"/>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18" name="椭圆 17">
            <a:extLst>
              <a:ext uri="{FF2B5EF4-FFF2-40B4-BE49-F238E27FC236}">
                <a16:creationId xmlns:a16="http://schemas.microsoft.com/office/drawing/2014/main" id="{E6E43556-AB36-F2A9-97F2-33F72B953A77}"/>
              </a:ext>
            </a:extLst>
          </p:cNvPr>
          <p:cNvSpPr/>
          <p:nvPr/>
        </p:nvSpPr>
        <p:spPr>
          <a:xfrm>
            <a:off x="1794584" y="4529094"/>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sp>
        <p:nvSpPr>
          <p:cNvPr id="2" name="椭圆 1">
            <a:extLst>
              <a:ext uri="{FF2B5EF4-FFF2-40B4-BE49-F238E27FC236}">
                <a16:creationId xmlns:a16="http://schemas.microsoft.com/office/drawing/2014/main" id="{C44D4436-3749-9101-5986-C752B8D923AD}"/>
              </a:ext>
            </a:extLst>
          </p:cNvPr>
          <p:cNvSpPr/>
          <p:nvPr/>
        </p:nvSpPr>
        <p:spPr>
          <a:xfrm>
            <a:off x="8521692" y="2883875"/>
            <a:ext cx="629928" cy="629928"/>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94</a:t>
            </a:r>
            <a:endParaRPr kumimoji="1" lang="zh-CN" altLang="en-US" dirty="0"/>
          </a:p>
        </p:txBody>
      </p:sp>
      <p:cxnSp>
        <p:nvCxnSpPr>
          <p:cNvPr id="3" name="直线连接符 2">
            <a:extLst>
              <a:ext uri="{FF2B5EF4-FFF2-40B4-BE49-F238E27FC236}">
                <a16:creationId xmlns:a16="http://schemas.microsoft.com/office/drawing/2014/main" id="{4DD27FDA-63D2-37C4-AE5C-F56AE9B0DE0B}"/>
              </a:ext>
            </a:extLst>
          </p:cNvPr>
          <p:cNvCxnSpPr>
            <a:cxnSpLocks/>
            <a:stCxn id="2" idx="3"/>
            <a:endCxn id="4" idx="7"/>
          </p:cNvCxnSpPr>
          <p:nvPr/>
        </p:nvCxnSpPr>
        <p:spPr>
          <a:xfrm flipH="1">
            <a:off x="8004654" y="3421552"/>
            <a:ext cx="609289" cy="388954"/>
          </a:xfrm>
          <a:prstGeom prst="line">
            <a:avLst/>
          </a:prstGeom>
          <a:ln w="28575"/>
        </p:spPr>
        <p:style>
          <a:lnRef idx="1">
            <a:schemeClr val="dk1"/>
          </a:lnRef>
          <a:fillRef idx="0">
            <a:schemeClr val="dk1"/>
          </a:fillRef>
          <a:effectRef idx="0">
            <a:schemeClr val="dk1"/>
          </a:effectRef>
          <a:fontRef idx="minor">
            <a:schemeClr val="tx1"/>
          </a:fontRef>
        </p:style>
      </p:cxnSp>
      <p:sp>
        <p:nvSpPr>
          <p:cNvPr id="4" name="椭圆 3">
            <a:extLst>
              <a:ext uri="{FF2B5EF4-FFF2-40B4-BE49-F238E27FC236}">
                <a16:creationId xmlns:a16="http://schemas.microsoft.com/office/drawing/2014/main" id="{04B520F9-310B-4785-67F6-B5A48CAA1D0A}"/>
              </a:ext>
            </a:extLst>
          </p:cNvPr>
          <p:cNvSpPr/>
          <p:nvPr/>
        </p:nvSpPr>
        <p:spPr>
          <a:xfrm>
            <a:off x="7447205" y="3714863"/>
            <a:ext cx="653092" cy="653092"/>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31</a:t>
            </a:r>
            <a:endParaRPr kumimoji="1" lang="zh-CN" altLang="en-US" dirty="0"/>
          </a:p>
        </p:txBody>
      </p:sp>
      <p:cxnSp>
        <p:nvCxnSpPr>
          <p:cNvPr id="5" name="直线连接符 4">
            <a:extLst>
              <a:ext uri="{FF2B5EF4-FFF2-40B4-BE49-F238E27FC236}">
                <a16:creationId xmlns:a16="http://schemas.microsoft.com/office/drawing/2014/main" id="{17963CD8-09A7-39E8-EC74-1F02FEFCC78E}"/>
              </a:ext>
            </a:extLst>
          </p:cNvPr>
          <p:cNvCxnSpPr>
            <a:cxnSpLocks/>
            <a:stCxn id="7" idx="3"/>
            <a:endCxn id="21" idx="7"/>
          </p:cNvCxnSpPr>
          <p:nvPr/>
        </p:nvCxnSpPr>
        <p:spPr>
          <a:xfrm flipH="1">
            <a:off x="9507759" y="4278726"/>
            <a:ext cx="226880" cy="532244"/>
          </a:xfrm>
          <a:prstGeom prst="line">
            <a:avLst/>
          </a:prstGeom>
          <a:ln w="28575"/>
        </p:spPr>
        <p:style>
          <a:lnRef idx="1">
            <a:schemeClr val="dk1"/>
          </a:lnRef>
          <a:fillRef idx="0">
            <a:schemeClr val="dk1"/>
          </a:fillRef>
          <a:effectRef idx="0">
            <a:schemeClr val="dk1"/>
          </a:effectRef>
          <a:fontRef idx="minor">
            <a:schemeClr val="tx1"/>
          </a:fontRef>
        </p:style>
      </p:cxnSp>
      <p:sp>
        <p:nvSpPr>
          <p:cNvPr id="7" name="椭圆 6">
            <a:extLst>
              <a:ext uri="{FF2B5EF4-FFF2-40B4-BE49-F238E27FC236}">
                <a16:creationId xmlns:a16="http://schemas.microsoft.com/office/drawing/2014/main" id="{0D50954E-CDD0-CDCA-5D5E-7106C1FF8277}"/>
              </a:ext>
            </a:extLst>
          </p:cNvPr>
          <p:cNvSpPr/>
          <p:nvPr/>
        </p:nvSpPr>
        <p:spPr>
          <a:xfrm>
            <a:off x="9645411" y="3758665"/>
            <a:ext cx="609289" cy="609289"/>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53</a:t>
            </a:r>
            <a:endParaRPr kumimoji="1" lang="zh-CN" altLang="en-US" dirty="0"/>
          </a:p>
        </p:txBody>
      </p:sp>
      <p:cxnSp>
        <p:nvCxnSpPr>
          <p:cNvPr id="19" name="直线连接符 18">
            <a:extLst>
              <a:ext uri="{FF2B5EF4-FFF2-40B4-BE49-F238E27FC236}">
                <a16:creationId xmlns:a16="http://schemas.microsoft.com/office/drawing/2014/main" id="{E1AFD59D-71B1-B03A-FD69-E8E9B30E3271}"/>
              </a:ext>
            </a:extLst>
          </p:cNvPr>
          <p:cNvCxnSpPr>
            <a:cxnSpLocks/>
            <a:stCxn id="2" idx="5"/>
            <a:endCxn id="7" idx="1"/>
          </p:cNvCxnSpPr>
          <p:nvPr/>
        </p:nvCxnSpPr>
        <p:spPr>
          <a:xfrm>
            <a:off x="9059369" y="3421552"/>
            <a:ext cx="675270" cy="426341"/>
          </a:xfrm>
          <a:prstGeom prst="line">
            <a:avLst/>
          </a:prstGeom>
          <a:ln w="28575"/>
        </p:spPr>
        <p:style>
          <a:lnRef idx="1">
            <a:schemeClr val="dk1"/>
          </a:lnRef>
          <a:fillRef idx="0">
            <a:schemeClr val="dk1"/>
          </a:fillRef>
          <a:effectRef idx="0">
            <a:schemeClr val="dk1"/>
          </a:effectRef>
          <a:fontRef idx="minor">
            <a:schemeClr val="tx1"/>
          </a:fontRef>
        </p:style>
      </p:cxnSp>
      <p:cxnSp>
        <p:nvCxnSpPr>
          <p:cNvPr id="20" name="直线连接符 19">
            <a:extLst>
              <a:ext uri="{FF2B5EF4-FFF2-40B4-BE49-F238E27FC236}">
                <a16:creationId xmlns:a16="http://schemas.microsoft.com/office/drawing/2014/main" id="{E327E7C6-0FE0-2E27-B910-80A9B7689C25}"/>
              </a:ext>
            </a:extLst>
          </p:cNvPr>
          <p:cNvCxnSpPr>
            <a:cxnSpLocks/>
            <a:stCxn id="4" idx="5"/>
            <a:endCxn id="22" idx="1"/>
          </p:cNvCxnSpPr>
          <p:nvPr/>
        </p:nvCxnSpPr>
        <p:spPr>
          <a:xfrm>
            <a:off x="8004654" y="4272312"/>
            <a:ext cx="186854" cy="538658"/>
          </a:xfrm>
          <a:prstGeom prst="line">
            <a:avLst/>
          </a:prstGeom>
          <a:ln w="28575"/>
        </p:spPr>
        <p:style>
          <a:lnRef idx="1">
            <a:schemeClr val="dk1"/>
          </a:lnRef>
          <a:fillRef idx="0">
            <a:schemeClr val="dk1"/>
          </a:fillRef>
          <a:effectRef idx="0">
            <a:schemeClr val="dk1"/>
          </a:effectRef>
          <a:fontRef idx="minor">
            <a:schemeClr val="tx1"/>
          </a:fontRef>
        </p:style>
      </p:cxnSp>
      <p:sp>
        <p:nvSpPr>
          <p:cNvPr id="21" name="椭圆 20">
            <a:extLst>
              <a:ext uri="{FF2B5EF4-FFF2-40B4-BE49-F238E27FC236}">
                <a16:creationId xmlns:a16="http://schemas.microsoft.com/office/drawing/2014/main" id="{3626DF9F-2FC7-02E2-1B29-451068BC7113}"/>
              </a:ext>
            </a:extLst>
          </p:cNvPr>
          <p:cNvSpPr/>
          <p:nvPr/>
        </p:nvSpPr>
        <p:spPr>
          <a:xfrm>
            <a:off x="8976134" y="4719758"/>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72</a:t>
            </a:r>
            <a:endParaRPr kumimoji="1" lang="zh-CN" altLang="en-US" dirty="0"/>
          </a:p>
        </p:txBody>
      </p:sp>
      <p:sp>
        <p:nvSpPr>
          <p:cNvPr id="22" name="椭圆 21">
            <a:extLst>
              <a:ext uri="{FF2B5EF4-FFF2-40B4-BE49-F238E27FC236}">
                <a16:creationId xmlns:a16="http://schemas.microsoft.com/office/drawing/2014/main" id="{9C4DDB67-E1CF-29C6-D787-2E8D30EF3B6C}"/>
              </a:ext>
            </a:extLst>
          </p:cNvPr>
          <p:cNvSpPr/>
          <p:nvPr/>
        </p:nvSpPr>
        <p:spPr>
          <a:xfrm>
            <a:off x="8100296" y="4719758"/>
            <a:ext cx="622837" cy="622837"/>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16</a:t>
            </a:r>
            <a:endParaRPr kumimoji="1" lang="zh-CN" altLang="en-US" dirty="0"/>
          </a:p>
        </p:txBody>
      </p:sp>
      <p:cxnSp>
        <p:nvCxnSpPr>
          <p:cNvPr id="23" name="直线连接符 22">
            <a:extLst>
              <a:ext uri="{FF2B5EF4-FFF2-40B4-BE49-F238E27FC236}">
                <a16:creationId xmlns:a16="http://schemas.microsoft.com/office/drawing/2014/main" id="{892F048B-00CB-8015-5B02-247A7EF9208D}"/>
              </a:ext>
            </a:extLst>
          </p:cNvPr>
          <p:cNvCxnSpPr>
            <a:cxnSpLocks/>
            <a:stCxn id="4" idx="3"/>
            <a:endCxn id="24" idx="7"/>
          </p:cNvCxnSpPr>
          <p:nvPr/>
        </p:nvCxnSpPr>
        <p:spPr>
          <a:xfrm flipH="1">
            <a:off x="7206579" y="4272312"/>
            <a:ext cx="336269" cy="541915"/>
          </a:xfrm>
          <a:prstGeom prst="line">
            <a:avLst/>
          </a:prstGeom>
          <a:ln w="28575"/>
        </p:spPr>
        <p:style>
          <a:lnRef idx="1">
            <a:schemeClr val="dk1"/>
          </a:lnRef>
          <a:fillRef idx="0">
            <a:schemeClr val="dk1"/>
          </a:fillRef>
          <a:effectRef idx="0">
            <a:schemeClr val="dk1"/>
          </a:effectRef>
          <a:fontRef idx="minor">
            <a:schemeClr val="tx1"/>
          </a:fontRef>
        </p:style>
      </p:cxnSp>
      <p:sp>
        <p:nvSpPr>
          <p:cNvPr id="24" name="椭圆 23">
            <a:extLst>
              <a:ext uri="{FF2B5EF4-FFF2-40B4-BE49-F238E27FC236}">
                <a16:creationId xmlns:a16="http://schemas.microsoft.com/office/drawing/2014/main" id="{6AB0B6DC-7E1F-E8AC-0673-3126AE6E8BF5}"/>
              </a:ext>
            </a:extLst>
          </p:cNvPr>
          <p:cNvSpPr/>
          <p:nvPr/>
        </p:nvSpPr>
        <p:spPr>
          <a:xfrm>
            <a:off x="6655972" y="4719758"/>
            <a:ext cx="645076" cy="645076"/>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23</a:t>
            </a:r>
            <a:endParaRPr kumimoji="1" lang="zh-CN" altLang="en-US" dirty="0"/>
          </a:p>
        </p:txBody>
      </p:sp>
      <p:sp>
        <p:nvSpPr>
          <p:cNvPr id="26" name="文本框 25">
            <a:extLst>
              <a:ext uri="{FF2B5EF4-FFF2-40B4-BE49-F238E27FC236}">
                <a16:creationId xmlns:a16="http://schemas.microsoft.com/office/drawing/2014/main" id="{39587D97-C5ED-D6CD-BEBF-C1676697D406}"/>
              </a:ext>
            </a:extLst>
          </p:cNvPr>
          <p:cNvSpPr txBox="1"/>
          <p:nvPr/>
        </p:nvSpPr>
        <p:spPr>
          <a:xfrm>
            <a:off x="1937300" y="2883875"/>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④</a:t>
            </a:r>
            <a:endParaRPr lang="zh-CN" altLang="en-US" dirty="0"/>
          </a:p>
        </p:txBody>
      </p:sp>
      <p:sp>
        <p:nvSpPr>
          <p:cNvPr id="27" name="文本框 26">
            <a:extLst>
              <a:ext uri="{FF2B5EF4-FFF2-40B4-BE49-F238E27FC236}">
                <a16:creationId xmlns:a16="http://schemas.microsoft.com/office/drawing/2014/main" id="{F8AA4315-55F8-1DDF-96F9-7358B116D954}"/>
              </a:ext>
            </a:extLst>
          </p:cNvPr>
          <p:cNvSpPr txBox="1"/>
          <p:nvPr/>
        </p:nvSpPr>
        <p:spPr>
          <a:xfrm>
            <a:off x="6727330" y="2869043"/>
            <a:ext cx="502360" cy="369332"/>
          </a:xfrm>
          <a:prstGeom prst="rect">
            <a:avLst/>
          </a:prstGeom>
          <a:noFill/>
        </p:spPr>
        <p:txBody>
          <a:bodyPr wrap="square">
            <a:spAutoFit/>
          </a:bodyPr>
          <a:lstStyle/>
          <a:p>
            <a:r>
              <a:rPr lang="en-US" altLang="zh-CN" sz="18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⑤</a:t>
            </a:r>
            <a:endParaRPr lang="zh-CN" altLang="en-US" dirty="0"/>
          </a:p>
        </p:txBody>
      </p:sp>
    </p:spTree>
    <p:extLst>
      <p:ext uri="{BB962C8B-B14F-4D97-AF65-F5344CB8AC3E}">
        <p14:creationId xmlns:p14="http://schemas.microsoft.com/office/powerpoint/2010/main" val="3919425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365125"/>
            <a:ext cx="10515600" cy="2049601"/>
          </a:xfrm>
        </p:spPr>
        <p:txBody>
          <a:bodyPr>
            <a:normAutofit/>
          </a:bodyPr>
          <a:lstStyle/>
          <a:p>
            <a:pPr marL="342900" indent="-342900">
              <a:lnSpc>
                <a:spcPct val="150000"/>
              </a:lnSpc>
              <a:tabLst>
                <a:tab pos="266700" algn="l"/>
              </a:tabLst>
            </a:pPr>
            <a:r>
              <a:rPr lang="zh-CN" altLang="en-US"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问答题</a:t>
            </a:r>
            <a:r>
              <a:rPr lang="en-US" altLang="zh-CN" sz="2200" b="1"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1</a:t>
            </a:r>
            <a:r>
              <a:rPr lang="zh-CN" altLang="en-US"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rPr>
              <a:t>：</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某算法时间复杂度的递推关系如下，其中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为求解问题的规模，设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n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是 </a:t>
            </a:r>
            <a:r>
              <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6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的正整数幂。请给出该算法时间复杂度的大 </a:t>
            </a:r>
            <a:r>
              <a:rPr lang="en"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O </a:t>
            </a:r>
            <a:r>
              <a:rPr lang="zh-CN" altLang="en-US"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表示法及推导过程。</a:t>
            </a:r>
            <a:br>
              <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br>
            <a:endParaRPr lang="en-US" altLang="zh-CN" sz="22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p:txBody>
      </p:sp>
      <mc:AlternateContent xmlns:mc="http://schemas.openxmlformats.org/markup-compatibility/2006" xmlns:a14="http://schemas.microsoft.com/office/drawing/2010/main">
        <mc:Choice Requires="a14">
          <p:sp>
            <p:nvSpPr>
              <p:cNvPr id="7" name="内容占位符 6"/>
              <p:cNvSpPr>
                <a:spLocks noGrp="1"/>
              </p:cNvSpPr>
              <p:nvPr>
                <p:ph idx="1"/>
              </p:nvPr>
            </p:nvSpPr>
            <p:spPr>
              <a:xfrm>
                <a:off x="838200" y="2640875"/>
                <a:ext cx="10515600" cy="3910195"/>
              </a:xfrm>
            </p:spPr>
            <p:txBody>
              <a:bodyPr>
                <a:normAutofit lnSpcReduction="10000"/>
              </a:bodyPr>
              <a:lstStyle/>
              <a:p>
                <a:pPr marL="0" indent="0">
                  <a:buNone/>
                </a:pPr>
                <a:endParaRPr lang="en-US" altLang="zh-CN" sz="1800" kern="100" dirty="0">
                  <a:solidFill>
                    <a:srgbClr val="000000"/>
                  </a:solidFill>
                  <a:effectLst/>
                  <a:latin typeface="Times New Roman" panose="02020503050405090304" pitchFamily="18" charset="0"/>
                  <a:ea typeface="宋体" panose="02010600030101010101" pitchFamily="2" charset="-122"/>
                </a:endParaRPr>
              </a:p>
              <a:p>
                <a14:m>
                  <m:oMath xmlns:m="http://schemas.openxmlformats.org/officeDocument/2006/math">
                    <m:r>
                      <a:rPr lang="en" altLang="zh-CN" i="1" dirty="0" smtClean="0">
                        <a:solidFill>
                          <a:srgbClr val="000000"/>
                        </a:solidFill>
                        <a:effectLst/>
                        <a:latin typeface="Cambria Math" panose="02040503050406030204" pitchFamily="18" charset="0"/>
                      </a:rPr>
                      <m:t>𝑇</m:t>
                    </m:r>
                    <m:d>
                      <m:dPr>
                        <m:ctrlPr>
                          <a:rPr lang="en" altLang="zh-CN" i="1" dirty="0" smtClean="0">
                            <a:solidFill>
                              <a:srgbClr val="000000"/>
                            </a:solidFill>
                            <a:effectLst/>
                            <a:latin typeface="Cambria Math" panose="02040503050406030204" pitchFamily="18" charset="0"/>
                          </a:rPr>
                        </m:ctrlPr>
                      </m:dPr>
                      <m:e>
                        <m:r>
                          <a:rPr lang="en" altLang="zh-CN" i="1" dirty="0" smtClean="0">
                            <a:solidFill>
                              <a:srgbClr val="000000"/>
                            </a:solidFill>
                            <a:effectLst/>
                            <a:latin typeface="Cambria Math" panose="02040503050406030204" pitchFamily="18" charset="0"/>
                          </a:rPr>
                          <m:t>𝑛</m:t>
                        </m:r>
                      </m:e>
                    </m:d>
                    <m:r>
                      <a:rPr lang="en" altLang="zh-CN" i="1" dirty="0" smtClean="0">
                        <a:solidFill>
                          <a:srgbClr val="000000"/>
                        </a:solidFill>
                        <a:effectLst/>
                        <a:latin typeface="Cambria Math" panose="02040503050406030204" pitchFamily="18" charset="0"/>
                      </a:rPr>
                      <m:t>= 5</m:t>
                    </m:r>
                    <m:r>
                      <a:rPr lang="en" altLang="zh-CN" i="1" dirty="0" smtClean="0">
                        <a:solidFill>
                          <a:srgbClr val="000000"/>
                        </a:solidFill>
                        <a:effectLst/>
                        <a:latin typeface="Cambria Math" panose="02040503050406030204" pitchFamily="18" charset="0"/>
                      </a:rPr>
                      <m:t>𝑇</m:t>
                    </m:r>
                    <m:d>
                      <m:dPr>
                        <m:ctrlPr>
                          <a:rPr lang="en" altLang="zh-CN" i="1" dirty="0" smtClean="0">
                            <a:solidFill>
                              <a:srgbClr val="000000"/>
                            </a:solidFill>
                            <a:effectLst/>
                            <a:latin typeface="Cambria Math" panose="02040503050406030204" pitchFamily="18" charset="0"/>
                          </a:rPr>
                        </m:ctrlPr>
                      </m:dPr>
                      <m:e>
                        <m:f>
                          <m:fPr>
                            <m:ctrlPr>
                              <a:rPr lang="en" altLang="zh-CN" i="1" dirty="0" smtClean="0">
                                <a:solidFill>
                                  <a:srgbClr val="000000"/>
                                </a:solidFill>
                                <a:effectLst/>
                                <a:latin typeface="Cambria Math" panose="02040503050406030204" pitchFamily="18" charset="0"/>
                              </a:rPr>
                            </m:ctrlPr>
                          </m:fPr>
                          <m:num>
                            <m:r>
                              <a:rPr lang="en" altLang="zh-CN" i="1" dirty="0" smtClean="0">
                                <a:solidFill>
                                  <a:srgbClr val="000000"/>
                                </a:solidFill>
                                <a:effectLst/>
                                <a:latin typeface="Cambria Math" panose="02040503050406030204" pitchFamily="18" charset="0"/>
                              </a:rPr>
                              <m:t>𝑛</m:t>
                            </m:r>
                          </m:num>
                          <m:den>
                            <m:r>
                              <a:rPr lang="en" altLang="zh-CN" i="1" dirty="0" smtClean="0">
                                <a:solidFill>
                                  <a:srgbClr val="000000"/>
                                </a:solidFill>
                                <a:effectLst/>
                                <a:latin typeface="Cambria Math" panose="02040503050406030204" pitchFamily="18" charset="0"/>
                              </a:rPr>
                              <m:t>6</m:t>
                            </m:r>
                          </m:den>
                        </m:f>
                      </m:e>
                    </m:d>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=5</m:t>
                    </m:r>
                    <m:d>
                      <m:dPr>
                        <m:ctrlPr>
                          <a:rPr lang="en" altLang="zh-CN" i="1" dirty="0" smtClean="0">
                            <a:solidFill>
                              <a:srgbClr val="000000"/>
                            </a:solidFill>
                            <a:effectLst/>
                            <a:latin typeface="Cambria Math" panose="02040503050406030204" pitchFamily="18" charset="0"/>
                          </a:rPr>
                        </m:ctrlPr>
                      </m:dPr>
                      <m:e>
                        <m:r>
                          <a:rPr lang="en" altLang="zh-CN" i="1" dirty="0" smtClean="0">
                            <a:solidFill>
                              <a:srgbClr val="000000"/>
                            </a:solidFill>
                            <a:effectLst/>
                            <a:latin typeface="Cambria Math" panose="02040503050406030204" pitchFamily="18" charset="0"/>
                          </a:rPr>
                          <m:t>5</m:t>
                        </m:r>
                        <m:r>
                          <a:rPr lang="en" altLang="zh-CN" i="1" dirty="0" smtClean="0">
                            <a:solidFill>
                              <a:srgbClr val="000000"/>
                            </a:solidFill>
                            <a:effectLst/>
                            <a:latin typeface="Cambria Math" panose="02040503050406030204" pitchFamily="18" charset="0"/>
                          </a:rPr>
                          <m:t>𝑇</m:t>
                        </m:r>
                        <m:d>
                          <m:dPr>
                            <m:ctrlPr>
                              <a:rPr lang="en" altLang="zh-CN" i="1" dirty="0" smtClean="0">
                                <a:solidFill>
                                  <a:srgbClr val="000000"/>
                                </a:solidFill>
                                <a:effectLst/>
                                <a:latin typeface="Cambria Math" panose="02040503050406030204" pitchFamily="18" charset="0"/>
                              </a:rPr>
                            </m:ctrlPr>
                          </m:dPr>
                          <m:e>
                            <m:f>
                              <m:fPr>
                                <m:ctrlPr>
                                  <a:rPr lang="en" altLang="zh-CN" i="1" dirty="0" smtClean="0">
                                    <a:solidFill>
                                      <a:srgbClr val="000000"/>
                                    </a:solidFill>
                                    <a:effectLst/>
                                    <a:latin typeface="Cambria Math" panose="02040503050406030204" pitchFamily="18" charset="0"/>
                                  </a:rPr>
                                </m:ctrlPr>
                              </m:fPr>
                              <m:num>
                                <m:r>
                                  <a:rPr lang="en" altLang="zh-CN" i="1" dirty="0" smtClean="0">
                                    <a:solidFill>
                                      <a:srgbClr val="000000"/>
                                    </a:solidFill>
                                    <a:effectLst/>
                                    <a:latin typeface="Cambria Math" panose="02040503050406030204" pitchFamily="18" charset="0"/>
                                  </a:rPr>
                                  <m:t>𝑛</m:t>
                                </m:r>
                              </m:num>
                              <m:den>
                                <m:r>
                                  <a:rPr lang="en" altLang="zh-CN" i="1" dirty="0" smtClean="0">
                                    <a:solidFill>
                                      <a:srgbClr val="000000"/>
                                    </a:solidFill>
                                    <a:effectLst/>
                                    <a:latin typeface="Cambria Math" panose="02040503050406030204" pitchFamily="18" charset="0"/>
                                  </a:rPr>
                                  <m:t>36</m:t>
                                </m:r>
                              </m:den>
                            </m:f>
                          </m:e>
                        </m:d>
                        <m:r>
                          <a:rPr lang="en" altLang="zh-CN" i="1" dirty="0" smtClean="0">
                            <a:solidFill>
                              <a:srgbClr val="000000"/>
                            </a:solidFill>
                            <a:effectLst/>
                            <a:latin typeface="Cambria Math" panose="02040503050406030204" pitchFamily="18" charset="0"/>
                          </a:rPr>
                          <m:t>+</m:t>
                        </m:r>
                        <m:f>
                          <m:fPr>
                            <m:ctrlPr>
                              <a:rPr lang="en" altLang="zh-CN" i="1" dirty="0" smtClean="0">
                                <a:solidFill>
                                  <a:srgbClr val="000000"/>
                                </a:solidFill>
                                <a:effectLst/>
                                <a:latin typeface="Cambria Math" panose="02040503050406030204" pitchFamily="18" charset="0"/>
                              </a:rPr>
                            </m:ctrlPr>
                          </m:fPr>
                          <m:num>
                            <m:r>
                              <a:rPr lang="en" altLang="zh-CN" i="1" dirty="0" smtClean="0">
                                <a:solidFill>
                                  <a:srgbClr val="000000"/>
                                </a:solidFill>
                                <a:effectLst/>
                                <a:latin typeface="Cambria Math" panose="02040503050406030204" pitchFamily="18" charset="0"/>
                              </a:rPr>
                              <m:t>𝑛</m:t>
                            </m:r>
                          </m:num>
                          <m:den>
                            <m:r>
                              <a:rPr lang="en" altLang="zh-CN" i="1" dirty="0" smtClean="0">
                                <a:solidFill>
                                  <a:srgbClr val="000000"/>
                                </a:solidFill>
                                <a:effectLst/>
                                <a:latin typeface="Cambria Math" panose="02040503050406030204" pitchFamily="18" charset="0"/>
                              </a:rPr>
                              <m:t>6</m:t>
                            </m:r>
                          </m:den>
                        </m:f>
                      </m:e>
                    </m:d>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m:t>
                    </m:r>
                  </m:oMath>
                </a14:m>
                <a:endParaRPr lang="en-US" altLang="zh-CN" i="1" dirty="0">
                  <a:solidFill>
                    <a:srgbClr val="000000"/>
                  </a:solidFill>
                  <a:effectLst/>
                  <a:latin typeface="Cambria Math" panose="02040503050406030204" pitchFamily="18" charset="0"/>
                </a:endParaRPr>
              </a:p>
              <a:p>
                <a:pPr marL="0" indent="0">
                  <a:buNone/>
                </a:pPr>
                <a:r>
                  <a:rPr lang="en" altLang="zh-CN" dirty="0">
                    <a:solidFill>
                      <a:srgbClr val="000000"/>
                    </a:solidFill>
                  </a:rPr>
                  <a:t>	</a:t>
                </a:r>
                <a14:m>
                  <m:oMath xmlns:m="http://schemas.openxmlformats.org/officeDocument/2006/math">
                    <m:r>
                      <a:rPr lang="en" altLang="zh-CN" i="1" dirty="0" smtClean="0">
                        <a:solidFill>
                          <a:srgbClr val="000000"/>
                        </a:solidFill>
                        <a:latin typeface="Cambria Math" panose="02040503050406030204" pitchFamily="18" charset="0"/>
                      </a:rPr>
                      <m:t>	</m:t>
                    </m:r>
                    <m:r>
                      <a:rPr lang="en" altLang="zh-CN" i="1" dirty="0" smtClean="0">
                        <a:solidFill>
                          <a:srgbClr val="000000"/>
                        </a:solidFill>
                        <a:effectLst/>
                        <a:latin typeface="Cambria Math" panose="02040503050406030204" pitchFamily="18" charset="0"/>
                      </a:rPr>
                      <m:t>=</m:t>
                    </m:r>
                    <m:sSup>
                      <m:sSupPr>
                        <m:ctrlPr>
                          <a:rPr lang="en" altLang="zh-CN" i="1" dirty="0" smtClean="0">
                            <a:solidFill>
                              <a:srgbClr val="000000"/>
                            </a:solidFill>
                            <a:effectLst/>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smtClean="0">
                                <a:solidFill>
                                  <a:srgbClr val="000000"/>
                                </a:solidFill>
                                <a:effectLst/>
                                <a:latin typeface="Cambria Math" panose="02040503050406030204" pitchFamily="18" charset="0"/>
                              </a:rPr>
                            </m:ctrlPr>
                          </m:funcPr>
                          <m:fName>
                            <m:sSub>
                              <m:sSubPr>
                                <m:ctrlPr>
                                  <a:rPr lang="en" altLang="zh-CN" i="1" dirty="0" smtClean="0">
                                    <a:solidFill>
                                      <a:srgbClr val="000000"/>
                                    </a:solidFill>
                                    <a:effectLst/>
                                    <a:latin typeface="Cambria Math" panose="02040503050406030204" pitchFamily="18" charset="0"/>
                                  </a:rPr>
                                </m:ctrlPr>
                              </m:sSubPr>
                              <m:e>
                                <m:r>
                                  <m:rPr>
                                    <m:sty m:val="p"/>
                                  </m:rPr>
                                  <a:rPr lang="en" altLang="zh-CN" i="0" dirty="0" smtClean="0">
                                    <a:solidFill>
                                      <a:srgbClr val="000000"/>
                                    </a:solidFill>
                                    <a:effectLst/>
                                    <a:latin typeface="Cambria Math" panose="02040503050406030204" pitchFamily="18" charset="0"/>
                                  </a:rPr>
                                  <m:t>log</m:t>
                                </m:r>
                              </m:e>
                              <m:sub>
                                <m:r>
                                  <a:rPr lang="en-US" altLang="zh-CN" b="0" i="1" dirty="0" smtClean="0">
                                    <a:solidFill>
                                      <a:srgbClr val="000000"/>
                                    </a:solidFill>
                                    <a:effectLst/>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sup>
                    </m:sSup>
                    <m:r>
                      <a:rPr lang="en" altLang="zh-CN" i="1" dirty="0" smtClean="0">
                        <a:solidFill>
                          <a:srgbClr val="000000"/>
                        </a:solidFill>
                        <a:effectLst/>
                        <a:latin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b="0" i="1" dirty="0" smtClean="0">
                            <a:solidFill>
                              <a:srgbClr val="000000"/>
                            </a:solidFill>
                            <a:latin typeface="Cambria Math" panose="02040503050406030204" pitchFamily="18" charset="0"/>
                          </a:rPr>
                          <m:t>−1</m:t>
                        </m:r>
                      </m:sup>
                    </m:sSup>
                    <m:r>
                      <a:rPr lang="en" altLang="zh-CN" i="1" dirty="0">
                        <a:solidFill>
                          <a:srgbClr val="000000"/>
                        </a:solidFill>
                        <a:latin typeface="Cambria Math" panose="02040503050406030204" pitchFamily="18" charset="0"/>
                        <a:ea typeface="Cambria Math" panose="02040503050406030204" pitchFamily="18" charset="0"/>
                      </a:rPr>
                      <m:t>×</m:t>
                    </m:r>
                    <m:r>
                      <a:rPr lang="en-US" altLang="zh-CN" b="0" i="1" dirty="0" smtClean="0">
                        <a:solidFill>
                          <a:srgbClr val="000000"/>
                        </a:solidFill>
                        <a:latin typeface="Cambria Math" panose="02040503050406030204" pitchFamily="18" charset="0"/>
                        <a:ea typeface="Cambria Math" panose="02040503050406030204" pitchFamily="18" charset="0"/>
                      </a:rPr>
                      <m:t> </m:t>
                    </m:r>
                    <m:r>
                      <a:rPr lang="en" altLang="zh-CN" i="1" dirty="0" smtClean="0">
                        <a:solidFill>
                          <a:srgbClr val="000000"/>
                        </a:solidFill>
                        <a:effectLst/>
                        <a:latin typeface="Cambria Math" panose="02040503050406030204" pitchFamily="18" charset="0"/>
                      </a:rPr>
                      <m:t>6+</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i="1" dirty="0">
                            <a:solidFill>
                              <a:srgbClr val="000000"/>
                            </a:solidFill>
                            <a:latin typeface="Cambria Math" panose="02040503050406030204" pitchFamily="18" charset="0"/>
                          </a:rPr>
                          <m:t>−</m:t>
                        </m:r>
                        <m:r>
                          <a:rPr lang="en-US" altLang="zh-CN" b="0" i="1" dirty="0" smtClean="0">
                            <a:solidFill>
                              <a:srgbClr val="000000"/>
                            </a:solidFill>
                            <a:latin typeface="Cambria Math" panose="02040503050406030204" pitchFamily="18" charset="0"/>
                          </a:rPr>
                          <m:t>2</m:t>
                        </m:r>
                      </m:sup>
                    </m:sSup>
                    <m:r>
                      <a:rPr lang="en-US" altLang="zh-CN" b="0" i="1" dirty="0" smtClean="0">
                        <a:solidFill>
                          <a:srgbClr val="000000"/>
                        </a:solidFill>
                        <a:latin typeface="Cambria Math" panose="02040503050406030204" pitchFamily="18" charset="0"/>
                      </a:rPr>
                      <m:t> </m:t>
                    </m:r>
                    <m:r>
                      <a:rPr lang="en" altLang="zh-CN" i="1" dirty="0">
                        <a:solidFill>
                          <a:srgbClr val="000000"/>
                        </a:solidFill>
                        <a:latin typeface="Cambria Math" panose="02040503050406030204" pitchFamily="18" charset="0"/>
                        <a:ea typeface="Cambria Math" panose="02040503050406030204" pitchFamily="18" charset="0"/>
                      </a:rPr>
                      <m:t>×</m:t>
                    </m:r>
                    <m:r>
                      <a:rPr lang="en-US" altLang="zh-CN" b="0" i="1" dirty="0" smtClean="0">
                        <a:solidFill>
                          <a:srgbClr val="000000"/>
                        </a:solidFill>
                        <a:latin typeface="Cambria Math" panose="02040503050406030204" pitchFamily="18" charset="0"/>
                        <a:ea typeface="Cambria Math" panose="02040503050406030204" pitchFamily="18" charset="0"/>
                      </a:rPr>
                      <m:t> </m:t>
                    </m:r>
                    <m:r>
                      <a:rPr lang="en" altLang="zh-CN" i="1" dirty="0" smtClean="0">
                        <a:solidFill>
                          <a:srgbClr val="000000"/>
                        </a:solidFill>
                        <a:effectLst/>
                        <a:latin typeface="Cambria Math" panose="02040503050406030204" pitchFamily="18" charset="0"/>
                      </a:rPr>
                      <m:t>6</m:t>
                    </m:r>
                    <m:r>
                      <a:rPr lang="en" altLang="zh-CN" i="1" baseline="30000" dirty="0" smtClean="0">
                        <a:solidFill>
                          <a:srgbClr val="000000"/>
                        </a:solidFill>
                        <a:effectLst/>
                        <a:latin typeface="Cambria Math" panose="02040503050406030204" pitchFamily="18" charset="0"/>
                      </a:rPr>
                      <m:t>2</m:t>
                    </m:r>
                    <m:r>
                      <a:rPr lang="en" altLang="zh-CN" i="1" dirty="0" smtClean="0">
                        <a:solidFill>
                          <a:srgbClr val="000000"/>
                        </a:solidFill>
                        <a:effectLst/>
                        <a:latin typeface="Cambria Math" panose="02040503050406030204" pitchFamily="18" charset="0"/>
                      </a:rPr>
                      <m:t>+…+5</m:t>
                    </m:r>
                    <m:r>
                      <a:rPr lang="en" altLang="zh-CN" i="1" dirty="0">
                        <a:solidFill>
                          <a:srgbClr val="000000"/>
                        </a:solidFill>
                        <a:latin typeface="Cambria Math" panose="02040503050406030204" pitchFamily="18" charset="0"/>
                        <a:ea typeface="Cambria Math" panose="02040503050406030204" pitchFamily="18" charset="0"/>
                      </a:rPr>
                      <m:t>×</m:t>
                    </m:r>
                    <m:f>
                      <m:fPr>
                        <m:ctrlPr>
                          <a:rPr lang="en" altLang="zh-CN" i="1" dirty="0">
                            <a:solidFill>
                              <a:srgbClr val="000000"/>
                            </a:solidFill>
                            <a:latin typeface="Cambria Math" panose="02040503050406030204" pitchFamily="18" charset="0"/>
                          </a:rPr>
                        </m:ctrlPr>
                      </m:fPr>
                      <m:num>
                        <m:r>
                          <a:rPr lang="en" altLang="zh-CN" i="1" dirty="0">
                            <a:solidFill>
                              <a:srgbClr val="000000"/>
                            </a:solidFill>
                            <a:latin typeface="Cambria Math" panose="02040503050406030204" pitchFamily="18" charset="0"/>
                          </a:rPr>
                          <m:t>𝑛</m:t>
                        </m:r>
                      </m:num>
                      <m:den>
                        <m:r>
                          <a:rPr lang="en" altLang="zh-CN" i="1" dirty="0">
                            <a:solidFill>
                              <a:srgbClr val="000000"/>
                            </a:solidFill>
                            <a:latin typeface="Cambria Math" panose="02040503050406030204" pitchFamily="18" charset="0"/>
                          </a:rPr>
                          <m:t>6</m:t>
                        </m:r>
                      </m:den>
                    </m:f>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oMath>
                </a14:m>
                <a:r>
                  <a:rPr lang="zh-CN" altLang="en-US" kern="100" dirty="0">
                    <a:solidFill>
                      <a:srgbClr val="000000"/>
                    </a:solidFill>
                    <a:latin typeface="Times New Roman" panose="02020503050405090304" pitchFamily="18" charset="0"/>
                    <a:cs typeface="Times New Roman" panose="02020503050405090304" pitchFamily="18" charset="0"/>
                  </a:rPr>
                  <a:t>      </a:t>
                </a:r>
                <a:r>
                  <a:rPr lang="en-US" altLang="zh-CN" kern="100" dirty="0">
                    <a:solidFill>
                      <a:srgbClr val="000000"/>
                    </a:solidFill>
                    <a:latin typeface="Times New Roman" panose="02020503050405090304" pitchFamily="18" charset="0"/>
                    <a:cs typeface="Times New Roman" panose="02020503050405090304" pitchFamily="18" charset="0"/>
                  </a:rPr>
                  <a:t>①</a:t>
                </a:r>
                <a:endParaRPr lang="en" altLang="zh-CN" dirty="0">
                  <a:solidFill>
                    <a:srgbClr val="000000"/>
                  </a:solidFill>
                  <a:effectLst/>
                  <a:latin typeface="Times New Roman" panose="02020603050405020304" pitchFamily="18" charset="0"/>
                </a:endParaRPr>
              </a:p>
              <a:p>
                <a14:m>
                  <m:oMath xmlns:m="http://schemas.openxmlformats.org/officeDocument/2006/math">
                    <m:r>
                      <a:rPr lang="en" altLang="zh-CN" i="1" dirty="0" smtClean="0">
                        <a:solidFill>
                          <a:srgbClr val="000000"/>
                        </a:solidFill>
                        <a:effectLst/>
                        <a:latin typeface="Cambria Math" panose="02040503050406030204" pitchFamily="18" charset="0"/>
                      </a:rPr>
                      <m:t>𝑇</m:t>
                    </m:r>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m:t>
                    </m:r>
                    <m:f>
                      <m:fPr>
                        <m:ctrlPr>
                          <a:rPr lang="en" altLang="zh-CN" i="1" dirty="0" smtClean="0">
                            <a:solidFill>
                              <a:srgbClr val="000000"/>
                            </a:solidFill>
                            <a:effectLst/>
                            <a:latin typeface="Cambria Math" panose="02040503050406030204" pitchFamily="18" charset="0"/>
                          </a:rPr>
                        </m:ctrlPr>
                      </m:fPr>
                      <m:num>
                        <m:r>
                          <a:rPr lang="en-US" altLang="zh-CN" b="0" i="1" dirty="0" smtClean="0">
                            <a:solidFill>
                              <a:srgbClr val="000000"/>
                            </a:solidFill>
                            <a:effectLst/>
                            <a:latin typeface="Cambria Math" panose="02040503050406030204" pitchFamily="18" charset="0"/>
                          </a:rPr>
                          <m:t>5</m:t>
                        </m:r>
                      </m:num>
                      <m:den>
                        <m:r>
                          <a:rPr lang="en-US" altLang="zh-CN" b="0" i="1" dirty="0" smtClean="0">
                            <a:solidFill>
                              <a:srgbClr val="000000"/>
                            </a:solidFill>
                            <a:effectLst/>
                            <a:latin typeface="Cambria Math" panose="02040503050406030204" pitchFamily="18" charset="0"/>
                          </a:rPr>
                          <m:t>6</m:t>
                        </m:r>
                      </m:den>
                    </m:f>
                    <m:r>
                      <a:rPr lang="en" altLang="zh-CN" i="1" dirty="0" smtClean="0">
                        <a:solidFill>
                          <a:srgbClr val="000000"/>
                        </a:solidFill>
                        <a:effectLst/>
                        <a:latin typeface="Cambria Math" panose="02040503050406030204" pitchFamily="18" charset="0"/>
                      </a:rPr>
                      <m:t> =</m:t>
                    </m:r>
                    <m:f>
                      <m:fPr>
                        <m:ctrlPr>
                          <a:rPr lang="en" altLang="zh-CN" i="1" dirty="0">
                            <a:solidFill>
                              <a:srgbClr val="000000"/>
                            </a:solidFill>
                            <a:latin typeface="Cambria Math" panose="02040503050406030204" pitchFamily="18" charset="0"/>
                          </a:rPr>
                        </m:ctrlPr>
                      </m:fPr>
                      <m:num>
                        <m:r>
                          <a:rPr lang="en-US" altLang="zh-CN" i="1" dirty="0">
                            <a:solidFill>
                              <a:srgbClr val="000000"/>
                            </a:solidFill>
                            <a:latin typeface="Cambria Math" panose="02040503050406030204" pitchFamily="18" charset="0"/>
                          </a:rPr>
                          <m:t>5</m:t>
                        </m:r>
                      </m:num>
                      <m:den>
                        <m:r>
                          <a:rPr lang="en-US" altLang="zh-CN" i="1" dirty="0">
                            <a:solidFill>
                              <a:srgbClr val="000000"/>
                            </a:solidFill>
                            <a:latin typeface="Cambria Math" panose="02040503050406030204" pitchFamily="18" charset="0"/>
                          </a:rPr>
                          <m:t>6</m:t>
                        </m:r>
                      </m:den>
                    </m:f>
                    <m:r>
                      <a:rPr lang="en" altLang="zh-CN" i="1" dirty="0">
                        <a:solidFill>
                          <a:srgbClr val="000000"/>
                        </a:solidFill>
                        <a:latin typeface="Cambria Math" panose="02040503050406030204" pitchFamily="18" charset="0"/>
                        <a:ea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sup>
                    </m:sSup>
                    <m:r>
                      <a:rPr lang="en" altLang="zh-CN" i="1" dirty="0" smtClean="0">
                        <a:solidFill>
                          <a:srgbClr val="000000"/>
                        </a:solidFill>
                        <a:effectLst/>
                        <a:latin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sup>
                    </m:sSup>
                    <m:r>
                      <a:rPr lang="en" altLang="zh-CN" i="1" dirty="0" smtClean="0">
                        <a:solidFill>
                          <a:srgbClr val="000000"/>
                        </a:solidFill>
                        <a:effectLst/>
                        <a:latin typeface="Cambria Math" panose="02040503050406030204" pitchFamily="18" charset="0"/>
                      </a:rPr>
                      <m:t>+</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b="0" i="1" dirty="0" smtClean="0">
                            <a:solidFill>
                              <a:srgbClr val="000000"/>
                            </a:solidFill>
                            <a:latin typeface="Cambria Math" panose="02040503050406030204" pitchFamily="18" charset="0"/>
                          </a:rPr>
                          <m:t>−1</m:t>
                        </m:r>
                      </m:sup>
                    </m:sSup>
                    <m:r>
                      <a:rPr lang="en" altLang="zh-CN" i="1" dirty="0">
                        <a:solidFill>
                          <a:srgbClr val="000000"/>
                        </a:solidFill>
                        <a:latin typeface="Cambria Math" panose="02040503050406030204" pitchFamily="18" charset="0"/>
                        <a:ea typeface="Cambria Math" panose="02040503050406030204" pitchFamily="18" charset="0"/>
                      </a:rPr>
                      <m:t>×</m:t>
                    </m:r>
                    <m:r>
                      <a:rPr lang="en" altLang="zh-CN" i="1" dirty="0" smtClean="0">
                        <a:solidFill>
                          <a:srgbClr val="000000"/>
                        </a:solidFill>
                        <a:effectLst/>
                        <a:latin typeface="Cambria Math" panose="02040503050406030204" pitchFamily="18" charset="0"/>
                      </a:rPr>
                      <m:t>6 + …+5</m:t>
                    </m:r>
                    <m:r>
                      <a:rPr lang="en" altLang="zh-CN" i="1" dirty="0">
                        <a:solidFill>
                          <a:srgbClr val="000000"/>
                        </a:solidFill>
                        <a:latin typeface="Cambria Math" panose="02040503050406030204" pitchFamily="18" charset="0"/>
                        <a:ea typeface="Cambria Math" panose="02040503050406030204" pitchFamily="18" charset="0"/>
                      </a:rPr>
                      <m:t>×</m:t>
                    </m:r>
                    <m:f>
                      <m:fPr>
                        <m:ctrlPr>
                          <a:rPr lang="en" altLang="zh-CN" i="1" dirty="0">
                            <a:solidFill>
                              <a:srgbClr val="000000"/>
                            </a:solidFill>
                            <a:latin typeface="Cambria Math" panose="02040503050406030204" pitchFamily="18" charset="0"/>
                          </a:rPr>
                        </m:ctrlPr>
                      </m:fPr>
                      <m:num>
                        <m:r>
                          <a:rPr lang="en" altLang="zh-CN" i="1" dirty="0">
                            <a:solidFill>
                              <a:srgbClr val="000000"/>
                            </a:solidFill>
                            <a:latin typeface="Cambria Math" panose="02040503050406030204" pitchFamily="18" charset="0"/>
                          </a:rPr>
                          <m:t>𝑛</m:t>
                        </m:r>
                      </m:num>
                      <m:den>
                        <m:r>
                          <a:rPr lang="en" altLang="zh-CN" i="1" dirty="0">
                            <a:solidFill>
                              <a:srgbClr val="000000"/>
                            </a:solidFill>
                            <a:latin typeface="Cambria Math" panose="02040503050406030204" pitchFamily="18" charset="0"/>
                          </a:rPr>
                          <m:t>6</m:t>
                        </m:r>
                      </m:den>
                    </m:f>
                  </m:oMath>
                </a14:m>
                <a:r>
                  <a:rPr lang="zh-CN" altLang="en-US" dirty="0">
                    <a:solidFill>
                      <a:srgbClr val="000000"/>
                    </a:solidFill>
                    <a:effectLst/>
                    <a:latin typeface="Times New Roman" panose="02020603050405020304" pitchFamily="18" charset="0"/>
                  </a:rPr>
                  <a:t>       </a:t>
                </a:r>
                <a:r>
                  <a:rPr lang="en-US" altLang="zh-CN" kern="100" dirty="0">
                    <a:solidFill>
                      <a:srgbClr val="000000"/>
                    </a:solidFill>
                    <a:latin typeface="Times New Roman" panose="02020503050405090304" pitchFamily="18" charset="0"/>
                    <a:cs typeface="Times New Roman" panose="02020503050405090304" pitchFamily="18" charset="0"/>
                  </a:rPr>
                  <a:t>②</a:t>
                </a:r>
                <a:endParaRPr lang="en" altLang="zh-CN" dirty="0">
                  <a:solidFill>
                    <a:srgbClr val="000000"/>
                  </a:solidFill>
                  <a:effectLst/>
                  <a:latin typeface="Times New Roman" panose="02020603050405020304" pitchFamily="18" charset="0"/>
                </a:endParaRPr>
              </a:p>
              <a:p>
                <a:endParaRPr lang="en" altLang="zh-CN" dirty="0">
                  <a:solidFill>
                    <a:srgbClr val="000000"/>
                  </a:solidFill>
                  <a:effectLst/>
                  <a:latin typeface="Times New Roman" panose="02020603050405020304" pitchFamily="18" charset="0"/>
                </a:endParaRPr>
              </a:p>
              <a:p>
                <a:endParaRPr lang="en" altLang="zh-CN" dirty="0">
                  <a:solidFill>
                    <a:srgbClr val="000000"/>
                  </a:solidFill>
                  <a:effectLst/>
                  <a:latin typeface="Times New Roman" panose="02020603050405020304" pitchFamily="18" charset="0"/>
                </a:endParaRPr>
              </a:p>
              <a:p>
                <a14:m>
                  <m:oMath xmlns:m="http://schemas.openxmlformats.org/officeDocument/2006/math">
                    <m:r>
                      <a:rPr lang="en" altLang="zh-CN" i="1" dirty="0" smtClean="0">
                        <a:solidFill>
                          <a:srgbClr val="000000"/>
                        </a:solidFill>
                        <a:effectLst/>
                        <a:latin typeface="Cambria Math" panose="02040503050406030204" pitchFamily="18" charset="0"/>
                      </a:rPr>
                      <m:t>𝑇</m:t>
                    </m:r>
                    <m:r>
                      <a:rPr lang="en" altLang="zh-CN" i="1" dirty="0" smtClean="0">
                        <a:solidFill>
                          <a:srgbClr val="000000"/>
                        </a:solidFill>
                        <a:effectLst/>
                        <a:latin typeface="Cambria Math" panose="02040503050406030204" pitchFamily="18" charset="0"/>
                      </a:rPr>
                      <m:t>(</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 = 6</m:t>
                    </m:r>
                    <m:r>
                      <a:rPr lang="en" altLang="zh-CN" i="1" dirty="0" smtClean="0">
                        <a:solidFill>
                          <a:srgbClr val="000000"/>
                        </a:solidFill>
                        <a:effectLst/>
                        <a:latin typeface="Cambria Math" panose="02040503050406030204" pitchFamily="18" charset="0"/>
                      </a:rPr>
                      <m:t>𝑛</m:t>
                    </m:r>
                    <m:r>
                      <a:rPr lang="en" altLang="zh-CN" i="1" dirty="0" smtClean="0">
                        <a:solidFill>
                          <a:srgbClr val="000000"/>
                        </a:solidFill>
                        <a:effectLst/>
                        <a:latin typeface="Cambria Math" panose="02040503050406030204" pitchFamily="18" charset="0"/>
                      </a:rPr>
                      <m:t> −</m:t>
                    </m:r>
                    <m:sSup>
                      <m:sSupPr>
                        <m:ctrlPr>
                          <a:rPr lang="en" altLang="zh-CN" i="1" dirty="0">
                            <a:solidFill>
                              <a:srgbClr val="000000"/>
                            </a:solidFill>
                            <a:latin typeface="Cambria Math" panose="02040503050406030204" pitchFamily="18" charset="0"/>
                          </a:rPr>
                        </m:ctrlPr>
                      </m:sSupPr>
                      <m:e>
                        <m:r>
                          <a:rPr lang="en" altLang="zh-CN" i="1" dirty="0">
                            <a:solidFill>
                              <a:srgbClr val="000000"/>
                            </a:solidFill>
                            <a:latin typeface="Cambria Math" panose="02040503050406030204" pitchFamily="18" charset="0"/>
                          </a:rPr>
                          <m:t>5</m:t>
                        </m:r>
                      </m:e>
                      <m:sup>
                        <m:func>
                          <m:funcPr>
                            <m:ctrlPr>
                              <a:rPr lang="en" altLang="zh-CN" i="1" dirty="0">
                                <a:solidFill>
                                  <a:srgbClr val="000000"/>
                                </a:solidFill>
                                <a:latin typeface="Cambria Math" panose="02040503050406030204" pitchFamily="18" charset="0"/>
                              </a:rPr>
                            </m:ctrlPr>
                          </m:funcPr>
                          <m:fName>
                            <m:sSub>
                              <m:sSubPr>
                                <m:ctrlPr>
                                  <a:rPr lang="en" altLang="zh-CN" i="1" dirty="0">
                                    <a:solidFill>
                                      <a:srgbClr val="000000"/>
                                    </a:solidFill>
                                    <a:latin typeface="Cambria Math" panose="02040503050406030204" pitchFamily="18" charset="0"/>
                                  </a:rPr>
                                </m:ctrlPr>
                              </m:sSubPr>
                              <m:e>
                                <m:r>
                                  <m:rPr>
                                    <m:sty m:val="p"/>
                                  </m:rPr>
                                  <a:rPr lang="en" altLang="zh-CN" dirty="0">
                                    <a:solidFill>
                                      <a:srgbClr val="000000"/>
                                    </a:solidFill>
                                    <a:latin typeface="Cambria Math" panose="02040503050406030204" pitchFamily="18" charset="0"/>
                                  </a:rPr>
                                  <m:t>log</m:t>
                                </m:r>
                              </m:e>
                              <m:sub>
                                <m:r>
                                  <a:rPr lang="en-US" altLang="zh-CN" i="1" dirty="0">
                                    <a:solidFill>
                                      <a:srgbClr val="000000"/>
                                    </a:solidFill>
                                    <a:latin typeface="Cambria Math" panose="02040503050406030204" pitchFamily="18" charset="0"/>
                                  </a:rPr>
                                  <m:t>6</m:t>
                                </m:r>
                              </m:sub>
                            </m:sSub>
                          </m:fName>
                          <m:e>
                            <m:r>
                              <m:rPr>
                                <m:sty m:val="p"/>
                              </m:rPr>
                              <a:rPr lang="en" altLang="zh-CN" i="1" dirty="0">
                                <a:solidFill>
                                  <a:srgbClr val="000000"/>
                                </a:solidFill>
                                <a:latin typeface="Cambria Math" panose="02040503050406030204" pitchFamily="18" charset="0"/>
                              </a:rPr>
                              <m:t>n</m:t>
                            </m:r>
                          </m:e>
                        </m:func>
                        <m:r>
                          <a:rPr lang="en-US" altLang="zh-CN" b="0" i="1" dirty="0" smtClean="0">
                            <a:solidFill>
                              <a:srgbClr val="000000"/>
                            </a:solidFill>
                            <a:latin typeface="Cambria Math" panose="02040503050406030204" pitchFamily="18" charset="0"/>
                          </a:rPr>
                          <m:t>+1</m:t>
                        </m:r>
                      </m:sup>
                    </m:sSup>
                  </m:oMath>
                </a14:m>
                <a:endParaRPr lang="en-US" altLang="zh-CN" kern="100" dirty="0">
                  <a:solidFill>
                    <a:srgbClr val="000000"/>
                  </a:solidFill>
                </a:endParaRPr>
              </a:p>
              <a:p>
                <a:endParaRPr lang="en-US" altLang="zh-CN"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endParaRPr>
              </a:p>
              <a:p>
                <a:r>
                  <a:rPr lang="zh-CN" altLang="en-US" sz="2000" kern="100" dirty="0">
                    <a:solidFill>
                      <a:srgbClr val="000000"/>
                    </a:solidFill>
                    <a:effectLst/>
                    <a:latin typeface="Times New Roman" panose="02020503050405090304" pitchFamily="18" charset="0"/>
                    <a:ea typeface="宋体" panose="02010600030101010101" pitchFamily="2" charset="-122"/>
                    <a:cs typeface="Times New Roman" panose="02020503050405090304" pitchFamily="18" charset="0"/>
                  </a:rPr>
                  <a:t>时间复杂度</a:t>
                </a:r>
                <a:r>
                  <a:rPr lang="zh-CN" altLang="en-US" kern="100" dirty="0">
                    <a:solidFill>
                      <a:srgbClr val="000000"/>
                    </a:solidFill>
                  </a:rPr>
                  <a:t>为</a:t>
                </a:r>
                <a:r>
                  <a:rPr lang="en-US" altLang="zh-CN" kern="100" dirty="0">
                    <a:solidFill>
                      <a:srgbClr val="000000"/>
                    </a:solidFill>
                  </a:rPr>
                  <a:t>O(n)</a:t>
                </a:r>
                <a:endParaRPr lang="en" altLang="zh-CN" dirty="0">
                  <a:solidFill>
                    <a:srgbClr val="000000"/>
                  </a:solidFill>
                  <a:effectLst/>
                  <a:latin typeface="Times New Roman" panose="02020603050405020304" pitchFamily="18" charset="0"/>
                </a:endParaRPr>
              </a:p>
            </p:txBody>
          </p:sp>
        </mc:Choice>
        <mc:Fallback xmlns="">
          <p:sp>
            <p:nvSpPr>
              <p:cNvPr id="7" name="内容占位符 6"/>
              <p:cNvSpPr>
                <a:spLocks noGrp="1" noRot="1" noChangeAspect="1" noMove="1" noResize="1" noEditPoints="1" noAdjustHandles="1" noChangeArrowheads="1" noChangeShapeType="1" noTextEdit="1"/>
              </p:cNvSpPr>
              <p:nvPr>
                <p:ph idx="1"/>
              </p:nvPr>
            </p:nvSpPr>
            <p:spPr>
              <a:xfrm>
                <a:off x="838200" y="2640875"/>
                <a:ext cx="10515600" cy="3910195"/>
              </a:xfrm>
              <a:blipFill>
                <a:blip r:embed="rId3"/>
                <a:stretch>
                  <a:fillRect l="-603" b="-647"/>
                </a:stretch>
              </a:blipFill>
            </p:spPr>
            <p:txBody>
              <a:bodyPr/>
              <a:lstStyle/>
              <a:p>
                <a:r>
                  <a:rPr lang="zh-CN" altLang="en-US">
                    <a:noFill/>
                  </a:rPr>
                  <a:t> </a:t>
                </a:r>
              </a:p>
            </p:txBody>
          </p:sp>
        </mc:Fallback>
      </mc:AlternateContent>
      <p:sp>
        <p:nvSpPr>
          <p:cNvPr id="8"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sp>
            <p:nvSpPr>
              <p:cNvPr id="3" name="标题 5">
                <a:extLst>
                  <a:ext uri="{FF2B5EF4-FFF2-40B4-BE49-F238E27FC236}">
                    <a16:creationId xmlns:a16="http://schemas.microsoft.com/office/drawing/2014/main" id="{9C535CF1-E5F0-573F-BA3B-18E878603649}"/>
                  </a:ext>
                </a:extLst>
              </p:cNvPr>
              <p:cNvSpPr txBox="1">
                <a:spLocks/>
              </p:cNvSpPr>
              <p:nvPr/>
            </p:nvSpPr>
            <p:spPr>
              <a:xfrm>
                <a:off x="838200" y="1295400"/>
                <a:ext cx="4332514" cy="1345475"/>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tabLst>
                    <a:tab pos="266700" algn="l"/>
                  </a:tabLst>
                </a:pPr>
                <a14:m>
                  <m:oMathPara xmlns:m="http://schemas.openxmlformats.org/officeDocument/2006/math">
                    <m:oMathParaPr>
                      <m:jc m:val="center"/>
                    </m:oMathParaPr>
                    <m:oMath xmlns:m="http://schemas.openxmlformats.org/officeDocument/2006/math">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𝑇</m:t>
                      </m:r>
                      <m:d>
                        <m:d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dPr>
                        <m:e>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e>
                      </m:d>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m:t>
                      </m:r>
                      <m:d>
                        <m:dPr>
                          <m:begChr m:val="{"/>
                          <m:endChr m:val=""/>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dPr>
                        <m:e>
                          <m:eqArr>
                            <m:eqArr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eqArrPr>
                            <m:e>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&amp;1 &amp;</m:t>
                              </m:r>
                              <m:r>
                                <a:rPr lang="zh-CN" altLang="en-US"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      </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=1)</m:t>
                              </m:r>
                            </m:e>
                            <m:e>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5</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𝑇</m:t>
                              </m:r>
                              <m:d>
                                <m:d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dPr>
                                <m:e>
                                  <m:f>
                                    <m:fPr>
                                      <m:ctrlP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ctrlPr>
                                    </m:fPr>
                                    <m:num>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num>
                                    <m:den>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6</m:t>
                                      </m:r>
                                    </m:den>
                                  </m:f>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&amp;</m:t>
                                  </m:r>
                                </m:e>
                              </m:d>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&amp;      </m:t>
                              </m:r>
                              <m:r>
                                <a:rPr lang="en-US" altLang="zh-CN" sz="2200" i="1" kern="100">
                                  <a:solidFill>
                                    <a:srgbClr val="000000"/>
                                  </a:solidFill>
                                  <a:latin typeface="Cambria Math" panose="02040503050406030204" pitchFamily="18" charset="0"/>
                                  <a:ea typeface="宋体" panose="02010600030101010101" pitchFamily="2" charset="-122"/>
                                  <a:cs typeface="Times New Roman" panose="02020503050405090304" pitchFamily="18" charset="0"/>
                                </a:rPr>
                                <m:t>(</m:t>
                              </m:r>
                              <m:r>
                                <a:rPr lang="en-US" altLang="zh-CN" sz="2200" i="1" kern="100">
                                  <a:solidFill>
                                    <a:srgbClr val="000000"/>
                                  </a:solidFill>
                                  <a:latin typeface="Cambria Math" panose="02040503050406030204" pitchFamily="18" charset="0"/>
                                  <a:ea typeface="宋体" panose="02010600030101010101" pitchFamily="2" charset="-122"/>
                                  <a:cs typeface="Times New Roman" panose="02020503050405090304" pitchFamily="18" charset="0"/>
                                </a:rPr>
                                <m:t>𝑛</m:t>
                              </m:r>
                              <m:r>
                                <a:rPr lang="en-US" altLang="zh-CN" sz="2200" b="0" i="1" kern="100" smtClean="0">
                                  <a:solidFill>
                                    <a:srgbClr val="000000"/>
                                  </a:solidFill>
                                  <a:latin typeface="Cambria Math" panose="02040503050406030204" pitchFamily="18" charset="0"/>
                                  <a:ea typeface="宋体" panose="02010600030101010101" pitchFamily="2" charset="-122"/>
                                  <a:cs typeface="Times New Roman" panose="02020503050405090304" pitchFamily="18" charset="0"/>
                                </a:rPr>
                                <m:t>&gt;</m:t>
                              </m:r>
                              <m:r>
                                <a:rPr lang="en-US" altLang="zh-CN" sz="2200" i="1" kern="100">
                                  <a:solidFill>
                                    <a:srgbClr val="000000"/>
                                  </a:solidFill>
                                  <a:latin typeface="Cambria Math" panose="02040503050406030204" pitchFamily="18" charset="0"/>
                                  <a:ea typeface="宋体" panose="02010600030101010101" pitchFamily="2" charset="-122"/>
                                  <a:cs typeface="Times New Roman" panose="02020503050405090304" pitchFamily="18" charset="0"/>
                                </a:rPr>
                                <m:t>1)</m:t>
                              </m:r>
                            </m:e>
                          </m:eqArr>
                        </m:e>
                      </m:d>
                    </m:oMath>
                  </m:oMathPara>
                </a14:m>
                <a:endParaRPr lang="en-US" altLang="zh-CN" sz="2200" kern="100" dirty="0">
                  <a:solidFill>
                    <a:srgbClr val="000000"/>
                  </a:solidFill>
                  <a:latin typeface="Times New Roman" panose="02020503050405090304" pitchFamily="18" charset="0"/>
                  <a:ea typeface="宋体" panose="02010600030101010101" pitchFamily="2" charset="-122"/>
                  <a:cs typeface="Times New Roman" panose="02020503050405090304" pitchFamily="18" charset="0"/>
                </a:endParaRPr>
              </a:p>
            </p:txBody>
          </p:sp>
        </mc:Choice>
        <mc:Fallback xmlns="">
          <p:sp>
            <p:nvSpPr>
              <p:cNvPr id="3" name="标题 5">
                <a:extLst>
                  <a:ext uri="{FF2B5EF4-FFF2-40B4-BE49-F238E27FC236}">
                    <a16:creationId xmlns:a16="http://schemas.microsoft.com/office/drawing/2014/main" id="{9C535CF1-E5F0-573F-BA3B-18E878603649}"/>
                  </a:ext>
                </a:extLst>
              </p:cNvPr>
              <p:cNvSpPr txBox="1">
                <a:spLocks noRot="1" noChangeAspect="1" noMove="1" noResize="1" noEditPoints="1" noAdjustHandles="1" noChangeArrowheads="1" noChangeShapeType="1" noTextEdit="1"/>
              </p:cNvSpPr>
              <p:nvPr/>
            </p:nvSpPr>
            <p:spPr>
              <a:xfrm>
                <a:off x="838200" y="1295400"/>
                <a:ext cx="4332514" cy="1345475"/>
              </a:xfrm>
              <a:prstGeom prst="rect">
                <a:avLst/>
              </a:prstGeom>
              <a:blipFill>
                <a:blip r:embed="rId4"/>
                <a:stretch>
                  <a:fillRect l="-3509" t="-112264" b="-205660"/>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921158" y="2431691"/>
          <a:ext cx="1763352" cy="1028883"/>
        </p:xfrm>
        <a:graphic>
          <a:graphicData uri="http://schemas.openxmlformats.org/drawingml/2006/table">
            <a:tbl>
              <a:tblPr firstRow="1" firstCol="1" bandRow="1"/>
              <a:tblGrid>
                <a:gridCol w="354747">
                  <a:extLst>
                    <a:ext uri="{9D8B030D-6E8A-4147-A177-3AD203B41FA5}">
                      <a16:colId xmlns:a16="http://schemas.microsoft.com/office/drawing/2014/main" val="20000"/>
                    </a:ext>
                  </a:extLst>
                </a:gridCol>
                <a:gridCol w="351286">
                  <a:extLst>
                    <a:ext uri="{9D8B030D-6E8A-4147-A177-3AD203B41FA5}">
                      <a16:colId xmlns:a16="http://schemas.microsoft.com/office/drawing/2014/main" val="20001"/>
                    </a:ext>
                  </a:extLst>
                </a:gridCol>
                <a:gridCol w="351286">
                  <a:extLst>
                    <a:ext uri="{9D8B030D-6E8A-4147-A177-3AD203B41FA5}">
                      <a16:colId xmlns:a16="http://schemas.microsoft.com/office/drawing/2014/main" val="20002"/>
                    </a:ext>
                  </a:extLst>
                </a:gridCol>
                <a:gridCol w="354747">
                  <a:extLst>
                    <a:ext uri="{9D8B030D-6E8A-4147-A177-3AD203B41FA5}">
                      <a16:colId xmlns:a16="http://schemas.microsoft.com/office/drawing/2014/main" val="20003"/>
                    </a:ext>
                  </a:extLst>
                </a:gridCol>
                <a:gridCol w="351286">
                  <a:extLst>
                    <a:ext uri="{9D8B030D-6E8A-4147-A177-3AD203B41FA5}">
                      <a16:colId xmlns:a16="http://schemas.microsoft.com/office/drawing/2014/main" val="20004"/>
                    </a:ext>
                  </a:extLst>
                </a:gridCol>
              </a:tblGrid>
              <a:tr h="342961">
                <a:tc>
                  <a:txBody>
                    <a:bodyPr/>
                    <a:lstStyle/>
                    <a:p>
                      <a:pPr algn="just">
                        <a:lnSpc>
                          <a:spcPct val="115000"/>
                        </a:lnSpc>
                      </a:pP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18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18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sz="1800" kern="1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1800" kern="1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2961">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2961">
                <a:tc>
                  <a:txBody>
                    <a:bodyPr/>
                    <a:lstStyle/>
                    <a:p>
                      <a:pPr algn="just">
                        <a:lnSpc>
                          <a:spcPct val="115000"/>
                        </a:lnSpc>
                      </a:pPr>
                      <a:r>
                        <a:rPr 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8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内容占位符 6"/>
          <p:cNvSpPr txBox="1"/>
          <p:nvPr/>
        </p:nvSpPr>
        <p:spPr>
          <a:xfrm>
            <a:off x="838200" y="1623308"/>
            <a:ext cx="5894772" cy="47955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kern="100" dirty="0">
                <a:solidFill>
                  <a:srgbClr val="000000"/>
                </a:solidFill>
              </a:rPr>
              <a:t>1) KMP</a:t>
            </a:r>
            <a:r>
              <a:rPr lang="zh-CN" altLang="en-US" sz="1800" kern="100" dirty="0">
                <a:solidFill>
                  <a:srgbClr val="000000"/>
                </a:solidFill>
              </a:rPr>
              <a:t>算法</a:t>
            </a:r>
            <a:endParaRPr lang="en-US" altLang="zh-CN" sz="1800" kern="100" dirty="0">
              <a:solidFill>
                <a:srgbClr val="000000"/>
              </a:solidFill>
            </a:endParaRPr>
          </a:p>
          <a:p>
            <a:pPr marL="0" indent="0">
              <a:buNone/>
            </a:pPr>
            <a:r>
              <a:rPr lang="en-US" altLang="zh-CN" sz="1800" kern="100" dirty="0">
                <a:solidFill>
                  <a:srgbClr val="000000"/>
                </a:solidFill>
                <a:effectLst/>
                <a:latin typeface="Times New Roman" panose="02020603050405020304" pitchFamily="18" charset="0"/>
                <a:ea typeface="宋体" panose="02010600030101010101" pitchFamily="2" charset="-122"/>
              </a:rPr>
              <a:t>Next</a:t>
            </a:r>
            <a:r>
              <a:rPr lang="zh-CN" altLang="en-US" sz="1800" kern="100" dirty="0">
                <a:solidFill>
                  <a:srgbClr val="000000"/>
                </a:solidFill>
                <a:effectLst/>
                <a:latin typeface="Times New Roman" panose="02020603050405020304" pitchFamily="18" charset="0"/>
                <a:ea typeface="宋体" panose="02010600030101010101" pitchFamily="2" charset="-122"/>
              </a:rPr>
              <a:t>数组</a:t>
            </a:r>
            <a:r>
              <a:rPr lang="zh-CN" altLang="en-US" sz="1800" kern="100" dirty="0">
                <a:solidFill>
                  <a:srgbClr val="000000"/>
                </a:solidFill>
              </a:rPr>
              <a:t>：</a:t>
            </a: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r>
              <a:rPr lang="zh-CN" altLang="en-US" sz="1800" kern="100" dirty="0">
                <a:solidFill>
                  <a:srgbClr val="000000"/>
                </a:solidFill>
              </a:rPr>
              <a:t>正确写出</a:t>
            </a:r>
            <a:r>
              <a:rPr lang="en-US" altLang="zh-CN" sz="1800" kern="100" dirty="0">
                <a:solidFill>
                  <a:srgbClr val="000000"/>
                </a:solidFill>
              </a:rPr>
              <a:t>Next</a:t>
            </a:r>
            <a:r>
              <a:rPr lang="zh-CN" altLang="en-US" sz="1800" kern="100" dirty="0">
                <a:solidFill>
                  <a:srgbClr val="000000"/>
                </a:solidFill>
              </a:rPr>
              <a:t>数组：</a:t>
            </a:r>
            <a:r>
              <a:rPr lang="en-US" altLang="zh-CN" sz="1800" kern="100" dirty="0">
                <a:solidFill>
                  <a:srgbClr val="000000"/>
                </a:solidFill>
              </a:rPr>
              <a:t>3</a:t>
            </a:r>
            <a:r>
              <a:rPr lang="zh-CN" altLang="en-US" sz="1800" kern="100" dirty="0">
                <a:solidFill>
                  <a:srgbClr val="000000"/>
                </a:solidFill>
              </a:rPr>
              <a:t>分</a:t>
            </a:r>
            <a:endParaRPr lang="en-US" altLang="zh-CN" sz="1800" kern="100" dirty="0">
              <a:solidFill>
                <a:srgbClr val="000000"/>
              </a:solidFill>
            </a:endParaRPr>
          </a:p>
          <a:p>
            <a:pPr marL="0" indent="0">
              <a:buNone/>
            </a:pPr>
            <a:r>
              <a:rPr lang="zh-CN" altLang="en-US" sz="1800" kern="100" dirty="0">
                <a:solidFill>
                  <a:srgbClr val="000000"/>
                </a:solidFill>
              </a:rPr>
              <a:t>正确分析匹配过程：</a:t>
            </a:r>
            <a:r>
              <a:rPr lang="en-US" altLang="zh-CN" sz="1800" kern="100" dirty="0">
                <a:solidFill>
                  <a:srgbClr val="000000"/>
                </a:solidFill>
              </a:rPr>
              <a:t>4</a:t>
            </a:r>
            <a:r>
              <a:rPr lang="zh-CN" altLang="en-US" sz="1800" kern="100" dirty="0">
                <a:solidFill>
                  <a:srgbClr val="000000"/>
                </a:solidFill>
              </a:rPr>
              <a:t>分</a:t>
            </a: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r>
              <a:rPr lang="zh-CN" altLang="en-US" sz="1800" kern="100" dirty="0">
                <a:solidFill>
                  <a:srgbClr val="000000"/>
                </a:solidFill>
              </a:rPr>
              <a:t>常见错误：</a:t>
            </a:r>
            <a:endParaRPr lang="en-US" altLang="zh-CN" sz="1800" kern="100" dirty="0">
              <a:solidFill>
                <a:srgbClr val="000000"/>
              </a:solidFill>
            </a:endParaRPr>
          </a:p>
          <a:p>
            <a:pPr marL="342900" indent="-342900">
              <a:buAutoNum type="arabicPeriod"/>
            </a:pPr>
            <a:r>
              <a:rPr lang="zh-CN" altLang="en-US" sz="1800" kern="100" dirty="0">
                <a:solidFill>
                  <a:srgbClr val="000000"/>
                </a:solidFill>
              </a:rPr>
              <a:t>比较</a:t>
            </a:r>
            <a:r>
              <a:rPr lang="en-US" altLang="zh-CN" sz="1800" kern="100" dirty="0">
                <a:solidFill>
                  <a:srgbClr val="000000"/>
                </a:solidFill>
              </a:rPr>
              <a:t>6</a:t>
            </a:r>
            <a:r>
              <a:rPr lang="zh-CN" altLang="en-US" sz="1800" kern="100" dirty="0">
                <a:solidFill>
                  <a:srgbClr val="000000"/>
                </a:solidFill>
              </a:rPr>
              <a:t>次</a:t>
            </a:r>
            <a:endParaRPr lang="en-US" altLang="zh-CN" sz="1800" kern="100" dirty="0">
              <a:solidFill>
                <a:srgbClr val="000000"/>
              </a:solidFill>
            </a:endParaRPr>
          </a:p>
          <a:p>
            <a:pPr marL="342900" indent="-342900">
              <a:buAutoNum type="arabicPeriod"/>
            </a:pPr>
            <a:r>
              <a:rPr lang="zh-CN" altLang="en-US" sz="1800" kern="100" dirty="0">
                <a:solidFill>
                  <a:srgbClr val="000000"/>
                </a:solidFill>
              </a:rPr>
              <a:t>少看一个</a:t>
            </a:r>
            <a:r>
              <a:rPr lang="en-US" altLang="zh-CN" sz="1800" kern="100" dirty="0">
                <a:solidFill>
                  <a:srgbClr val="000000"/>
                </a:solidFill>
              </a:rPr>
              <a:t>x</a:t>
            </a:r>
            <a:r>
              <a:rPr lang="zh-CN" altLang="en-US" sz="1800" kern="100" dirty="0">
                <a:solidFill>
                  <a:srgbClr val="000000"/>
                </a:solidFill>
              </a:rPr>
              <a:t>：</a:t>
            </a:r>
            <a:r>
              <a:rPr lang="en-US" altLang="zh-CN" sz="1800" kern="100" dirty="0">
                <a:solidFill>
                  <a:srgbClr val="000000"/>
                </a:solidFill>
              </a:rPr>
              <a:t>17</a:t>
            </a:r>
            <a:r>
              <a:rPr lang="zh-CN" altLang="en-US" sz="1800" kern="100" dirty="0">
                <a:solidFill>
                  <a:srgbClr val="000000"/>
                </a:solidFill>
              </a:rPr>
              <a:t>次</a:t>
            </a:r>
            <a:endParaRPr lang="en-US" altLang="zh-CN" sz="1800" kern="100" dirty="0">
              <a:solidFill>
                <a:srgbClr val="000000"/>
              </a:solidFill>
            </a:endParaRPr>
          </a:p>
        </p:txBody>
      </p:sp>
      <p:sp>
        <p:nvSpPr>
          <p:cNvPr id="9" name="Rectangle 9"/>
          <p:cNvSpPr>
            <a:spLocks noChangeArrowheads="1"/>
          </p:cNvSpPr>
          <p:nvPr/>
        </p:nvSpPr>
        <p:spPr bwMode="auto">
          <a:xfrm>
            <a:off x="3123376" y="1687478"/>
            <a:ext cx="2661403" cy="379473"/>
          </a:xfrm>
          <a:prstGeom prst="rect">
            <a:avLst/>
          </a:prstGeom>
          <a:solidFill>
            <a:schemeClr val="accent6">
              <a:lumMod val="60000"/>
              <a:lumOff val="40000"/>
            </a:schemeClr>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23" name="文本框 22"/>
          <p:cNvSpPr txBox="1"/>
          <p:nvPr/>
        </p:nvSpPr>
        <p:spPr>
          <a:xfrm>
            <a:off x="3061386" y="1670364"/>
            <a:ext cx="2932008" cy="369332"/>
          </a:xfrm>
          <a:prstGeom prst="rect">
            <a:avLst/>
          </a:prstGeom>
          <a:noFill/>
          <a:ln>
            <a:noFill/>
          </a:ln>
        </p:spPr>
        <p:txBody>
          <a:bodyPr wrap="square">
            <a:spAutoFit/>
          </a:bodyPr>
          <a:lstStyle/>
          <a:p>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y x</a:t>
            </a:r>
            <a:endParaRPr lang="zh-CN" altLang="en-US" dirty="0"/>
          </a:p>
        </p:txBody>
      </p:sp>
      <p:grpSp>
        <p:nvGrpSpPr>
          <p:cNvPr id="37" name="组合 36"/>
          <p:cNvGrpSpPr/>
          <p:nvPr/>
        </p:nvGrpSpPr>
        <p:grpSpPr>
          <a:xfrm>
            <a:off x="3053098" y="2280295"/>
            <a:ext cx="996195" cy="388351"/>
            <a:chOff x="3053098" y="2280295"/>
            <a:chExt cx="996195" cy="388351"/>
          </a:xfrm>
        </p:grpSpPr>
        <p:sp>
          <p:nvSpPr>
            <p:cNvPr id="27" name="Rectangle 9"/>
            <p:cNvSpPr>
              <a:spLocks noChangeArrowheads="1"/>
            </p:cNvSpPr>
            <p:nvPr/>
          </p:nvSpPr>
          <p:spPr bwMode="auto">
            <a:xfrm>
              <a:off x="3109700" y="2289173"/>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28" name="Line 11"/>
            <p:cNvSpPr>
              <a:spLocks noChangeShapeType="1"/>
            </p:cNvSpPr>
            <p:nvPr/>
          </p:nvSpPr>
          <p:spPr bwMode="auto">
            <a:xfrm>
              <a:off x="3277873"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9" name="Line 12"/>
            <p:cNvSpPr>
              <a:spLocks noChangeShapeType="1"/>
            </p:cNvSpPr>
            <p:nvPr/>
          </p:nvSpPr>
          <p:spPr bwMode="auto">
            <a:xfrm>
              <a:off x="3452475"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32" name="Line 15"/>
            <p:cNvSpPr>
              <a:spLocks noChangeShapeType="1"/>
            </p:cNvSpPr>
            <p:nvPr/>
          </p:nvSpPr>
          <p:spPr bwMode="auto">
            <a:xfrm>
              <a:off x="3630024"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33" name="Line 16"/>
            <p:cNvSpPr>
              <a:spLocks noChangeShapeType="1"/>
            </p:cNvSpPr>
            <p:nvPr/>
          </p:nvSpPr>
          <p:spPr bwMode="auto">
            <a:xfrm>
              <a:off x="3804617"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38" name="文本框 37"/>
            <p:cNvSpPr txBox="1"/>
            <p:nvPr/>
          </p:nvSpPr>
          <p:spPr>
            <a:xfrm>
              <a:off x="3053098" y="2280295"/>
              <a:ext cx="996195" cy="369332"/>
            </a:xfrm>
            <a:prstGeom prst="rect">
              <a:avLst/>
            </a:prstGeom>
            <a:noFill/>
          </p:spPr>
          <p:txBody>
            <a:bodyPr wrap="square">
              <a:spAutoFit/>
            </a:bodyPr>
            <a:lstStyle/>
            <a:p>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cxnSp>
        <p:nvCxnSpPr>
          <p:cNvPr id="43" name="直接箭头连接符 42"/>
          <p:cNvCxnSpPr/>
          <p:nvPr/>
        </p:nvCxnSpPr>
        <p:spPr>
          <a:xfrm>
            <a:off x="3908460" y="2064042"/>
            <a:ext cx="0" cy="22513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 name="Line 11"/>
          <p:cNvSpPr>
            <a:spLocks noChangeShapeType="1"/>
          </p:cNvSpPr>
          <p:nvPr/>
        </p:nvSpPr>
        <p:spPr bwMode="auto">
          <a:xfrm>
            <a:off x="3289091"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 name="Line 12"/>
          <p:cNvSpPr>
            <a:spLocks noChangeShapeType="1"/>
          </p:cNvSpPr>
          <p:nvPr/>
        </p:nvSpPr>
        <p:spPr bwMode="auto">
          <a:xfrm>
            <a:off x="3467115"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 name="Line 13"/>
          <p:cNvSpPr>
            <a:spLocks noChangeShapeType="1"/>
          </p:cNvSpPr>
          <p:nvPr/>
        </p:nvSpPr>
        <p:spPr bwMode="auto">
          <a:xfrm>
            <a:off x="4891307"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 name="Line 14"/>
          <p:cNvSpPr>
            <a:spLocks noChangeShapeType="1"/>
          </p:cNvSpPr>
          <p:nvPr/>
        </p:nvSpPr>
        <p:spPr bwMode="auto">
          <a:xfrm>
            <a:off x="5425379"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5" name="Line 15"/>
          <p:cNvSpPr>
            <a:spLocks noChangeShapeType="1"/>
          </p:cNvSpPr>
          <p:nvPr/>
        </p:nvSpPr>
        <p:spPr bwMode="auto">
          <a:xfrm>
            <a:off x="3645139"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6" name="Line 16"/>
          <p:cNvSpPr>
            <a:spLocks noChangeShapeType="1"/>
          </p:cNvSpPr>
          <p:nvPr/>
        </p:nvSpPr>
        <p:spPr bwMode="auto">
          <a:xfrm>
            <a:off x="3823163"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7" name="Line 17"/>
          <p:cNvSpPr>
            <a:spLocks noChangeShapeType="1"/>
          </p:cNvSpPr>
          <p:nvPr/>
        </p:nvSpPr>
        <p:spPr bwMode="auto">
          <a:xfrm>
            <a:off x="4001187"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8" name="Line 18"/>
          <p:cNvSpPr>
            <a:spLocks noChangeShapeType="1"/>
          </p:cNvSpPr>
          <p:nvPr/>
        </p:nvSpPr>
        <p:spPr bwMode="auto">
          <a:xfrm>
            <a:off x="4179211"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9" name="Line 19"/>
          <p:cNvSpPr>
            <a:spLocks noChangeShapeType="1"/>
          </p:cNvSpPr>
          <p:nvPr/>
        </p:nvSpPr>
        <p:spPr bwMode="auto">
          <a:xfrm>
            <a:off x="4357235"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0" name="Line 20"/>
          <p:cNvSpPr>
            <a:spLocks noChangeShapeType="1"/>
          </p:cNvSpPr>
          <p:nvPr/>
        </p:nvSpPr>
        <p:spPr bwMode="auto">
          <a:xfrm>
            <a:off x="4535259"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4" name="Line 14"/>
          <p:cNvSpPr>
            <a:spLocks noChangeShapeType="1"/>
          </p:cNvSpPr>
          <p:nvPr/>
        </p:nvSpPr>
        <p:spPr bwMode="auto">
          <a:xfrm>
            <a:off x="4713283"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5" name="Line 14"/>
          <p:cNvSpPr>
            <a:spLocks noChangeShapeType="1"/>
          </p:cNvSpPr>
          <p:nvPr/>
        </p:nvSpPr>
        <p:spPr bwMode="auto">
          <a:xfrm>
            <a:off x="5069331"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26" name="Line 14"/>
          <p:cNvSpPr>
            <a:spLocks noChangeShapeType="1"/>
          </p:cNvSpPr>
          <p:nvPr/>
        </p:nvSpPr>
        <p:spPr bwMode="auto">
          <a:xfrm>
            <a:off x="5247355"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97" name="文本框 96"/>
          <p:cNvSpPr txBox="1"/>
          <p:nvPr/>
        </p:nvSpPr>
        <p:spPr>
          <a:xfrm>
            <a:off x="5702764" y="2289173"/>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99" name="文本框 98"/>
          <p:cNvSpPr txBox="1"/>
          <p:nvPr/>
        </p:nvSpPr>
        <p:spPr>
          <a:xfrm>
            <a:off x="5702764" y="3448188"/>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100" name="文本框 99"/>
          <p:cNvSpPr txBox="1"/>
          <p:nvPr/>
        </p:nvSpPr>
        <p:spPr>
          <a:xfrm>
            <a:off x="3756140" y="5999982"/>
            <a:ext cx="2590337"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5+2+4+2+2+4</a:t>
            </a:r>
            <a:r>
              <a:rPr lang="zh-CN" altLang="en-US"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19 </a:t>
            </a:r>
            <a:r>
              <a:rPr lang="zh-CN" altLang="en-US"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次 </a:t>
            </a:r>
            <a:endParaRPr lang="zh-CN" altLang="en-US" dirty="0"/>
          </a:p>
        </p:txBody>
      </p:sp>
      <p:sp>
        <p:nvSpPr>
          <p:cNvPr id="7" name="文本框 6"/>
          <p:cNvSpPr txBox="1"/>
          <p:nvPr/>
        </p:nvSpPr>
        <p:spPr>
          <a:xfrm>
            <a:off x="5702764" y="2869636"/>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10" name="标题 9"/>
          <p:cNvSpPr>
            <a:spLocks noGrp="1"/>
          </p:cNvSpPr>
          <p:nvPr>
            <p:ph type="title"/>
          </p:nvPr>
        </p:nvSpPr>
        <p:spPr/>
        <p:txBody>
          <a:bodyPr>
            <a:normAutofit/>
          </a:bodyPr>
          <a:lstStyle/>
          <a:p>
            <a:pPr algn="just">
              <a:lnSpc>
                <a:spcPct val="150000"/>
              </a:lnSpc>
            </a:pP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kumimoji="0" lang="en-US" altLang="zh-CN"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设目标串</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xxyxxxyxxxxyxyx</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，模式串 </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000"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xxyxy</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。如何用最少的比较次数找到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在 </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中第一次出现的位置？相应的比较次数是多少？请给出具体的分析过程。（</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a:t>
            </a:r>
            <a:endParaRPr lang="zh-CN" altLang="en-US" dirty="0"/>
          </a:p>
        </p:txBody>
      </p:sp>
      <p:sp>
        <p:nvSpPr>
          <p:cNvPr id="54" name="Line 12"/>
          <p:cNvSpPr>
            <a:spLocks noChangeShapeType="1"/>
          </p:cNvSpPr>
          <p:nvPr/>
        </p:nvSpPr>
        <p:spPr bwMode="auto">
          <a:xfrm>
            <a:off x="5603408" y="1684569"/>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grpSp>
        <p:nvGrpSpPr>
          <p:cNvPr id="39" name="组合 38"/>
          <p:cNvGrpSpPr/>
          <p:nvPr/>
        </p:nvGrpSpPr>
        <p:grpSpPr>
          <a:xfrm>
            <a:off x="3578354" y="2876408"/>
            <a:ext cx="996195" cy="388351"/>
            <a:chOff x="3578354" y="2876333"/>
            <a:chExt cx="996195" cy="388351"/>
          </a:xfrm>
        </p:grpSpPr>
        <p:sp>
          <p:nvSpPr>
            <p:cNvPr id="55" name="Rectangle 9"/>
            <p:cNvSpPr>
              <a:spLocks noChangeArrowheads="1"/>
            </p:cNvSpPr>
            <p:nvPr/>
          </p:nvSpPr>
          <p:spPr bwMode="auto">
            <a:xfrm>
              <a:off x="3634956" y="2885211"/>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56" name="Line 11"/>
            <p:cNvSpPr>
              <a:spLocks noChangeShapeType="1"/>
            </p:cNvSpPr>
            <p:nvPr/>
          </p:nvSpPr>
          <p:spPr bwMode="auto">
            <a:xfrm>
              <a:off x="3803129"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57" name="Line 12"/>
            <p:cNvSpPr>
              <a:spLocks noChangeShapeType="1"/>
            </p:cNvSpPr>
            <p:nvPr/>
          </p:nvSpPr>
          <p:spPr bwMode="auto">
            <a:xfrm>
              <a:off x="3977731"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58" name="Line 15"/>
            <p:cNvSpPr>
              <a:spLocks noChangeShapeType="1"/>
            </p:cNvSpPr>
            <p:nvPr/>
          </p:nvSpPr>
          <p:spPr bwMode="auto">
            <a:xfrm>
              <a:off x="4155280"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59" name="Line 16"/>
            <p:cNvSpPr>
              <a:spLocks noChangeShapeType="1"/>
            </p:cNvSpPr>
            <p:nvPr/>
          </p:nvSpPr>
          <p:spPr bwMode="auto">
            <a:xfrm>
              <a:off x="4329873" y="2885211"/>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60" name="文本框 59"/>
            <p:cNvSpPr txBox="1"/>
            <p:nvPr/>
          </p:nvSpPr>
          <p:spPr>
            <a:xfrm>
              <a:off x="3578354" y="2876333"/>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a:t>
              </a:r>
              <a:endParaRPr lang="zh-CN" altLang="en-US" dirty="0">
                <a:solidFill>
                  <a:srgbClr val="FF0000"/>
                </a:solidFill>
              </a:endParaRPr>
            </a:p>
          </p:txBody>
        </p:sp>
      </p:grpSp>
      <p:cxnSp>
        <p:nvCxnSpPr>
          <p:cNvPr id="61" name="直接箭头连接符 60"/>
          <p:cNvCxnSpPr/>
          <p:nvPr/>
        </p:nvCxnSpPr>
        <p:spPr>
          <a:xfrm>
            <a:off x="4076452" y="2060807"/>
            <a:ext cx="0" cy="80654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40" name="组合 39"/>
          <p:cNvGrpSpPr/>
          <p:nvPr/>
        </p:nvGrpSpPr>
        <p:grpSpPr>
          <a:xfrm>
            <a:off x="3756140" y="3472521"/>
            <a:ext cx="996195" cy="388351"/>
            <a:chOff x="3756140" y="3453984"/>
            <a:chExt cx="996195" cy="388351"/>
          </a:xfrm>
        </p:grpSpPr>
        <p:sp>
          <p:nvSpPr>
            <p:cNvPr id="66"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67"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68"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69"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70"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71" name="文本框 70"/>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cxnSp>
        <p:nvCxnSpPr>
          <p:cNvPr id="72" name="直接箭头连接符 71"/>
          <p:cNvCxnSpPr/>
          <p:nvPr/>
        </p:nvCxnSpPr>
        <p:spPr>
          <a:xfrm>
            <a:off x="4620698" y="2063163"/>
            <a:ext cx="0" cy="139741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77" name="组合 76"/>
          <p:cNvGrpSpPr/>
          <p:nvPr/>
        </p:nvGrpSpPr>
        <p:grpSpPr>
          <a:xfrm>
            <a:off x="4293661" y="4068635"/>
            <a:ext cx="996195" cy="388351"/>
            <a:chOff x="3756140" y="3453984"/>
            <a:chExt cx="996195" cy="388351"/>
          </a:xfrm>
        </p:grpSpPr>
        <p:sp>
          <p:nvSpPr>
            <p:cNvPr id="78"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79"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0"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1"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2"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83" name="文本框 82"/>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a:t>
              </a:r>
              <a:endParaRPr lang="zh-CN" altLang="en-US" dirty="0">
                <a:solidFill>
                  <a:srgbClr val="FF0000"/>
                </a:solidFill>
              </a:endParaRPr>
            </a:p>
          </p:txBody>
        </p:sp>
      </p:grpSp>
      <p:cxnSp>
        <p:nvCxnSpPr>
          <p:cNvPr id="92" name="直接箭头连接符 91"/>
          <p:cNvCxnSpPr/>
          <p:nvPr/>
        </p:nvCxnSpPr>
        <p:spPr>
          <a:xfrm>
            <a:off x="4800811" y="2065959"/>
            <a:ext cx="1" cy="198457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93" name="文本框 92"/>
          <p:cNvSpPr txBox="1"/>
          <p:nvPr/>
        </p:nvSpPr>
        <p:spPr>
          <a:xfrm>
            <a:off x="5702764" y="4065291"/>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grpSp>
        <p:nvGrpSpPr>
          <p:cNvPr id="94" name="组合 93"/>
          <p:cNvGrpSpPr/>
          <p:nvPr/>
        </p:nvGrpSpPr>
        <p:grpSpPr>
          <a:xfrm>
            <a:off x="4462835" y="4665810"/>
            <a:ext cx="996195" cy="388351"/>
            <a:chOff x="3756140" y="3453984"/>
            <a:chExt cx="996195" cy="388351"/>
          </a:xfrm>
        </p:grpSpPr>
        <p:sp>
          <p:nvSpPr>
            <p:cNvPr id="95"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96"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98"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1"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2"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3" name="文本框 102"/>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p>
          </p:txBody>
        </p:sp>
      </p:grpSp>
      <p:sp>
        <p:nvSpPr>
          <p:cNvPr id="104" name="文本框 103"/>
          <p:cNvSpPr txBox="1"/>
          <p:nvPr/>
        </p:nvSpPr>
        <p:spPr>
          <a:xfrm>
            <a:off x="5702764" y="4696123"/>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grpSp>
        <p:nvGrpSpPr>
          <p:cNvPr id="105" name="组合 104"/>
          <p:cNvGrpSpPr/>
          <p:nvPr/>
        </p:nvGrpSpPr>
        <p:grpSpPr>
          <a:xfrm>
            <a:off x="4635920" y="5262203"/>
            <a:ext cx="996195" cy="388351"/>
            <a:chOff x="3756140" y="3453984"/>
            <a:chExt cx="996195" cy="388351"/>
          </a:xfrm>
        </p:grpSpPr>
        <p:sp>
          <p:nvSpPr>
            <p:cNvPr id="106" name="Rectangle 9"/>
            <p:cNvSpPr>
              <a:spLocks noChangeArrowheads="1"/>
            </p:cNvSpPr>
            <p:nvPr/>
          </p:nvSpPr>
          <p:spPr bwMode="auto">
            <a:xfrm>
              <a:off x="3812742" y="3462862"/>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07" name="Line 11"/>
            <p:cNvSpPr>
              <a:spLocks noChangeShapeType="1"/>
            </p:cNvSpPr>
            <p:nvPr/>
          </p:nvSpPr>
          <p:spPr bwMode="auto">
            <a:xfrm>
              <a:off x="3980915"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8" name="Line 12"/>
            <p:cNvSpPr>
              <a:spLocks noChangeShapeType="1"/>
            </p:cNvSpPr>
            <p:nvPr/>
          </p:nvSpPr>
          <p:spPr bwMode="auto">
            <a:xfrm>
              <a:off x="4155517"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09" name="Line 15"/>
            <p:cNvSpPr>
              <a:spLocks noChangeShapeType="1"/>
            </p:cNvSpPr>
            <p:nvPr/>
          </p:nvSpPr>
          <p:spPr bwMode="auto">
            <a:xfrm>
              <a:off x="4333066"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0" name="Line 16"/>
            <p:cNvSpPr>
              <a:spLocks noChangeShapeType="1"/>
            </p:cNvSpPr>
            <p:nvPr/>
          </p:nvSpPr>
          <p:spPr bwMode="auto">
            <a:xfrm>
              <a:off x="4507659" y="3462862"/>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1" name="文本框 110"/>
            <p:cNvSpPr txBox="1"/>
            <p:nvPr/>
          </p:nvSpPr>
          <p:spPr>
            <a:xfrm>
              <a:off x="3756140" y="3453984"/>
              <a:ext cx="996195" cy="369332"/>
            </a:xfrm>
            <a:prstGeom prst="rect">
              <a:avLst/>
            </a:prstGeom>
            <a:noFill/>
          </p:spPr>
          <p:txBody>
            <a:bodyPr wrap="square">
              <a:spAutoFit/>
            </a:bodyPr>
            <a:lstStyle/>
            <a:p>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cxnSp>
        <p:nvCxnSpPr>
          <p:cNvPr id="112" name="直接箭头连接符 111"/>
          <p:cNvCxnSpPr/>
          <p:nvPr/>
        </p:nvCxnSpPr>
        <p:spPr>
          <a:xfrm>
            <a:off x="4971366" y="2064631"/>
            <a:ext cx="0" cy="259775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3" name="文本框 112"/>
          <p:cNvSpPr txBox="1"/>
          <p:nvPr/>
        </p:nvSpPr>
        <p:spPr>
          <a:xfrm>
            <a:off x="5702764" y="5283874"/>
            <a:ext cx="734258" cy="400110"/>
          </a:xfrm>
          <a:prstGeom prst="rect">
            <a:avLst/>
          </a:prstGeom>
          <a:noFill/>
        </p:spPr>
        <p:txBody>
          <a:bodyPr wrap="square">
            <a:spAutoFit/>
          </a:bodyPr>
          <a:lstStyle/>
          <a:p>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cxnSp>
        <p:nvCxnSpPr>
          <p:cNvPr id="65" name="直接箭头连接符 64"/>
          <p:cNvCxnSpPr>
            <a:endCxn id="103" idx="1"/>
          </p:cNvCxnSpPr>
          <p:nvPr/>
        </p:nvCxnSpPr>
        <p:spPr>
          <a:xfrm flipV="1">
            <a:off x="3109700" y="4850476"/>
            <a:ext cx="1353135" cy="101208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4" name="内容占位符 6"/>
          <p:cNvSpPr txBox="1"/>
          <p:nvPr/>
        </p:nvSpPr>
        <p:spPr>
          <a:xfrm>
            <a:off x="6975730" y="1623307"/>
            <a:ext cx="3890408" cy="47955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kern="100" dirty="0">
                <a:solidFill>
                  <a:srgbClr val="000000"/>
                </a:solidFill>
              </a:rPr>
              <a:t>2) </a:t>
            </a:r>
            <a:r>
              <a:rPr lang="zh-CN" altLang="en-US" sz="1800" kern="100" dirty="0">
                <a:solidFill>
                  <a:srgbClr val="000000"/>
                </a:solidFill>
              </a:rPr>
              <a:t>从右向左扫描：</a:t>
            </a:r>
            <a:r>
              <a:rPr lang="en-US" altLang="zh-CN" sz="1800" kern="100" dirty="0">
                <a:solidFill>
                  <a:srgbClr val="000000"/>
                </a:solidFill>
              </a:rPr>
              <a:t>6</a:t>
            </a:r>
            <a:r>
              <a:rPr lang="zh-CN" altLang="en-US" sz="1800" kern="100" dirty="0">
                <a:solidFill>
                  <a:srgbClr val="000000"/>
                </a:solidFill>
              </a:rPr>
              <a:t>次</a:t>
            </a: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endParaRPr lang="en-US" altLang="zh-CN" sz="1800" kern="100" dirty="0">
              <a:solidFill>
                <a:srgbClr val="000000"/>
              </a:solidFill>
            </a:endParaRPr>
          </a:p>
          <a:p>
            <a:pPr marL="0" indent="0">
              <a:buNone/>
            </a:pPr>
            <a:r>
              <a:rPr lang="en-US" altLang="zh-CN" sz="1800" kern="100" dirty="0">
                <a:solidFill>
                  <a:srgbClr val="000000"/>
                </a:solidFill>
              </a:rPr>
              <a:t>3)</a:t>
            </a:r>
            <a:r>
              <a:rPr lang="zh-CN" altLang="en-US" sz="1800" kern="100" dirty="0">
                <a:solidFill>
                  <a:srgbClr val="000000"/>
                </a:solidFill>
              </a:rPr>
              <a:t> 其他</a:t>
            </a:r>
            <a:endParaRPr lang="en-US" altLang="zh-CN" sz="1800" kern="100" dirty="0">
              <a:solidFill>
                <a:srgbClr val="000000"/>
              </a:solidFill>
            </a:endParaRPr>
          </a:p>
          <a:p>
            <a:pPr marL="0" indent="0">
              <a:buNone/>
            </a:pPr>
            <a:r>
              <a:rPr lang="zh-CN" altLang="en-US" sz="1800" kern="100" dirty="0">
                <a:solidFill>
                  <a:srgbClr val="000000"/>
                </a:solidFill>
              </a:rPr>
              <a:t>先比较</a:t>
            </a:r>
            <a:r>
              <a:rPr lang="en-US" altLang="zh-CN" sz="1800" kern="100" dirty="0" err="1">
                <a:solidFill>
                  <a:srgbClr val="000000"/>
                </a:solidFill>
              </a:rPr>
              <a:t>xxy</a:t>
            </a:r>
            <a:endParaRPr lang="en-US" altLang="zh-CN" sz="1800" kern="100" dirty="0">
              <a:solidFill>
                <a:srgbClr val="000000"/>
              </a:solidFill>
            </a:endParaRPr>
          </a:p>
          <a:p>
            <a:pPr marL="0" indent="0">
              <a:buNone/>
            </a:pPr>
            <a:r>
              <a:rPr lang="zh-CN" altLang="en-US" sz="1800" kern="100" dirty="0">
                <a:solidFill>
                  <a:srgbClr val="000000"/>
                </a:solidFill>
              </a:rPr>
              <a:t>比较头和尾</a:t>
            </a:r>
            <a:endParaRPr lang="en-US" altLang="zh-CN" sz="1800" kern="100" dirty="0">
              <a:solidFill>
                <a:srgbClr val="000000"/>
              </a:solidFill>
            </a:endParaRPr>
          </a:p>
          <a:p>
            <a:pPr marL="0" indent="0">
              <a:buNone/>
            </a:pPr>
            <a:r>
              <a:rPr lang="en-US" altLang="zh-CN" sz="1800" kern="100" dirty="0">
                <a:solidFill>
                  <a:srgbClr val="000000"/>
                </a:solidFill>
              </a:rPr>
              <a:t>……</a:t>
            </a:r>
          </a:p>
        </p:txBody>
      </p:sp>
      <p:sp>
        <p:nvSpPr>
          <p:cNvPr id="115" name="Rectangle 9"/>
          <p:cNvSpPr>
            <a:spLocks noChangeArrowheads="1"/>
          </p:cNvSpPr>
          <p:nvPr/>
        </p:nvSpPr>
        <p:spPr bwMode="auto">
          <a:xfrm>
            <a:off x="7043781" y="2077009"/>
            <a:ext cx="2661403" cy="379473"/>
          </a:xfrm>
          <a:prstGeom prst="rect">
            <a:avLst/>
          </a:prstGeom>
          <a:solidFill>
            <a:schemeClr val="accent6">
              <a:lumMod val="60000"/>
              <a:lumOff val="40000"/>
            </a:schemeClr>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16" name="文本框 115"/>
          <p:cNvSpPr txBox="1"/>
          <p:nvPr/>
        </p:nvSpPr>
        <p:spPr>
          <a:xfrm>
            <a:off x="6981791" y="2059895"/>
            <a:ext cx="2932008" cy="369332"/>
          </a:xfrm>
          <a:prstGeom prst="rect">
            <a:avLst/>
          </a:prstGeom>
          <a:noFill/>
          <a:ln>
            <a:noFill/>
          </a:ln>
        </p:spPr>
        <p:txBody>
          <a:bodyPr wrap="square">
            <a:spAutoFit/>
          </a:bodyPr>
          <a:lstStyle/>
          <a:p>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0" i="0" u="none" strike="noStrike" kern="1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y x y x</a:t>
            </a:r>
            <a:endParaRPr lang="zh-CN" altLang="en-US" dirty="0"/>
          </a:p>
        </p:txBody>
      </p:sp>
      <p:sp>
        <p:nvSpPr>
          <p:cNvPr id="117" name="Line 11"/>
          <p:cNvSpPr>
            <a:spLocks noChangeShapeType="1"/>
          </p:cNvSpPr>
          <p:nvPr/>
        </p:nvSpPr>
        <p:spPr bwMode="auto">
          <a:xfrm>
            <a:off x="7209496"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8" name="Line 12"/>
          <p:cNvSpPr>
            <a:spLocks noChangeShapeType="1"/>
          </p:cNvSpPr>
          <p:nvPr/>
        </p:nvSpPr>
        <p:spPr bwMode="auto">
          <a:xfrm>
            <a:off x="7387520"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19" name="Line 13"/>
          <p:cNvSpPr>
            <a:spLocks noChangeShapeType="1"/>
          </p:cNvSpPr>
          <p:nvPr/>
        </p:nvSpPr>
        <p:spPr bwMode="auto">
          <a:xfrm>
            <a:off x="8811712"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0" name="Line 14"/>
          <p:cNvSpPr>
            <a:spLocks noChangeShapeType="1"/>
          </p:cNvSpPr>
          <p:nvPr/>
        </p:nvSpPr>
        <p:spPr bwMode="auto">
          <a:xfrm>
            <a:off x="9345784"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1" name="Line 15"/>
          <p:cNvSpPr>
            <a:spLocks noChangeShapeType="1"/>
          </p:cNvSpPr>
          <p:nvPr/>
        </p:nvSpPr>
        <p:spPr bwMode="auto">
          <a:xfrm>
            <a:off x="7565544"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2" name="Line 16"/>
          <p:cNvSpPr>
            <a:spLocks noChangeShapeType="1"/>
          </p:cNvSpPr>
          <p:nvPr/>
        </p:nvSpPr>
        <p:spPr bwMode="auto">
          <a:xfrm>
            <a:off x="7743568"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3" name="Line 17"/>
          <p:cNvSpPr>
            <a:spLocks noChangeShapeType="1"/>
          </p:cNvSpPr>
          <p:nvPr/>
        </p:nvSpPr>
        <p:spPr bwMode="auto">
          <a:xfrm>
            <a:off x="7921592"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4" name="Line 18"/>
          <p:cNvSpPr>
            <a:spLocks noChangeShapeType="1"/>
          </p:cNvSpPr>
          <p:nvPr/>
        </p:nvSpPr>
        <p:spPr bwMode="auto">
          <a:xfrm>
            <a:off x="8099616"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5" name="Line 19"/>
          <p:cNvSpPr>
            <a:spLocks noChangeShapeType="1"/>
          </p:cNvSpPr>
          <p:nvPr/>
        </p:nvSpPr>
        <p:spPr bwMode="auto">
          <a:xfrm>
            <a:off x="8277640"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6" name="Line 20"/>
          <p:cNvSpPr>
            <a:spLocks noChangeShapeType="1"/>
          </p:cNvSpPr>
          <p:nvPr/>
        </p:nvSpPr>
        <p:spPr bwMode="auto">
          <a:xfrm>
            <a:off x="8455664"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7" name="Line 14"/>
          <p:cNvSpPr>
            <a:spLocks noChangeShapeType="1"/>
          </p:cNvSpPr>
          <p:nvPr/>
        </p:nvSpPr>
        <p:spPr bwMode="auto">
          <a:xfrm>
            <a:off x="8633688"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8" name="Line 14"/>
          <p:cNvSpPr>
            <a:spLocks noChangeShapeType="1"/>
          </p:cNvSpPr>
          <p:nvPr/>
        </p:nvSpPr>
        <p:spPr bwMode="auto">
          <a:xfrm>
            <a:off x="8989736"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29" name="Line 14"/>
          <p:cNvSpPr>
            <a:spLocks noChangeShapeType="1"/>
          </p:cNvSpPr>
          <p:nvPr/>
        </p:nvSpPr>
        <p:spPr bwMode="auto">
          <a:xfrm>
            <a:off x="9167760"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0" name="Line 12"/>
          <p:cNvSpPr>
            <a:spLocks noChangeShapeType="1"/>
          </p:cNvSpPr>
          <p:nvPr/>
        </p:nvSpPr>
        <p:spPr bwMode="auto">
          <a:xfrm>
            <a:off x="9523813" y="2074100"/>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grpSp>
        <p:nvGrpSpPr>
          <p:cNvPr id="131" name="组合 130"/>
          <p:cNvGrpSpPr/>
          <p:nvPr/>
        </p:nvGrpSpPr>
        <p:grpSpPr>
          <a:xfrm>
            <a:off x="8774506" y="2665877"/>
            <a:ext cx="996195" cy="388351"/>
            <a:chOff x="3053098" y="2280295"/>
            <a:chExt cx="996195" cy="388351"/>
          </a:xfrm>
        </p:grpSpPr>
        <p:sp>
          <p:nvSpPr>
            <p:cNvPr id="132" name="Rectangle 9"/>
            <p:cNvSpPr>
              <a:spLocks noChangeArrowheads="1"/>
            </p:cNvSpPr>
            <p:nvPr/>
          </p:nvSpPr>
          <p:spPr bwMode="auto">
            <a:xfrm>
              <a:off x="3109700" y="2289173"/>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33" name="Line 11"/>
            <p:cNvSpPr>
              <a:spLocks noChangeShapeType="1"/>
            </p:cNvSpPr>
            <p:nvPr/>
          </p:nvSpPr>
          <p:spPr bwMode="auto">
            <a:xfrm>
              <a:off x="3277873"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4" name="Line 12"/>
            <p:cNvSpPr>
              <a:spLocks noChangeShapeType="1"/>
            </p:cNvSpPr>
            <p:nvPr/>
          </p:nvSpPr>
          <p:spPr bwMode="auto">
            <a:xfrm>
              <a:off x="3452475"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5" name="Line 15"/>
            <p:cNvSpPr>
              <a:spLocks noChangeShapeType="1"/>
            </p:cNvSpPr>
            <p:nvPr/>
          </p:nvSpPr>
          <p:spPr bwMode="auto">
            <a:xfrm>
              <a:off x="3630024"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6" name="Line 16"/>
            <p:cNvSpPr>
              <a:spLocks noChangeShapeType="1"/>
            </p:cNvSpPr>
            <p:nvPr/>
          </p:nvSpPr>
          <p:spPr bwMode="auto">
            <a:xfrm>
              <a:off x="3804617"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37" name="文本框 136"/>
            <p:cNvSpPr txBox="1"/>
            <p:nvPr/>
          </p:nvSpPr>
          <p:spPr>
            <a:xfrm>
              <a:off x="3053098" y="2280295"/>
              <a:ext cx="996195" cy="369332"/>
            </a:xfrm>
            <a:prstGeom prst="rect">
              <a:avLst/>
            </a:prstGeom>
            <a:noFill/>
          </p:spPr>
          <p:txBody>
            <a:bodyPr wrap="square">
              <a:spAutoFit/>
            </a:bodyPr>
            <a:lstStyle/>
            <a:p>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 y x </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altLang="en-US" dirty="0">
                <a:solidFill>
                  <a:srgbClr val="FF0000"/>
                </a:solidFill>
              </a:endParaRPr>
            </a:p>
          </p:txBody>
        </p:sp>
      </p:grpSp>
      <p:grpSp>
        <p:nvGrpSpPr>
          <p:cNvPr id="138" name="组合 137"/>
          <p:cNvGrpSpPr/>
          <p:nvPr/>
        </p:nvGrpSpPr>
        <p:grpSpPr>
          <a:xfrm>
            <a:off x="8601416" y="3234824"/>
            <a:ext cx="996195" cy="388351"/>
            <a:chOff x="3053098" y="2280295"/>
            <a:chExt cx="996195" cy="388351"/>
          </a:xfrm>
        </p:grpSpPr>
        <p:sp>
          <p:nvSpPr>
            <p:cNvPr id="139" name="Rectangle 9"/>
            <p:cNvSpPr>
              <a:spLocks noChangeArrowheads="1"/>
            </p:cNvSpPr>
            <p:nvPr/>
          </p:nvSpPr>
          <p:spPr bwMode="auto">
            <a:xfrm>
              <a:off x="3109700" y="2289173"/>
              <a:ext cx="891488" cy="379473"/>
            </a:xfrm>
            <a:prstGeom prst="rect">
              <a:avLst/>
            </a:prstGeom>
            <a:solidFill>
              <a:schemeClr val="accent1"/>
            </a:solidFill>
            <a:ln w="9525">
              <a:solidFill>
                <a:schemeClr val="tx1"/>
              </a:solidFill>
              <a:miter lim="800000"/>
            </a:ln>
            <a:effectLst>
              <a:outerShdw dist="107763" dir="2700000" algn="ctr" rotWithShape="0">
                <a:schemeClr val="bg2"/>
              </a:outerShdw>
            </a:effec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pPr eaLnBrk="1" hangingPunct="1"/>
              <a:endParaRPr lang="zh-CN" altLang="en-US" dirty="0"/>
            </a:p>
          </p:txBody>
        </p:sp>
        <p:sp>
          <p:nvSpPr>
            <p:cNvPr id="140" name="Line 11"/>
            <p:cNvSpPr>
              <a:spLocks noChangeShapeType="1"/>
            </p:cNvSpPr>
            <p:nvPr/>
          </p:nvSpPr>
          <p:spPr bwMode="auto">
            <a:xfrm>
              <a:off x="3277873"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1" name="Line 12"/>
            <p:cNvSpPr>
              <a:spLocks noChangeShapeType="1"/>
            </p:cNvSpPr>
            <p:nvPr/>
          </p:nvSpPr>
          <p:spPr bwMode="auto">
            <a:xfrm>
              <a:off x="3452475"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2" name="Line 15"/>
            <p:cNvSpPr>
              <a:spLocks noChangeShapeType="1"/>
            </p:cNvSpPr>
            <p:nvPr/>
          </p:nvSpPr>
          <p:spPr bwMode="auto">
            <a:xfrm>
              <a:off x="3630024"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3" name="Line 16"/>
            <p:cNvSpPr>
              <a:spLocks noChangeShapeType="1"/>
            </p:cNvSpPr>
            <p:nvPr/>
          </p:nvSpPr>
          <p:spPr bwMode="auto">
            <a:xfrm>
              <a:off x="3804617" y="2289173"/>
              <a:ext cx="0" cy="37947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a:lstStyle>
            <a:p>
              <a:endParaRPr lang="zh-CN" altLang="en-US"/>
            </a:p>
          </p:txBody>
        </p:sp>
        <p:sp>
          <p:nvSpPr>
            <p:cNvPr id="144" name="文本框 143"/>
            <p:cNvSpPr txBox="1"/>
            <p:nvPr/>
          </p:nvSpPr>
          <p:spPr>
            <a:xfrm>
              <a:off x="3053098" y="2280295"/>
              <a:ext cx="996195" cy="369332"/>
            </a:xfrm>
            <a:prstGeom prst="rect">
              <a:avLst/>
            </a:prstGeom>
            <a:noFill/>
          </p:spPr>
          <p:txBody>
            <a:bodyPr wrap="square">
              <a:spAutoFit/>
            </a:bodyPr>
            <a:lstStyle/>
            <a:p>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kern="100" dirty="0" err="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y x y</a:t>
              </a:r>
              <a:endParaRPr lang="zh-CN" altLang="en-US" dirty="0">
                <a:solidFill>
                  <a:srgbClr val="FF0000"/>
                </a:solidFill>
              </a:endParaRPr>
            </a:p>
          </p:txBody>
        </p:sp>
      </p:grpSp>
      <p:sp>
        <p:nvSpPr>
          <p:cNvPr id="145" name="文本框 144"/>
          <p:cNvSpPr txBox="1"/>
          <p:nvPr/>
        </p:nvSpPr>
        <p:spPr>
          <a:xfrm>
            <a:off x="9938874" y="2676353"/>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
        <p:nvSpPr>
          <p:cNvPr id="146" name="文本框 145"/>
          <p:cNvSpPr txBox="1"/>
          <p:nvPr/>
        </p:nvSpPr>
        <p:spPr>
          <a:xfrm>
            <a:off x="9938874" y="3207113"/>
            <a:ext cx="734258" cy="400110"/>
          </a:xfrm>
          <a:prstGeom prst="rect">
            <a:avLst/>
          </a:prstGeom>
          <a:noFill/>
        </p:spPr>
        <p:txBody>
          <a:bodyPr wrap="square">
            <a:spAutoFit/>
          </a:bodyPr>
          <a:lstStyle/>
          <a:p>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次</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5533390" y="2390775"/>
            <a:ext cx="5824220" cy="1249680"/>
          </a:xfrm>
          <a:prstGeom prst="roundRect">
            <a:avLst>
              <a:gd name="adj" fmla="val 7317"/>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600710" y="2396490"/>
            <a:ext cx="5408930" cy="2846070"/>
          </a:xfrm>
          <a:prstGeom prst="rect">
            <a:avLst/>
          </a:prstGeom>
        </p:spPr>
        <p:txBody>
          <a:bodyPr wrap="square">
            <a:spAutoFit/>
          </a:bodyPr>
          <a:lstStyle/>
          <a:p>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sz="1600" b="1">
                <a:solidFill>
                  <a:srgbClr val="000000"/>
                </a:solidFill>
                <a:latin typeface="宋体" panose="02010600030101010101" pitchFamily="2" charset="-122"/>
                <a:ea typeface="宋体" panose="02010600030101010101" pitchFamily="2" charset="-122"/>
              </a:rPr>
              <a:t>可以唯一确定</a:t>
            </a:r>
            <a:r>
              <a:rPr lang="zh-CN" altLang="en-US" sz="1600">
                <a:solidFill>
                  <a:srgbClr val="000000"/>
                </a:solidFill>
                <a:latin typeface="宋体" panose="02010600030101010101" pitchFamily="2" charset="-122"/>
                <a:ea typeface="宋体" panose="02010600030101010101" pitchFamily="2" charset="-122"/>
              </a:rPr>
              <a:t>一棵二叉树形态的序列组合：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前序遍历序列</a:t>
            </a:r>
            <a:r>
              <a:rPr lang="en-US" altLang="zh-CN" sz="1600">
                <a:solidFill>
                  <a:srgbClr val="000000"/>
                </a:solidFill>
                <a:latin typeface="Times New Roman" panose="02020603050405020304"/>
                <a:ea typeface="Times New Roman" panose="02020603050405020304"/>
              </a:rPr>
              <a:t>+</a:t>
            </a:r>
            <a:r>
              <a:rPr lang="zh-CN" altLang="en-US" sz="1600" b="1" u="sng">
                <a:solidFill>
                  <a:srgbClr val="000000"/>
                </a:solidFill>
                <a:latin typeface="宋体" panose="02010600030101010101" pitchFamily="2" charset="-122"/>
                <a:ea typeface="宋体" panose="02010600030101010101" pitchFamily="2" charset="-122"/>
              </a:rPr>
              <a:t>中序</a:t>
            </a:r>
            <a:r>
              <a:rPr lang="zh-CN" altLang="en-US" sz="1600">
                <a:solidFill>
                  <a:srgbClr val="000000"/>
                </a:solidFill>
                <a:latin typeface="宋体" panose="02010600030101010101" pitchFamily="2" charset="-122"/>
                <a:ea typeface="宋体" panose="02010600030101010101" pitchFamily="2" charset="-122"/>
              </a:rPr>
              <a:t>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后序遍历序列</a:t>
            </a:r>
            <a:r>
              <a:rPr lang="en-US" altLang="zh-CN" sz="1600">
                <a:solidFill>
                  <a:srgbClr val="000000"/>
                </a:solidFill>
                <a:latin typeface="Times New Roman" panose="02020603050405020304"/>
                <a:ea typeface="Times New Roman" panose="02020603050405020304"/>
              </a:rPr>
              <a:t>+</a:t>
            </a:r>
            <a:r>
              <a:rPr lang="zh-CN" altLang="en-US" sz="1600" b="1" u="sng">
                <a:solidFill>
                  <a:srgbClr val="000000"/>
                </a:solidFill>
                <a:latin typeface="宋体" panose="02010600030101010101" pitchFamily="2" charset="-122"/>
                <a:ea typeface="宋体" panose="02010600030101010101" pitchFamily="2" charset="-122"/>
              </a:rPr>
              <a:t>中序</a:t>
            </a:r>
            <a:r>
              <a:rPr lang="zh-CN" altLang="en-US" sz="1600">
                <a:solidFill>
                  <a:srgbClr val="000000"/>
                </a:solidFill>
                <a:latin typeface="宋体" panose="02010600030101010101" pitchFamily="2" charset="-122"/>
                <a:ea typeface="宋体" panose="02010600030101010101" pitchFamily="2" charset="-122"/>
              </a:rPr>
              <a:t>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层次序遍历序列</a:t>
            </a:r>
            <a:r>
              <a:rPr lang="en-US" altLang="zh-CN" sz="1600">
                <a:solidFill>
                  <a:srgbClr val="000000"/>
                </a:solidFill>
                <a:latin typeface="Times New Roman" panose="02020603050405020304"/>
                <a:ea typeface="Times New Roman" panose="02020603050405020304"/>
              </a:rPr>
              <a:t>+</a:t>
            </a:r>
            <a:r>
              <a:rPr lang="zh-CN" altLang="en-US" sz="1600" b="1" u="sng">
                <a:solidFill>
                  <a:srgbClr val="000000"/>
                </a:solidFill>
                <a:latin typeface="宋体" panose="02010600030101010101" pitchFamily="2" charset="-122"/>
                <a:ea typeface="宋体" panose="02010600030101010101" pitchFamily="2" charset="-122"/>
              </a:rPr>
              <a:t>中序</a:t>
            </a:r>
            <a:r>
              <a:rPr lang="zh-CN" altLang="en-US" sz="1600">
                <a:solidFill>
                  <a:srgbClr val="000000"/>
                </a:solidFill>
                <a:latin typeface="宋体" panose="02010600030101010101" pitchFamily="2" charset="-122"/>
                <a:ea typeface="宋体" panose="02010600030101010101" pitchFamily="2" charset="-122"/>
              </a:rPr>
              <a:t>遍历序列 </a:t>
            </a:r>
          </a:p>
          <a:p>
            <a:endParaRPr lang="zh-CN" altLang="en-US" sz="1600">
              <a:solidFill>
                <a:srgbClr val="000000"/>
              </a:solidFill>
              <a:latin typeface="宋体" panose="02010600030101010101" pitchFamily="2" charset="-122"/>
              <a:ea typeface="宋体" panose="02010600030101010101" pitchFamily="2" charset="-122"/>
            </a:endParaRPr>
          </a:p>
          <a:p>
            <a:endParaRPr lang="zh-CN" altLang="en-US" sz="1600">
              <a:solidFill>
                <a:srgbClr val="000000"/>
              </a:solidFill>
              <a:latin typeface="宋体" panose="02010600030101010101" pitchFamily="2" charset="-122"/>
              <a:ea typeface="宋体" panose="02010600030101010101" pitchFamily="2" charset="-122"/>
            </a:endParaRPr>
          </a:p>
          <a:p>
            <a:r>
              <a:rPr lang="zh-CN" altLang="en-US" sz="1600" b="1">
                <a:solidFill>
                  <a:srgbClr val="000000"/>
                </a:solidFill>
                <a:latin typeface="宋体" panose="02010600030101010101" pitchFamily="2" charset="-122"/>
                <a:ea typeface="宋体" panose="02010600030101010101" pitchFamily="2" charset="-122"/>
              </a:rPr>
              <a:t>不可以唯一确定</a:t>
            </a:r>
            <a:r>
              <a:rPr lang="zh-CN" altLang="en-US" sz="1600">
                <a:solidFill>
                  <a:srgbClr val="000000"/>
                </a:solidFill>
                <a:latin typeface="宋体" panose="02010600030101010101" pitchFamily="2" charset="-122"/>
                <a:ea typeface="宋体" panose="02010600030101010101" pitchFamily="2" charset="-122"/>
              </a:rPr>
              <a:t>一棵二叉树的形态的序列组合：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前序遍历序列</a:t>
            </a:r>
            <a:r>
              <a:rPr lang="en-US" altLang="zh-CN" sz="1600">
                <a:solidFill>
                  <a:srgbClr val="000000"/>
                </a:solidFill>
                <a:latin typeface="Times New Roman" panose="02020603050405020304"/>
                <a:ea typeface="Times New Roman" panose="02020603050405020304"/>
              </a:rPr>
              <a:t>+</a:t>
            </a:r>
            <a:r>
              <a:rPr lang="zh-CN" altLang="en-US" sz="1600">
                <a:solidFill>
                  <a:srgbClr val="000000"/>
                </a:solidFill>
                <a:latin typeface="宋体" panose="02010600030101010101" pitchFamily="2" charset="-122"/>
                <a:ea typeface="宋体" panose="02010600030101010101" pitchFamily="2" charset="-122"/>
              </a:rPr>
              <a:t>后序遍历序列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层次序遍历序列</a:t>
            </a:r>
            <a:r>
              <a:rPr lang="en-US" altLang="zh-CN" sz="1600">
                <a:solidFill>
                  <a:srgbClr val="000000"/>
                </a:solidFill>
                <a:latin typeface="Times New Roman" panose="02020603050405020304"/>
                <a:ea typeface="Times New Roman" panose="02020603050405020304"/>
              </a:rPr>
              <a:t>+</a:t>
            </a:r>
            <a:r>
              <a:rPr lang="zh-CN" altLang="en-US" sz="1600">
                <a:solidFill>
                  <a:srgbClr val="000000"/>
                </a:solidFill>
                <a:latin typeface="宋体" panose="02010600030101010101" pitchFamily="2" charset="-122"/>
                <a:ea typeface="宋体" panose="02010600030101010101" pitchFamily="2" charset="-122"/>
              </a:rPr>
              <a:t>前序遍历序列 </a:t>
            </a: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rPr>
              <a:t>层次序遍历序列</a:t>
            </a:r>
            <a:r>
              <a:rPr lang="en-US" altLang="zh-CN" sz="1600">
                <a:solidFill>
                  <a:srgbClr val="000000"/>
                </a:solidFill>
                <a:latin typeface="Times New Roman" panose="02020603050405020304"/>
                <a:ea typeface="Times New Roman" panose="02020603050405020304"/>
              </a:rPr>
              <a:t>+</a:t>
            </a:r>
            <a:r>
              <a:rPr lang="zh-CN" altLang="en-US" sz="1600">
                <a:solidFill>
                  <a:srgbClr val="000000"/>
                </a:solidFill>
                <a:latin typeface="宋体" panose="02010600030101010101" pitchFamily="2" charset="-122"/>
                <a:ea typeface="宋体" panose="02010600030101010101" pitchFamily="2" charset="-122"/>
              </a:rPr>
              <a:t>后序遍历序列</a:t>
            </a:r>
          </a:p>
        </p:txBody>
      </p:sp>
      <p:sp>
        <p:nvSpPr>
          <p:cNvPr id="3" name="文本框 2"/>
          <p:cNvSpPr txBox="1"/>
          <p:nvPr/>
        </p:nvSpPr>
        <p:spPr>
          <a:xfrm>
            <a:off x="541655" y="246380"/>
            <a:ext cx="11379200" cy="1614170"/>
          </a:xfrm>
          <a:prstGeom prst="rect">
            <a:avLst/>
          </a:prstGeom>
        </p:spPr>
        <p:txBody>
          <a:bodyPr wrap="square">
            <a:spAutoFit/>
          </a:bodyPr>
          <a:lstStyle/>
          <a:p>
            <a:pPr>
              <a:lnSpc>
                <a:spcPct val="110000"/>
              </a:lnSpc>
            </a:pPr>
            <a:r>
              <a:rPr lang="zh-CN" altLang="en-US" b="1">
                <a:solidFill>
                  <a:srgbClr val="000000"/>
                </a:solidFill>
                <a:latin typeface="Times New Roman" panose="02020603050405020304"/>
                <a:ea typeface="Times New Roman" panose="02020603050405020304"/>
              </a:rPr>
              <a:t>问答题</a:t>
            </a:r>
            <a:r>
              <a:rPr lang="en-US" altLang="zh-CN" b="1">
                <a:solidFill>
                  <a:srgbClr val="000000"/>
                </a:solidFill>
                <a:latin typeface="Times New Roman" panose="02020603050405020304"/>
                <a:ea typeface="Times New Roman" panose="02020603050405020304"/>
              </a:rPr>
              <a:t> 3</a:t>
            </a:r>
            <a:r>
              <a:rPr lang="zh-CN" altLang="en-US" b="1">
                <a:solidFill>
                  <a:srgbClr val="000000"/>
                </a:solidFill>
                <a:latin typeface="宋体" panose="02010600030101010101" pitchFamily="2" charset="-122"/>
                <a:ea typeface="宋体" panose="02010600030101010101" pitchFamily="2" charset="-122"/>
              </a:rPr>
              <a:t>、</a:t>
            </a:r>
            <a:r>
              <a:rPr lang="zh-CN" altLang="en-US">
                <a:solidFill>
                  <a:srgbClr val="000000"/>
                </a:solidFill>
                <a:latin typeface="宋体" panose="02010600030101010101" pitchFamily="2" charset="-122"/>
                <a:ea typeface="宋体" panose="02010600030101010101" pitchFamily="2" charset="-122"/>
              </a:rPr>
              <a:t> 请分析并回答以下问题： </a:t>
            </a:r>
          </a:p>
          <a:p>
            <a:pPr>
              <a:lnSpc>
                <a:spcPct val="110000"/>
              </a:lnSpc>
            </a:pPr>
            <a:r>
              <a:rPr lang="en-US" altLang="zh-CN">
                <a:solidFill>
                  <a:srgbClr val="000000"/>
                </a:solidFill>
                <a:latin typeface="Times New Roman" panose="02020603050405020304"/>
                <a:ea typeface="Times New Roman" panose="02020603050405020304"/>
              </a:rPr>
              <a:t>(1) </a:t>
            </a:r>
            <a:r>
              <a:rPr lang="zh-CN" altLang="en-US">
                <a:solidFill>
                  <a:srgbClr val="000000"/>
                </a:solidFill>
                <a:latin typeface="宋体" panose="02010600030101010101" pitchFamily="2" charset="-122"/>
                <a:ea typeface="宋体" panose="02010600030101010101" pitchFamily="2" charset="-122"/>
              </a:rPr>
              <a:t>在一棵二叉树的前序遍历序列、中序遍历序列、后序遍历序列和层次序遍历序列中，任意两种序列的组合可以唯一地确定这棵二叉树吗？若不可以，有哪些组合。请说明理由。 </a:t>
            </a:r>
          </a:p>
          <a:p>
            <a:pPr>
              <a:lnSpc>
                <a:spcPct val="110000"/>
              </a:lnSpc>
            </a:pPr>
            <a:r>
              <a:rPr lang="en-US" altLang="zh-CN">
                <a:solidFill>
                  <a:srgbClr val="000000"/>
                </a:solidFill>
                <a:latin typeface="Times New Roman" panose="02020603050405020304"/>
                <a:ea typeface="Times New Roman" panose="02020603050405020304"/>
              </a:rPr>
              <a:t>(2) </a:t>
            </a:r>
            <a:r>
              <a:rPr lang="zh-CN" altLang="en-US">
                <a:solidFill>
                  <a:srgbClr val="000000"/>
                </a:solidFill>
                <a:latin typeface="宋体" panose="02010600030101010101" pitchFamily="2" charset="-122"/>
                <a:ea typeface="宋体" panose="02010600030101010101" pitchFamily="2" charset="-122"/>
              </a:rPr>
              <a:t>已知一个森林的先根次序遍历序列和后根次序遍历序列分别为 </a:t>
            </a:r>
            <a:r>
              <a:rPr lang="en-US" altLang="zh-CN">
                <a:solidFill>
                  <a:srgbClr val="000000"/>
                </a:solidFill>
                <a:latin typeface="Times New Roman" panose="02020603050405020304"/>
                <a:ea typeface="Times New Roman" panose="02020603050405020304"/>
              </a:rPr>
              <a:t>ABCDEFGHIJKLMNO </a:t>
            </a:r>
            <a:r>
              <a:rPr lang="zh-CN" altLang="en-US">
                <a:solidFill>
                  <a:srgbClr val="000000"/>
                </a:solidFill>
                <a:latin typeface="宋体" panose="02010600030101010101" pitchFamily="2" charset="-122"/>
                <a:ea typeface="宋体" panose="02010600030101010101" pitchFamily="2" charset="-122"/>
              </a:rPr>
              <a:t>和</a:t>
            </a:r>
            <a:r>
              <a:rPr lang="en-US" altLang="zh-CN">
                <a:solidFill>
                  <a:srgbClr val="000000"/>
                </a:solidFill>
                <a:latin typeface="宋体" panose="02010600030101010101" pitchFamily="2" charset="-122"/>
                <a:ea typeface="宋体" panose="02010600030101010101" pitchFamily="2" charset="-122"/>
              </a:rPr>
              <a:t> </a:t>
            </a:r>
            <a:r>
              <a:rPr lang="en-US" altLang="zh-CN">
                <a:solidFill>
                  <a:srgbClr val="000000"/>
                </a:solidFill>
                <a:latin typeface="Times New Roman" panose="02020603050405020304"/>
                <a:ea typeface="Times New Roman" panose="02020603050405020304"/>
              </a:rPr>
              <a:t>CDEBFHIJGAMLONK</a:t>
            </a:r>
            <a:r>
              <a:rPr lang="zh-CN" altLang="en-US">
                <a:solidFill>
                  <a:srgbClr val="000000"/>
                </a:solidFill>
                <a:latin typeface="宋体" panose="02010600030101010101" pitchFamily="2" charset="-122"/>
                <a:ea typeface="宋体" panose="02010600030101010101" pitchFamily="2" charset="-122"/>
              </a:rPr>
              <a:t>，</a:t>
            </a:r>
            <a:r>
              <a:rPr lang="en-US" altLang="zh-CN">
                <a:solidFill>
                  <a:srgbClr val="000000"/>
                </a:solidFill>
                <a:latin typeface="宋体" panose="02010600030101010101" pitchFamily="2" charset="-122"/>
                <a:ea typeface="宋体" panose="02010600030101010101" pitchFamily="2" charset="-122"/>
              </a:rPr>
              <a:t> </a:t>
            </a:r>
            <a:r>
              <a:rPr lang="zh-CN" altLang="en-US">
                <a:solidFill>
                  <a:srgbClr val="000000"/>
                </a:solidFill>
                <a:latin typeface="宋体" panose="02010600030101010101" pitchFamily="2" charset="-122"/>
                <a:ea typeface="宋体" panose="02010600030101010101" pitchFamily="2" charset="-122"/>
              </a:rPr>
              <a:t>请构造出该森林。</a:t>
            </a:r>
          </a:p>
        </p:txBody>
      </p:sp>
      <p:sp>
        <p:nvSpPr>
          <p:cNvPr id="8" name="文本框 7"/>
          <p:cNvSpPr txBox="1"/>
          <p:nvPr/>
        </p:nvSpPr>
        <p:spPr>
          <a:xfrm>
            <a:off x="5658485" y="2501265"/>
            <a:ext cx="5584190" cy="1076325"/>
          </a:xfrm>
          <a:prstGeom prst="rect">
            <a:avLst/>
          </a:prstGeom>
        </p:spPr>
        <p:txBody>
          <a:bodyPr wrap="square">
            <a:spAutoFit/>
          </a:bodyPr>
          <a:lstStyle/>
          <a:p>
            <a:r>
              <a:rPr lang="zh-CN" altLang="en-US" sz="1600" b="1">
                <a:solidFill>
                  <a:schemeClr val="tx1"/>
                </a:solidFill>
                <a:latin typeface="宋体" panose="02010600030101010101" pitchFamily="2" charset="-122"/>
                <a:ea typeface="宋体" panose="02010600030101010101" pitchFamily="2" charset="-122"/>
              </a:rPr>
              <a:t>中序遍历</a:t>
            </a:r>
            <a:r>
              <a:rPr lang="zh-CN" altLang="en-US" sz="1600">
                <a:latin typeface="宋体" panose="02010600030101010101" pitchFamily="2" charset="-122"/>
                <a:ea typeface="宋体" panose="02010600030101010101" pitchFamily="2" charset="-122"/>
              </a:rPr>
              <a:t>按照</a:t>
            </a:r>
            <a:r>
              <a:rPr lang="zh-CN" altLang="en-US" sz="1600" b="1" u="sng">
                <a:latin typeface="宋体" panose="02010600030101010101" pitchFamily="2" charset="-122"/>
                <a:ea typeface="宋体" panose="02010600030101010101" pitchFamily="2" charset="-122"/>
              </a:rPr>
              <a:t>左子树、根节点、右子树</a:t>
            </a:r>
            <a:r>
              <a:rPr lang="zh-CN" altLang="en-US" sz="1600">
                <a:latin typeface="宋体" panose="02010600030101010101" pitchFamily="2" charset="-122"/>
                <a:ea typeface="宋体" panose="02010600030101010101" pitchFamily="2" charset="-122"/>
              </a:rPr>
              <a:t>的顺序遍历二叉树。因此，中序遍历可以帮助我们在树中找出每个结点的左右子树的结构。</a:t>
            </a: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中序遍历提供了关于树</a:t>
            </a:r>
            <a:r>
              <a:rPr lang="zh-CN" altLang="en-US" sz="1600">
                <a:latin typeface="宋体" panose="02010600030101010101" pitchFamily="2" charset="-122"/>
                <a:ea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rPr>
              <a:t>之间相对顺序的关键信息，并且能够明确划分每个</a:t>
            </a:r>
            <a:r>
              <a:rPr lang="zh-CN" altLang="en-US" sz="1600">
                <a:latin typeface="宋体" panose="02010600030101010101" pitchFamily="2" charset="-122"/>
                <a:ea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rPr>
              <a:t>的左右子树。</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4975" y="423545"/>
            <a:ext cx="10952480" cy="1547495"/>
          </a:xfrm>
          <a:prstGeom prst="rect">
            <a:avLst/>
          </a:prstGeom>
        </p:spPr>
        <p:txBody>
          <a:bodyPr wrap="square">
            <a:noAutofit/>
          </a:bodyPr>
          <a:lstStyle/>
          <a:p>
            <a:pPr>
              <a:spcAft>
                <a:spcPct val="60000"/>
              </a:spcAft>
            </a:pPr>
            <a:r>
              <a:rPr lang="zh-CN" altLang="en-US" sz="2000" b="1">
                <a:latin typeface="宋体" panose="02010600030101010101" pitchFamily="2" charset="-122"/>
                <a:ea typeface="宋体" panose="02010600030101010101" pitchFamily="2" charset="-122"/>
                <a:cs typeface="宋体" panose="02010600030101010101" pitchFamily="2" charset="-122"/>
              </a:rPr>
              <a:t>前序遍历 </a:t>
            </a:r>
            <a:r>
              <a:rPr lang="en-US" altLang="zh-CN" sz="2000" b="1">
                <a:latin typeface="宋体" panose="02010600030101010101" pitchFamily="2" charset="-122"/>
                <a:ea typeface="宋体" panose="02010600030101010101" pitchFamily="2" charset="-122"/>
                <a:cs typeface="宋体" panose="02010600030101010101" pitchFamily="2" charset="-122"/>
              </a:rPr>
              <a:t>+ </a:t>
            </a:r>
            <a:r>
              <a:rPr lang="zh-CN" altLang="en-US" sz="2000" b="1">
                <a:latin typeface="宋体" panose="02010600030101010101" pitchFamily="2" charset="-122"/>
                <a:ea typeface="宋体" panose="02010600030101010101" pitchFamily="2" charset="-122"/>
                <a:cs typeface="宋体" panose="02010600030101010101" pitchFamily="2" charset="-122"/>
              </a:rPr>
              <a:t>中序遍历</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cs typeface="宋体" panose="02010600030101010101" pitchFamily="2" charset="-122"/>
              </a:rPr>
              <a:t>前序遍历的顺序是根结点 </a:t>
            </a:r>
            <a:r>
              <a:rPr lang="en-US" altLang="zh-CN" sz="1600">
                <a:latin typeface="Arial" panose="020B0604020202020204" pitchFamily="34" charset="0"/>
                <a:ea typeface="宋体" panose="02010600030101010101" pitchFamily="2" charset="-122"/>
                <a:cs typeface="Arial" panose="020B0604020202020204" pitchFamily="34" charset="0"/>
              </a:rPr>
              <a:t>→</a:t>
            </a:r>
            <a:r>
              <a:rPr lang="en-US" altLang="zh-CN" sz="1600">
                <a:latin typeface="宋体" panose="02010600030101010101" pitchFamily="2" charset="-122"/>
                <a:ea typeface="宋体" panose="02010600030101010101" pitchFamily="2" charset="-122"/>
                <a:cs typeface="宋体" panose="02010600030101010101" pitchFamily="2" charset="-122"/>
              </a:rPr>
              <a:t> </a:t>
            </a:r>
            <a:r>
              <a:rPr lang="zh-CN" altLang="en-US" sz="1600">
                <a:latin typeface="宋体" panose="02010600030101010101" pitchFamily="2" charset="-122"/>
                <a:ea typeface="宋体" panose="02010600030101010101" pitchFamily="2" charset="-122"/>
                <a:cs typeface="宋体" panose="02010600030101010101" pitchFamily="2" charset="-122"/>
              </a:rPr>
              <a:t>左子树 </a:t>
            </a:r>
            <a:r>
              <a:rPr lang="en-US" altLang="zh-CN" sz="1600">
                <a:latin typeface="Arial" panose="020B0604020202020204" pitchFamily="34" charset="0"/>
                <a:ea typeface="宋体" panose="02010600030101010101" pitchFamily="2" charset="-122"/>
                <a:cs typeface="Arial" panose="020B0604020202020204" pitchFamily="34" charset="0"/>
              </a:rPr>
              <a:t>→</a:t>
            </a:r>
            <a:r>
              <a:rPr lang="en-US" altLang="zh-CN" sz="1600">
                <a:latin typeface="宋体" panose="02010600030101010101" pitchFamily="2" charset="-122"/>
                <a:ea typeface="宋体" panose="02010600030101010101" pitchFamily="2" charset="-122"/>
                <a:cs typeface="宋体" panose="02010600030101010101" pitchFamily="2" charset="-122"/>
              </a:rPr>
              <a:t> </a:t>
            </a:r>
            <a:r>
              <a:rPr lang="zh-CN" altLang="en-US" sz="1600">
                <a:latin typeface="宋体" panose="02010600030101010101" pitchFamily="2" charset="-122"/>
                <a:ea typeface="宋体" panose="02010600030101010101" pitchFamily="2" charset="-122"/>
                <a:cs typeface="宋体" panose="02010600030101010101" pitchFamily="2" charset="-122"/>
              </a:rPr>
              <a:t>右子树，我们可以</a:t>
            </a:r>
            <a:r>
              <a:rPr lang="zh-CN" altLang="en-US" sz="1600" b="1">
                <a:latin typeface="宋体" panose="02010600030101010101" pitchFamily="2" charset="-122"/>
                <a:ea typeface="宋体" panose="02010600030101010101" pitchFamily="2" charset="-122"/>
                <a:cs typeface="宋体" panose="02010600030101010101" pitchFamily="2" charset="-122"/>
              </a:rPr>
              <a:t>从前序遍历中直接获取根结点</a:t>
            </a:r>
            <a:r>
              <a:rPr lang="zh-CN" altLang="en-US" sz="1600">
                <a:latin typeface="宋体" panose="02010600030101010101" pitchFamily="2" charset="-122"/>
                <a:ea typeface="宋体" panose="02010600030101010101" pitchFamily="2" charset="-122"/>
                <a:cs typeface="宋体" panose="02010600030101010101" pitchFamily="2" charset="-122"/>
              </a:rPr>
              <a:t>。</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cs typeface="宋体" panose="02010600030101010101" pitchFamily="2" charset="-122"/>
              </a:rPr>
              <a:t>结合中序遍历，我们知道该根</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cs typeface="宋体" panose="02010600030101010101" pitchFamily="2" charset="-122"/>
              </a:rPr>
              <a:t>在中序遍历中的位置，进而可以通过</a:t>
            </a:r>
            <a:r>
              <a:rPr lang="zh-CN" altLang="en-US" sz="1600" b="1">
                <a:latin typeface="宋体" panose="02010600030101010101" pitchFamily="2" charset="-122"/>
                <a:ea typeface="宋体" panose="02010600030101010101" pitchFamily="2" charset="-122"/>
                <a:cs typeface="宋体" panose="02010600030101010101" pitchFamily="2" charset="-122"/>
              </a:rPr>
              <a:t>分割中序遍历得到左子树和右子树的</a:t>
            </a:r>
            <a:r>
              <a:rPr lang="zh-CN" altLang="en-US" sz="1600" b="1">
                <a:latin typeface="宋体" panose="02010600030101010101" pitchFamily="2" charset="-122"/>
                <a:ea typeface="宋体" panose="02010600030101010101" pitchFamily="2" charset="-122"/>
                <a:cs typeface="宋体" panose="02010600030101010101" pitchFamily="2" charset="-122"/>
                <a:sym typeface="+mn-ea"/>
              </a:rPr>
              <a:t>结点</a:t>
            </a:r>
            <a:r>
              <a:rPr lang="zh-CN" altLang="en-US" sz="1600">
                <a:latin typeface="宋体" panose="02010600030101010101" pitchFamily="2" charset="-122"/>
                <a:ea typeface="宋体" panose="02010600030101010101" pitchFamily="2" charset="-122"/>
                <a:cs typeface="宋体" panose="02010600030101010101" pitchFamily="2" charset="-122"/>
              </a:rPr>
              <a:t>。</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cs typeface="宋体" panose="02010600030101010101" pitchFamily="2" charset="-122"/>
              </a:rPr>
              <a:t>递归构建路径：一旦知道根节点，剩下的树就是左右子树的问题，而中序遍历清晰地标明了左子树和右子树的节点。</a:t>
            </a:r>
          </a:p>
        </p:txBody>
      </p:sp>
      <p:sp>
        <p:nvSpPr>
          <p:cNvPr id="6" name="文本框 5"/>
          <p:cNvSpPr txBox="1"/>
          <p:nvPr/>
        </p:nvSpPr>
        <p:spPr>
          <a:xfrm>
            <a:off x="551180" y="1971357"/>
            <a:ext cx="5080000" cy="583565"/>
          </a:xfrm>
          <a:prstGeom prst="rect">
            <a:avLst/>
          </a:prstGeom>
        </p:spPr>
        <p:txBody>
          <a:bodyPr>
            <a:spAutoFit/>
          </a:bodyPr>
          <a:lstStyle/>
          <a:p>
            <a:r>
              <a:rPr lang="zh-CN" altLang="en-US" sz="1600">
                <a:latin typeface="Times New Roman" panose="02020603050405020304" pitchFamily="18" charset="0"/>
                <a:ea typeface="宋体" panose="02010600030101010101" pitchFamily="2" charset="-122"/>
                <a:cs typeface="Times New Roman" panose="02020603050405020304" pitchFamily="18" charset="0"/>
              </a:rPr>
              <a:t>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 </a:t>
            </a:r>
            <a:r>
              <a:rPr lang="en-US" altLang="zh-CN" sz="16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F C</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a:t>
            </a:r>
            <a:r>
              <a:rPr lang="en-US" altLang="zh-CN" sz="16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B D E C F</a:t>
            </a:r>
          </a:p>
        </p:txBody>
      </p:sp>
      <p:sp>
        <p:nvSpPr>
          <p:cNvPr id="8" name="文本框 7"/>
          <p:cNvSpPr txBox="1"/>
          <p:nvPr/>
        </p:nvSpPr>
        <p:spPr>
          <a:xfrm>
            <a:off x="539115" y="2809240"/>
            <a:ext cx="10129520" cy="1173480"/>
          </a:xfrm>
          <a:prstGeom prst="rect">
            <a:avLst/>
          </a:prstGeom>
        </p:spPr>
        <p:txBody>
          <a:bodyPr wrap="square">
            <a:spAutoFit/>
          </a:bodyPr>
          <a:lstStyle/>
          <a:p>
            <a:pPr>
              <a:lnSpc>
                <a:spcPct val="110000"/>
              </a:lnSpc>
            </a:pPr>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：前序遍历的第一个节点是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zh-CN" altLang="en-US" sz="1600">
                <a:latin typeface="Times New Roman" panose="02020603050405020304" pitchFamily="18" charset="0"/>
                <a:ea typeface="宋体" panose="02010600030101010101" pitchFamily="2" charset="-122"/>
                <a:cs typeface="Times New Roman" panose="02020603050405020304" pitchFamily="18" charset="0"/>
              </a:rPr>
              <a:t>，所以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是根节点。</a:t>
            </a:r>
          </a:p>
          <a:p>
            <a:pPr>
              <a:lnSpc>
                <a:spcPct val="110000"/>
              </a:lnSpc>
            </a:pPr>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：在中序遍历中，</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的左子树是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C}</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pPr>
              <a:lnSpc>
                <a:spcPct val="110000"/>
              </a:lnSpc>
            </a:pPr>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：在前序遍历中，接下来的节点 </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是左子树的根节点，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是右子树的根节点，进一步递归下去，直到整个树的结构完整。</a:t>
            </a:r>
          </a:p>
        </p:txBody>
      </p:sp>
      <p:cxnSp>
        <p:nvCxnSpPr>
          <p:cNvPr id="14" name="直线箭头连接符 11"/>
          <p:cNvCxnSpPr>
            <a:stCxn id="18" idx="4"/>
            <a:endCxn id="22" idx="7"/>
          </p:cNvCxnSpPr>
          <p:nvPr/>
        </p:nvCxnSpPr>
        <p:spPr>
          <a:xfrm flipH="1">
            <a:off x="5653532" y="4809122"/>
            <a:ext cx="63119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6066155" y="437324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5281295"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6764020"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4" name="椭圆 23"/>
          <p:cNvSpPr/>
          <p:nvPr/>
        </p:nvSpPr>
        <p:spPr>
          <a:xfrm>
            <a:off x="4845050" y="568261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5" name="椭圆 24"/>
          <p:cNvSpPr/>
          <p:nvPr/>
        </p:nvSpPr>
        <p:spPr>
          <a:xfrm>
            <a:off x="5629910" y="56927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sp>
        <p:nvSpPr>
          <p:cNvPr id="26" name="椭圆 25"/>
          <p:cNvSpPr/>
          <p:nvPr/>
        </p:nvSpPr>
        <p:spPr>
          <a:xfrm>
            <a:off x="6327775" y="56927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cxnSp>
        <p:nvCxnSpPr>
          <p:cNvPr id="29" name="直线箭头连接符 11"/>
          <p:cNvCxnSpPr>
            <a:endCxn id="23" idx="1"/>
          </p:cNvCxnSpPr>
          <p:nvPr/>
        </p:nvCxnSpPr>
        <p:spPr>
          <a:xfrm>
            <a:off x="6308852" y="4809122"/>
            <a:ext cx="51943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5217287" y="5440312"/>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5499862" y="5440312"/>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7"/>
          </p:cNvCxnSpPr>
          <p:nvPr/>
        </p:nvCxnSpPr>
        <p:spPr>
          <a:xfrm flipH="1">
            <a:off x="6700012" y="5440312"/>
            <a:ext cx="282575"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1775" y="363855"/>
            <a:ext cx="10923905" cy="3065145"/>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后序遍历 </a:t>
            </a:r>
            <a:r>
              <a:rPr lang="en-US" altLang="zh-CN" sz="2000" b="1">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a:latin typeface="Times New Roman" panose="02020603050405020304" pitchFamily="18" charset="0"/>
                <a:ea typeface="宋体" panose="02010600030101010101" pitchFamily="2" charset="-122"/>
                <a:cs typeface="Times New Roman" panose="02020603050405020304" pitchFamily="18" charset="0"/>
              </a:rPr>
              <a:t>中序遍历</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后序遍历的顺序是左子树 </a:t>
            </a:r>
            <a:r>
              <a:rPr lang="en-US" altLang="zh-CN" sz="1600">
                <a:latin typeface="Times New Roman" panose="02020603050405020304" pitchFamily="18" charset="0"/>
                <a:ea typeface="宋体" panose="02010600030101010101" pitchFamily="2" charset="-122"/>
                <a:cs typeface="Times New Roman" panose="02020603050405020304" pitchFamily="18" charset="0"/>
              </a:rPr>
              <a:t>-&gt; </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 </a:t>
            </a:r>
            <a:r>
              <a:rPr lang="en-US" altLang="zh-CN" sz="1600">
                <a:latin typeface="Times New Roman" panose="02020603050405020304" pitchFamily="18" charset="0"/>
                <a:ea typeface="宋体" panose="02010600030101010101" pitchFamily="2" charset="-122"/>
                <a:cs typeface="Times New Roman" panose="02020603050405020304" pitchFamily="18" charset="0"/>
              </a:rPr>
              <a:t>-&gt;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根节点，这意味着我们可以通过后序遍历的最后一个节点来确定根节点。</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结合中序遍历，我们同样可以通过根节点在中序遍历中的位置来分割树，进一步递归地确定左右子树。</a:t>
            </a:r>
          </a:p>
          <a:p>
            <a:pPr>
              <a:buFont typeface="Arial" panose="020B0604020202020204"/>
              <a:buChar char="•"/>
            </a:pP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pPr>
              <a:buFont typeface="Arial" panose="020B0604020202020204"/>
              <a:buChar char="•"/>
            </a:pP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 </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F C</a:t>
            </a: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E B F C </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a:p>
            <a:pPr>
              <a:buFont typeface="Arial" panose="020B0604020202020204"/>
              <a:buChar char="•"/>
            </a:pP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：后序遍历的最后一个节点是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zh-CN" altLang="en-US" sz="1600">
                <a:latin typeface="Times New Roman" panose="02020603050405020304" pitchFamily="18" charset="0"/>
                <a:ea typeface="宋体" panose="02010600030101010101" pitchFamily="2" charset="-122"/>
                <a:cs typeface="Times New Roman" panose="02020603050405020304" pitchFamily="18" charset="0"/>
              </a:rPr>
              <a:t>，所以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是根节点。</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：在中序遍历中，</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的左子树是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C}</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a:latin typeface="Times New Roman" panose="02020603050405020304" pitchFamily="18" charset="0"/>
                <a:ea typeface="宋体" panose="02010600030101010101" pitchFamily="2" charset="-122"/>
                <a:cs typeface="Times New Roman" panose="02020603050405020304" pitchFamily="18" charset="0"/>
              </a:rPr>
              <a:t>：在后序遍历中，接下来的节点 </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是左子树的根节点，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是右子树的根节点。递归下去，最终还原出整棵树。</a:t>
            </a:r>
          </a:p>
        </p:txBody>
      </p:sp>
      <p:cxnSp>
        <p:nvCxnSpPr>
          <p:cNvPr id="14" name="直线箭头连接符 11"/>
          <p:cNvCxnSpPr>
            <a:stCxn id="18" idx="4"/>
            <a:endCxn id="22" idx="7"/>
          </p:cNvCxnSpPr>
          <p:nvPr/>
        </p:nvCxnSpPr>
        <p:spPr>
          <a:xfrm flipH="1">
            <a:off x="4170807" y="4120782"/>
            <a:ext cx="63119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4583430" y="36849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3798570" y="43160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5281295" y="43160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4" name="椭圆 23"/>
          <p:cNvSpPr/>
          <p:nvPr/>
        </p:nvSpPr>
        <p:spPr>
          <a:xfrm>
            <a:off x="3362325" y="49942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5" name="椭圆 24"/>
          <p:cNvSpPr/>
          <p:nvPr/>
        </p:nvSpPr>
        <p:spPr>
          <a:xfrm>
            <a:off x="4147185"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sp>
        <p:nvSpPr>
          <p:cNvPr id="26" name="椭圆 25"/>
          <p:cNvSpPr/>
          <p:nvPr/>
        </p:nvSpPr>
        <p:spPr>
          <a:xfrm>
            <a:off x="4845050" y="500443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cxnSp>
        <p:nvCxnSpPr>
          <p:cNvPr id="29" name="直线箭头连接符 11"/>
          <p:cNvCxnSpPr>
            <a:endCxn id="23" idx="1"/>
          </p:cNvCxnSpPr>
          <p:nvPr/>
        </p:nvCxnSpPr>
        <p:spPr>
          <a:xfrm>
            <a:off x="4826127" y="4120782"/>
            <a:ext cx="51943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3734562" y="4751972"/>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4017137" y="4751972"/>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7"/>
          </p:cNvCxnSpPr>
          <p:nvPr/>
        </p:nvCxnSpPr>
        <p:spPr>
          <a:xfrm flipH="1">
            <a:off x="5217287" y="4751972"/>
            <a:ext cx="282575"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611505" y="5523865"/>
            <a:ext cx="10340975" cy="1151255"/>
          </a:xfrm>
          <a:prstGeom prst="roundRect">
            <a:avLst>
              <a:gd name="adj" fmla="val 7317"/>
            </a:avLst>
          </a:prstGeom>
          <a:solidFill>
            <a:schemeClr val="accent1">
              <a:lumMod val="20000"/>
              <a:lumOff val="8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348615" y="129540"/>
            <a:ext cx="10603865" cy="3065145"/>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层次遍历 </a:t>
            </a:r>
            <a:r>
              <a:rPr lang="en-US" altLang="zh-CN" sz="2000" b="1">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a:latin typeface="Times New Roman" panose="02020603050405020304" pitchFamily="18" charset="0"/>
                <a:ea typeface="宋体" panose="02010600030101010101" pitchFamily="2" charset="-122"/>
                <a:cs typeface="Times New Roman" panose="02020603050405020304" pitchFamily="18" charset="0"/>
              </a:rPr>
              <a:t>中序遍历</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层次遍历是从上到下、从左到右的顺序依次遍历节点，反映了节点的父子关系。通过层次遍历，</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我们能够得知树的层级顺序以及每个节点的父节点</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pPr>
              <a:buFont typeface="Arial" panose="020B0604020202020204"/>
              <a:buChar char="•"/>
            </a:pPr>
            <a:r>
              <a:rPr lang="zh-CN" altLang="en-US" sz="1600">
                <a:latin typeface="Times New Roman" panose="02020603050405020304" pitchFamily="18" charset="0"/>
                <a:ea typeface="宋体" panose="02010600030101010101" pitchFamily="2" charset="-122"/>
                <a:cs typeface="Times New Roman" panose="02020603050405020304" pitchFamily="18" charset="0"/>
              </a:rPr>
              <a:t>结合中序遍历，能够帮助我们划分左右子树，进而确定树的结构。</a:t>
            </a:r>
          </a:p>
          <a:p>
            <a:pPr indent="0">
              <a:buNone/>
            </a:pP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 </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F C</a:t>
            </a:r>
          </a:p>
          <a:p>
            <a:pPr indent="0">
              <a:buNone/>
            </a:pP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a:latin typeface="Times New Roman" panose="02020603050405020304" pitchFamily="18" charset="0"/>
                <a:ea typeface="宋体" panose="02010600030101010101" pitchFamily="2" charset="-122"/>
                <a:cs typeface="Times New Roman" panose="02020603050405020304" pitchFamily="18" charset="0"/>
              </a:rPr>
              <a:t> B C D E F</a:t>
            </a:r>
          </a:p>
          <a:p>
            <a:pPr indent="0">
              <a:buFont typeface="Arial" panose="020B0604020202020204"/>
              <a:buNone/>
            </a:pP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：层次遍历的第一个节点是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a:t>
            </a:r>
            <a:r>
              <a:rPr lang="zh-CN" altLang="en-US" sz="1600">
                <a:latin typeface="Times New Roman" panose="02020603050405020304" pitchFamily="18" charset="0"/>
                <a:ea typeface="宋体" panose="02010600030101010101" pitchFamily="2" charset="-122"/>
                <a:cs typeface="Times New Roman" panose="02020603050405020304" pitchFamily="18" charset="0"/>
              </a:rPr>
              <a:t>，所以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是根节点。</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a:latin typeface="Times New Roman" panose="02020603050405020304" pitchFamily="18" charset="0"/>
                <a:ea typeface="宋体" panose="02010600030101010101" pitchFamily="2" charset="-122"/>
                <a:cs typeface="Times New Roman" panose="02020603050405020304" pitchFamily="18" charset="0"/>
              </a:rPr>
              <a:t>：根据中序遍历，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的左子树是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B, E}</a:t>
            </a:r>
            <a:r>
              <a:rPr lang="zh-CN" altLang="en-US" sz="1600">
                <a:latin typeface="Times New Roman" panose="02020603050405020304" pitchFamily="18" charset="0"/>
                <a:ea typeface="宋体" panose="02010600030101010101" pitchFamily="2" charset="-122"/>
                <a:cs typeface="Times New Roman" panose="02020603050405020304" pitchFamily="18" charset="0"/>
              </a:rPr>
              <a:t>，右子树是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C}</a:t>
            </a:r>
            <a:r>
              <a:rPr lang="zh-CN" altLang="en-US" sz="1600">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步骤 </a:t>
            </a:r>
            <a:r>
              <a:rPr lang="en-US" altLang="zh-CN" sz="1600">
                <a:latin typeface="Times New Roman" panose="02020603050405020304" pitchFamily="18" charset="0"/>
                <a:ea typeface="宋体" panose="02010600030101010101" pitchFamily="2" charset="-122"/>
                <a:cs typeface="Times New Roman" panose="02020603050405020304" pitchFamily="18" charset="0"/>
              </a:rPr>
              <a:t>3</a:t>
            </a: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：层次遍历中，</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和 </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的子节点，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D </a:t>
            </a:r>
            <a:r>
              <a:rPr lang="zh-CN" altLang="en-US" sz="1600">
                <a:latin typeface="Times New Roman" panose="02020603050405020304" pitchFamily="18" charset="0"/>
                <a:ea typeface="宋体" panose="02010600030101010101" pitchFamily="2" charset="-122"/>
                <a:cs typeface="Times New Roman" panose="02020603050405020304" pitchFamily="18" charset="0"/>
              </a:rPr>
              <a:t>和 </a:t>
            </a:r>
            <a:r>
              <a:rPr lang="en-US" altLang="zh-CN" sz="1600">
                <a:latin typeface="Times New Roman" panose="02020603050405020304" pitchFamily="18" charset="0"/>
                <a:ea typeface="宋体" panose="02010600030101010101" pitchFamily="2" charset="-122"/>
                <a:cs typeface="Times New Roman" panose="02020603050405020304" pitchFamily="18" charset="0"/>
              </a:rPr>
              <a:t>E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的子节点，</a:t>
            </a:r>
            <a:r>
              <a:rPr lang="en-US" altLang="zh-CN" sz="1600">
                <a:latin typeface="Times New Roman" panose="02020603050405020304" pitchFamily="18" charset="0"/>
                <a:ea typeface="宋体" panose="02010600030101010101" pitchFamily="2" charset="-122"/>
                <a:cs typeface="Times New Roman" panose="02020603050405020304" pitchFamily="18" charset="0"/>
              </a:rPr>
              <a:t>F </a:t>
            </a:r>
            <a:r>
              <a:rPr lang="zh-CN" altLang="en-US" sz="1600">
                <a:latin typeface="Times New Roman" panose="02020603050405020304" pitchFamily="18" charset="0"/>
                <a:ea typeface="宋体" panose="02010600030101010101" pitchFamily="2" charset="-122"/>
                <a:cs typeface="Times New Roman" panose="02020603050405020304" pitchFamily="18" charset="0"/>
              </a:rPr>
              <a:t>是 </a:t>
            </a:r>
            <a:r>
              <a:rPr lang="en-US" altLang="zh-CN" sz="1600">
                <a:latin typeface="Times New Roman" panose="02020603050405020304" pitchFamily="18" charset="0"/>
                <a:ea typeface="宋体" panose="02010600030101010101" pitchFamily="2" charset="-122"/>
                <a:cs typeface="Times New Roman" panose="02020603050405020304" pitchFamily="18" charset="0"/>
              </a:rPr>
              <a:t>C </a:t>
            </a:r>
            <a:r>
              <a:rPr lang="zh-CN" altLang="en-US" sz="1600">
                <a:latin typeface="Times New Roman" panose="02020603050405020304" pitchFamily="18" charset="0"/>
                <a:ea typeface="宋体" panose="02010600030101010101" pitchFamily="2" charset="-122"/>
                <a:cs typeface="Times New Roman" panose="02020603050405020304" pitchFamily="18" charset="0"/>
              </a:rPr>
              <a:t>的子节点，最终确定整个树的结构。</a:t>
            </a:r>
          </a:p>
        </p:txBody>
      </p:sp>
      <p:sp>
        <p:nvSpPr>
          <p:cNvPr id="6" name="文本框 5"/>
          <p:cNvSpPr txBox="1"/>
          <p:nvPr/>
        </p:nvSpPr>
        <p:spPr>
          <a:xfrm>
            <a:off x="710565" y="5645150"/>
            <a:ext cx="10242550" cy="909320"/>
          </a:xfrm>
          <a:prstGeom prst="rect">
            <a:avLst/>
          </a:prstGeom>
        </p:spPr>
        <p:txBody>
          <a:bodyPr wrap="square">
            <a:spAutoFit/>
          </a:bodyPr>
          <a:lstStyle/>
          <a:p>
            <a:r>
              <a:rPr lang="zh-CN" altLang="en-US" b="1">
                <a:latin typeface="宋体" panose="02010600030101010101" pitchFamily="2" charset="-122"/>
                <a:ea typeface="宋体" panose="02010600030101010101" pitchFamily="2" charset="-122"/>
              </a:rPr>
              <a:t>结合中序遍历和其他任意一种遍历（前序、后序或层次遍历）都能唯一确定一棵二叉树，原因在于：</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rPr>
              <a:t>中序遍历能够帮助我们清晰地知道每个节点的左右子树。</a:t>
            </a:r>
          </a:p>
          <a:p>
            <a:pPr>
              <a:lnSpc>
                <a:spcPct val="110000"/>
              </a:lnSpc>
              <a:buFont typeface="Arial" panose="020B0604020202020204"/>
              <a:buChar char="•"/>
            </a:pPr>
            <a:r>
              <a:rPr lang="zh-CN" altLang="en-US" sz="1600">
                <a:latin typeface="宋体" panose="02010600030101010101" pitchFamily="2" charset="-122"/>
                <a:ea typeface="宋体" panose="02010600030101010101" pitchFamily="2" charset="-122"/>
              </a:rPr>
              <a:t>其他遍历（前序、后序、层次遍历）能够提供足够的父子关系和层级信息，帮助我们进一步确定树的结构。</a:t>
            </a:r>
          </a:p>
        </p:txBody>
      </p:sp>
      <p:cxnSp>
        <p:nvCxnSpPr>
          <p:cNvPr id="14" name="直线箭头连接符 11"/>
          <p:cNvCxnSpPr>
            <a:stCxn id="18" idx="4"/>
            <a:endCxn id="22" idx="7"/>
          </p:cNvCxnSpPr>
          <p:nvPr/>
        </p:nvCxnSpPr>
        <p:spPr>
          <a:xfrm flipH="1">
            <a:off x="5086477" y="3836937"/>
            <a:ext cx="63119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5499100" y="340106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4714240" y="403225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6196965" y="403225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4" name="椭圆 23"/>
          <p:cNvSpPr/>
          <p:nvPr/>
        </p:nvSpPr>
        <p:spPr>
          <a:xfrm>
            <a:off x="4277995" y="471043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5" name="椭圆 24"/>
          <p:cNvSpPr/>
          <p:nvPr/>
        </p:nvSpPr>
        <p:spPr>
          <a:xfrm>
            <a:off x="5062855" y="472059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sp>
        <p:nvSpPr>
          <p:cNvPr id="26" name="椭圆 25"/>
          <p:cNvSpPr/>
          <p:nvPr/>
        </p:nvSpPr>
        <p:spPr>
          <a:xfrm>
            <a:off x="5760720" y="472059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cxnSp>
        <p:nvCxnSpPr>
          <p:cNvPr id="29" name="直线箭头连接符 11"/>
          <p:cNvCxnSpPr>
            <a:endCxn id="23" idx="1"/>
          </p:cNvCxnSpPr>
          <p:nvPr/>
        </p:nvCxnSpPr>
        <p:spPr>
          <a:xfrm>
            <a:off x="5741797" y="3836937"/>
            <a:ext cx="51943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4650232" y="4468127"/>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4932807" y="4468127"/>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7"/>
          </p:cNvCxnSpPr>
          <p:nvPr/>
        </p:nvCxnSpPr>
        <p:spPr>
          <a:xfrm flipH="1">
            <a:off x="6132957" y="4468127"/>
            <a:ext cx="282575"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8168640" y="4485005"/>
            <a:ext cx="3896360" cy="2208530"/>
          </a:xfrm>
          <a:prstGeom prst="roundRect">
            <a:avLst>
              <a:gd name="adj" fmla="val 7317"/>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454660" y="333375"/>
            <a:ext cx="10302875" cy="1574800"/>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前序遍历和后序遍历组合</a:t>
            </a: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前序遍历可以给出根节点，但后序遍历没有明确的区分左右子树的界限，因此，可能会存在不同的二叉树结构。</a:t>
            </a:r>
          </a:p>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B C</a:t>
            </a: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B C A</a:t>
            </a:r>
            <a:endParaRPr lang="zh-CN" altLang="en-US" sz="1600" b="1" u="sng">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p:cNvSpPr txBox="1"/>
          <p:nvPr/>
        </p:nvSpPr>
        <p:spPr>
          <a:xfrm>
            <a:off x="454660" y="2129155"/>
            <a:ext cx="11282045" cy="1728470"/>
          </a:xfrm>
          <a:prstGeom prst="rect">
            <a:avLst/>
          </a:prstGeom>
        </p:spPr>
        <p:txBody>
          <a:bodyPr wrap="square">
            <a:spAutoFit/>
          </a:bodyPr>
          <a:lstStyle/>
          <a:p>
            <a:pPr>
              <a:spcAft>
                <a:spcPct val="60000"/>
              </a:spcAft>
            </a:pPr>
            <a:r>
              <a:rPr lang="zh-CN" altLang="en-US" sz="2000" b="1">
                <a:latin typeface="Times New Roman" panose="02020603050405020304" pitchFamily="18" charset="0"/>
                <a:ea typeface="宋体" panose="02010600030101010101" pitchFamily="2" charset="-122"/>
                <a:cs typeface="Times New Roman" panose="02020603050405020304" pitchFamily="18" charset="0"/>
              </a:rPr>
              <a:t>前序遍历和层次遍历组合</a:t>
            </a:r>
          </a:p>
          <a:p>
            <a:pPr>
              <a:spcAft>
                <a:spcPct val="60000"/>
              </a:spcAft>
            </a:pPr>
            <a:r>
              <a:rPr lang="zh-CN" altLang="en-US" sz="1600">
                <a:latin typeface="Times New Roman" panose="02020603050405020304" pitchFamily="18" charset="0"/>
                <a:ea typeface="宋体" panose="02010600030101010101" pitchFamily="2" charset="-122"/>
                <a:cs typeface="Times New Roman" panose="02020603050405020304" pitchFamily="18" charset="0"/>
              </a:rPr>
              <a:t>虽然前序遍历能给出根节点的位置，但层次遍历提供的信息过于宽泛，可能导致不同的二叉树结构。层次遍历可能不能唯一地决定左右子树的划分。</a:t>
            </a:r>
          </a:p>
          <a:p>
            <a:pPr>
              <a:lnSpc>
                <a:spcPct val="100000"/>
              </a:lnSpc>
              <a:spcBef>
                <a:spcPts val="0"/>
              </a:spcBef>
              <a:spcAft>
                <a:spcPts val="0"/>
              </a:spcAft>
            </a:pPr>
            <a:r>
              <a:rPr lang="zh-CN" altLang="en-US" sz="1600">
                <a:latin typeface="Times New Roman" panose="02020603050405020304" pitchFamily="18" charset="0"/>
                <a:ea typeface="宋体" panose="02010600030101010101" pitchFamily="2" charset="-122"/>
                <a:cs typeface="Times New Roman" panose="02020603050405020304" pitchFamily="18" charset="0"/>
              </a:rPr>
              <a:t>前序遍历：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B C</a:t>
            </a:r>
          </a:p>
          <a:p>
            <a:pPr>
              <a:lnSpc>
                <a:spcPct val="100000"/>
              </a:lnSpc>
              <a:spcBef>
                <a:spcPts val="0"/>
              </a:spcBef>
              <a:spcAft>
                <a:spcPts val="0"/>
              </a:spcAft>
            </a:pPr>
            <a:r>
              <a:rPr lang="zh-CN" altLang="en-US" sz="1600">
                <a:latin typeface="Times New Roman" panose="02020603050405020304" pitchFamily="18" charset="0"/>
                <a:ea typeface="宋体" panose="02010600030101010101" pitchFamily="2" charset="-122"/>
                <a:cs typeface="Times New Roman" panose="02020603050405020304" pitchFamily="18" charset="0"/>
              </a:rPr>
              <a:t>层次遍历：</a:t>
            </a:r>
            <a:r>
              <a:rPr lang="en-US" altLang="zh-CN" sz="1600">
                <a:latin typeface="Times New Roman" panose="02020603050405020304" pitchFamily="18" charset="0"/>
                <a:ea typeface="宋体" panose="02010600030101010101" pitchFamily="2" charset="-122"/>
                <a:cs typeface="Times New Roman" panose="02020603050405020304" pitchFamily="18" charset="0"/>
              </a:rPr>
              <a:t>A B C</a:t>
            </a:r>
          </a:p>
        </p:txBody>
      </p:sp>
      <p:cxnSp>
        <p:nvCxnSpPr>
          <p:cNvPr id="14" name="直线箭头连接符 11"/>
          <p:cNvCxnSpPr>
            <a:stCxn id="18" idx="4"/>
            <a:endCxn id="22" idx="7"/>
          </p:cNvCxnSpPr>
          <p:nvPr/>
        </p:nvCxnSpPr>
        <p:spPr>
          <a:xfrm flipH="1">
            <a:off x="8801227" y="5272672"/>
            <a:ext cx="38862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8971280" y="48367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8428990" y="54679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9471660" y="54679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cxnSp>
        <p:nvCxnSpPr>
          <p:cNvPr id="29" name="直线箭头连接符 11"/>
          <p:cNvCxnSpPr>
            <a:stCxn id="18" idx="4"/>
            <a:endCxn id="23" idx="1"/>
          </p:cNvCxnSpPr>
          <p:nvPr/>
        </p:nvCxnSpPr>
        <p:spPr>
          <a:xfrm>
            <a:off x="9189847" y="5272672"/>
            <a:ext cx="346075"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线箭头连接符 11"/>
          <p:cNvCxnSpPr>
            <a:stCxn id="12" idx="4"/>
            <a:endCxn id="13" idx="7"/>
          </p:cNvCxnSpPr>
          <p:nvPr/>
        </p:nvCxnSpPr>
        <p:spPr>
          <a:xfrm flipH="1">
            <a:off x="11220577" y="5183772"/>
            <a:ext cx="218440" cy="2590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1220450" y="474789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13" name="椭圆 12"/>
          <p:cNvSpPr/>
          <p:nvPr/>
        </p:nvSpPr>
        <p:spPr>
          <a:xfrm>
            <a:off x="10848340" y="53790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15" name="椭圆 14"/>
          <p:cNvSpPr/>
          <p:nvPr/>
        </p:nvSpPr>
        <p:spPr>
          <a:xfrm>
            <a:off x="11220450" y="60737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cxnSp>
        <p:nvCxnSpPr>
          <p:cNvPr id="17" name="直线箭头连接符 11"/>
          <p:cNvCxnSpPr>
            <a:stCxn id="13" idx="4"/>
            <a:endCxn id="15" idx="1"/>
          </p:cNvCxnSpPr>
          <p:nvPr/>
        </p:nvCxnSpPr>
        <p:spPr>
          <a:xfrm>
            <a:off x="11066907" y="5814962"/>
            <a:ext cx="217805" cy="3225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8721725" y="4150360"/>
            <a:ext cx="2790825" cy="337185"/>
          </a:xfrm>
          <a:prstGeom prst="rect">
            <a:avLst/>
          </a:prstGeom>
          <a:noFill/>
        </p:spPr>
        <p:txBody>
          <a:bodyPr wrap="square" rtlCol="0" anchor="t">
            <a:spAutoFit/>
          </a:bodyPr>
          <a:lstStyle/>
          <a:p>
            <a:r>
              <a:rPr lang="zh-CN" altLang="en-US" sz="1600" b="1" u="sng">
                <a:latin typeface="Times New Roman" panose="02020603050405020304" pitchFamily="18" charset="0"/>
                <a:ea typeface="宋体" panose="02010600030101010101" pitchFamily="2" charset="-122"/>
                <a:cs typeface="Times New Roman" panose="02020603050405020304" pitchFamily="18" charset="0"/>
                <a:sym typeface="+mn-ea"/>
              </a:rPr>
              <a:t>可以构造两棵不同的二叉树</a:t>
            </a:r>
          </a:p>
        </p:txBody>
      </p:sp>
      <p:sp>
        <p:nvSpPr>
          <p:cNvPr id="26" name="文本框 25"/>
          <p:cNvSpPr txBox="1"/>
          <p:nvPr/>
        </p:nvSpPr>
        <p:spPr>
          <a:xfrm>
            <a:off x="454660" y="4272915"/>
            <a:ext cx="6703695" cy="1938020"/>
          </a:xfrm>
          <a:prstGeom prst="rect">
            <a:avLst/>
          </a:prstGeom>
        </p:spPr>
        <p:txBody>
          <a:bodyPr wrap="square">
            <a:spAutoFit/>
          </a:bodyPr>
          <a:lstStyle/>
          <a:p>
            <a:r>
              <a:rPr lang="zh-CN" altLang="en-US" sz="2000" b="1">
                <a:latin typeface="Times New Roman" panose="02020603050405020304" pitchFamily="18" charset="0"/>
                <a:ea typeface="宋体" panose="02010600030101010101" pitchFamily="2" charset="-122"/>
                <a:cs typeface="Times New Roman" panose="02020603050405020304" pitchFamily="18" charset="0"/>
              </a:rPr>
              <a:t>后序遍历和层次遍历组合 </a:t>
            </a:r>
          </a:p>
          <a:p>
            <a:endParaRPr lang="zh-CN" altLang="en-US" sz="2000" b="1">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后序遍历和层次遍历都没有足够的信息来区分左右子树的位置。</a:t>
            </a:r>
          </a:p>
          <a:p>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rPr>
              <a:t>后序遍历：</a:t>
            </a:r>
            <a:r>
              <a:rPr lang="en-US" altLang="zh-CN" sz="1600">
                <a:latin typeface="Times New Roman" panose="02020603050405020304" pitchFamily="18" charset="0"/>
                <a:ea typeface="宋体" panose="02010600030101010101" pitchFamily="2" charset="-122"/>
                <a:cs typeface="Times New Roman" panose="02020603050405020304" pitchFamily="18" charset="0"/>
                <a:sym typeface="+mn-ea"/>
              </a:rPr>
              <a:t>B C A</a:t>
            </a: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rPr>
              <a:t>层次遍历：</a:t>
            </a:r>
            <a:r>
              <a:rPr lang="en-US" altLang="zh-CN" sz="1600">
                <a:latin typeface="Times New Roman" panose="02020603050405020304" pitchFamily="18" charset="0"/>
                <a:ea typeface="宋体" panose="02010600030101010101" pitchFamily="2" charset="-122"/>
                <a:cs typeface="Times New Roman" panose="02020603050405020304" pitchFamily="18" charset="0"/>
                <a:sym typeface="+mn-ea"/>
              </a:rPr>
              <a:t>A B C</a:t>
            </a:r>
            <a:endParaRPr lang="en-US" altLang="zh-CN" sz="160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latin typeface="Times New Roman" panose="02020603050405020304" pitchFamily="18" charset="0"/>
                <a:ea typeface="宋体" panose="02010600030101010101" pitchFamily="2" charset="-122"/>
                <a:cs typeface="Times New Roman" panose="02020603050405020304" pitchFamily="18" charset="0"/>
              </a:rPr>
              <a:t> </a:t>
            </a:r>
          </a:p>
        </p:txBody>
      </p:sp>
      <p:cxnSp>
        <p:nvCxnSpPr>
          <p:cNvPr id="28" name="直接连接符 27"/>
          <p:cNvCxnSpPr/>
          <p:nvPr/>
        </p:nvCxnSpPr>
        <p:spPr>
          <a:xfrm>
            <a:off x="86360" y="2028190"/>
            <a:ext cx="11882120" cy="0"/>
          </a:xfrm>
          <a:prstGeom prst="line">
            <a:avLst/>
          </a:prstGeom>
          <a:ln w="15875" cmpd="sng">
            <a:solidFill>
              <a:schemeClr val="tx1"/>
            </a:solidFill>
            <a:prstDash val="sysDash"/>
          </a:ln>
        </p:spPr>
        <p:style>
          <a:lnRef idx="2">
            <a:schemeClr val="accent1"/>
          </a:lnRef>
          <a:fillRef idx="0">
            <a:srgbClr val="FFFFFF"/>
          </a:fillRef>
          <a:effectRef idx="0">
            <a:srgbClr val="FFFFFF"/>
          </a:effectRef>
          <a:fontRef idx="minor">
            <a:schemeClr val="tx1"/>
          </a:fontRef>
        </p:style>
      </p:cxnSp>
      <p:cxnSp>
        <p:nvCxnSpPr>
          <p:cNvPr id="30" name="直接连接符 29"/>
          <p:cNvCxnSpPr/>
          <p:nvPr/>
        </p:nvCxnSpPr>
        <p:spPr>
          <a:xfrm>
            <a:off x="86360" y="4065270"/>
            <a:ext cx="11882120" cy="0"/>
          </a:xfrm>
          <a:prstGeom prst="line">
            <a:avLst/>
          </a:prstGeom>
          <a:ln w="15875" cmpd="sng">
            <a:solidFill>
              <a:schemeClr val="tx1"/>
            </a:solidFill>
            <a:prstDash val="sysDas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99110" y="351155"/>
            <a:ext cx="11155045" cy="645160"/>
          </a:xfrm>
          <a:prstGeom prst="rect">
            <a:avLst/>
          </a:prstGeom>
          <a:noFill/>
        </p:spPr>
        <p:txBody>
          <a:bodyPr wrap="square" rtlCol="0" anchor="t">
            <a:spAutoFit/>
          </a:bodyPr>
          <a:lstStyle/>
          <a:p>
            <a:r>
              <a:rPr lang="en-US" altLang="zh-CN">
                <a:solidFill>
                  <a:srgbClr val="000000"/>
                </a:solidFill>
                <a:latin typeface="Times New Roman" panose="02020603050405020304"/>
                <a:ea typeface="Times New Roman" panose="02020603050405020304"/>
                <a:sym typeface="+mn-ea"/>
              </a:rPr>
              <a:t>(2) </a:t>
            </a:r>
            <a:r>
              <a:rPr lang="zh-CN" altLang="en-US">
                <a:solidFill>
                  <a:srgbClr val="000000"/>
                </a:solidFill>
                <a:latin typeface="宋体" panose="02010600030101010101" pitchFamily="2" charset="-122"/>
                <a:ea typeface="宋体" panose="02010600030101010101" pitchFamily="2" charset="-122"/>
                <a:sym typeface="+mn-ea"/>
              </a:rPr>
              <a:t>已知一个森林的先根次序遍历序列和后根次序遍历序列分别为</a:t>
            </a:r>
            <a:r>
              <a:rPr lang="en-US" altLang="zh-CN">
                <a:solidFill>
                  <a:srgbClr val="000000"/>
                </a:solidFill>
                <a:latin typeface="Times New Roman" panose="02020603050405020304"/>
                <a:ea typeface="Times New Roman" panose="02020603050405020304"/>
                <a:sym typeface="+mn-ea"/>
              </a:rPr>
              <a:t>ABCDEFGHIJKLMNO </a:t>
            </a:r>
            <a:r>
              <a:rPr lang="zh-CN" altLang="en-US">
                <a:solidFill>
                  <a:srgbClr val="000000"/>
                </a:solidFill>
                <a:latin typeface="宋体" panose="02010600030101010101" pitchFamily="2" charset="-122"/>
                <a:ea typeface="宋体" panose="02010600030101010101" pitchFamily="2" charset="-122"/>
                <a:sym typeface="+mn-ea"/>
              </a:rPr>
              <a:t>和</a:t>
            </a:r>
            <a:r>
              <a:rPr lang="en-US" altLang="zh-CN">
                <a:solidFill>
                  <a:srgbClr val="000000"/>
                </a:solidFill>
                <a:latin typeface="宋体" panose="02010600030101010101" pitchFamily="2" charset="-122"/>
                <a:ea typeface="宋体" panose="02010600030101010101" pitchFamily="2" charset="-122"/>
                <a:sym typeface="+mn-ea"/>
              </a:rPr>
              <a:t> </a:t>
            </a:r>
            <a:r>
              <a:rPr lang="en-US" altLang="zh-CN">
                <a:solidFill>
                  <a:srgbClr val="000000"/>
                </a:solidFill>
                <a:latin typeface="Times New Roman" panose="02020603050405020304"/>
                <a:ea typeface="Times New Roman" panose="02020603050405020304"/>
                <a:sym typeface="+mn-ea"/>
              </a:rPr>
              <a:t>CDEBFHIJGAMLONK</a:t>
            </a:r>
            <a:r>
              <a:rPr lang="zh-CN" altLang="en-US">
                <a:solidFill>
                  <a:srgbClr val="000000"/>
                </a:solidFill>
                <a:latin typeface="宋体" panose="02010600030101010101" pitchFamily="2" charset="-122"/>
                <a:ea typeface="宋体" panose="02010600030101010101" pitchFamily="2" charset="-122"/>
                <a:sym typeface="+mn-ea"/>
              </a:rPr>
              <a:t>，</a:t>
            </a:r>
            <a:r>
              <a:rPr lang="en-US" altLang="zh-CN">
                <a:solidFill>
                  <a:srgbClr val="000000"/>
                </a:solidFill>
                <a:latin typeface="宋体" panose="02010600030101010101" pitchFamily="2" charset="-122"/>
                <a:ea typeface="宋体" panose="02010600030101010101" pitchFamily="2" charset="-122"/>
                <a:sym typeface="+mn-ea"/>
              </a:rPr>
              <a:t> </a:t>
            </a:r>
            <a:r>
              <a:rPr lang="zh-CN" altLang="en-US" b="1">
                <a:solidFill>
                  <a:srgbClr val="FF0000"/>
                </a:solidFill>
                <a:latin typeface="宋体" panose="02010600030101010101" pitchFamily="2" charset="-122"/>
                <a:ea typeface="宋体" panose="02010600030101010101" pitchFamily="2" charset="-122"/>
                <a:sym typeface="+mn-ea"/>
              </a:rPr>
              <a:t>请构造出该森林</a:t>
            </a:r>
          </a:p>
        </p:txBody>
      </p:sp>
      <p:pic>
        <p:nvPicPr>
          <p:cNvPr id="10" name="图片 9"/>
          <p:cNvPicPr>
            <a:picLocks noChangeAspect="1"/>
          </p:cNvPicPr>
          <p:nvPr/>
        </p:nvPicPr>
        <p:blipFill>
          <a:blip r:embed="rId2"/>
          <a:stretch>
            <a:fillRect/>
          </a:stretch>
        </p:blipFill>
        <p:spPr>
          <a:xfrm>
            <a:off x="2998470" y="996315"/>
            <a:ext cx="3686175" cy="2687955"/>
          </a:xfrm>
          <a:prstGeom prst="rect">
            <a:avLst/>
          </a:prstGeom>
        </p:spPr>
      </p:pic>
      <p:pic>
        <p:nvPicPr>
          <p:cNvPr id="11" name="图片 10"/>
          <p:cNvPicPr>
            <a:picLocks noChangeAspect="1"/>
          </p:cNvPicPr>
          <p:nvPr/>
        </p:nvPicPr>
        <p:blipFill>
          <a:blip r:embed="rId3"/>
          <a:stretch>
            <a:fillRect/>
          </a:stretch>
        </p:blipFill>
        <p:spPr>
          <a:xfrm>
            <a:off x="2920365" y="3783965"/>
            <a:ext cx="3971925" cy="3035935"/>
          </a:xfrm>
          <a:prstGeom prst="rect">
            <a:avLst/>
          </a:prstGeom>
        </p:spPr>
      </p:pic>
      <p:pic>
        <p:nvPicPr>
          <p:cNvPr id="12" name="图片 11"/>
          <p:cNvPicPr>
            <a:picLocks noChangeAspect="1"/>
          </p:cNvPicPr>
          <p:nvPr/>
        </p:nvPicPr>
        <p:blipFill>
          <a:blip r:embed="rId4"/>
          <a:stretch>
            <a:fillRect/>
          </a:stretch>
        </p:blipFill>
        <p:spPr>
          <a:xfrm>
            <a:off x="7329170" y="3822065"/>
            <a:ext cx="4004310" cy="2997835"/>
          </a:xfrm>
          <a:prstGeom prst="rect">
            <a:avLst/>
          </a:prstGeom>
        </p:spPr>
      </p:pic>
      <p:pic>
        <p:nvPicPr>
          <p:cNvPr id="13" name="图片 12"/>
          <p:cNvPicPr>
            <a:picLocks noChangeAspect="1"/>
          </p:cNvPicPr>
          <p:nvPr/>
        </p:nvPicPr>
        <p:blipFill>
          <a:blip r:embed="rId5"/>
          <a:stretch>
            <a:fillRect/>
          </a:stretch>
        </p:blipFill>
        <p:spPr>
          <a:xfrm>
            <a:off x="7197090" y="1010920"/>
            <a:ext cx="4155440" cy="2673350"/>
          </a:xfrm>
          <a:prstGeom prst="rect">
            <a:avLst/>
          </a:prstGeom>
        </p:spPr>
      </p:pic>
      <p:sp>
        <p:nvSpPr>
          <p:cNvPr id="14" name="文本框 13"/>
          <p:cNvSpPr txBox="1"/>
          <p:nvPr/>
        </p:nvSpPr>
        <p:spPr>
          <a:xfrm>
            <a:off x="128270" y="1628140"/>
            <a:ext cx="2991485" cy="398780"/>
          </a:xfrm>
          <a:prstGeom prst="rect">
            <a:avLst/>
          </a:prstGeom>
          <a:noFill/>
        </p:spPr>
        <p:txBody>
          <a:bodyPr wrap="square" rtlCol="0">
            <a:spAutoFit/>
          </a:bodyPr>
          <a:lstStyle/>
          <a:p>
            <a:r>
              <a:rPr lang="en-US" altLang="zh-CN" sz="2000" b="1"/>
              <a:t>PPT</a:t>
            </a:r>
            <a:r>
              <a:rPr lang="zh-CN" altLang="en-US" sz="2000" b="1"/>
              <a:t>第五章</a:t>
            </a:r>
            <a:r>
              <a:rPr lang="en-US" altLang="zh-CN" sz="2000" b="1"/>
              <a:t> </a:t>
            </a:r>
            <a:r>
              <a:rPr lang="zh-CN" altLang="en-US" sz="2000" b="1"/>
              <a:t>树与二叉树</a:t>
            </a:r>
          </a:p>
        </p:txBody>
      </p:sp>
      <p:sp>
        <p:nvSpPr>
          <p:cNvPr id="16" name="文本框 15"/>
          <p:cNvSpPr txBox="1"/>
          <p:nvPr/>
        </p:nvSpPr>
        <p:spPr>
          <a:xfrm>
            <a:off x="499110" y="2129155"/>
            <a:ext cx="2374265" cy="811530"/>
          </a:xfrm>
          <a:prstGeom prst="rect">
            <a:avLst/>
          </a:prstGeom>
          <a:noFill/>
        </p:spPr>
        <p:txBody>
          <a:bodyPr wrap="square" rtlCol="0" anchor="t">
            <a:noAutofit/>
          </a:bodyPr>
          <a:lstStyle/>
          <a:p>
            <a:r>
              <a:rPr lang="zh-CN" altLang="en-US" sz="1600" b="1">
                <a:latin typeface="Times New Roman" panose="02020603050405020304" pitchFamily="18" charset="0"/>
                <a:ea typeface="宋体" panose="02010600030101010101" pitchFamily="2" charset="-122"/>
                <a:cs typeface="Times New Roman" panose="02020603050405020304" pitchFamily="18" charset="0"/>
              </a:rPr>
              <a:t>树</a:t>
            </a:r>
            <a:r>
              <a:rPr lang="en-US" altLang="zh-CN" sz="1600" b="1">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a:latin typeface="Arial" panose="020B0604020202020204" pitchFamily="34" charset="0"/>
                <a:ea typeface="宋体" panose="02010600030101010101" pitchFamily="2" charset="-122"/>
                <a:cs typeface="Arial" panose="020B0604020202020204" pitchFamily="34" charset="0"/>
                <a:sym typeface="+mn-ea"/>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二叉树</a:t>
            </a:r>
          </a:p>
          <a:p>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左子结点</a:t>
            </a:r>
            <a:r>
              <a:rPr lang="en-US" altLang="zh-CN" sz="1600" b="1">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1600" b="1">
                <a:latin typeface="Arial" panose="020B0604020202020204" pitchFamily="34" charset="0"/>
                <a:ea typeface="宋体" panose="02010600030101010101" pitchFamily="2" charset="-122"/>
                <a:cs typeface="Arial" panose="020B0604020202020204" pitchFamily="34" charset="0"/>
                <a:sym typeface="+mn-ea"/>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左子结点</a:t>
            </a:r>
          </a:p>
          <a:p>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兄弟结点</a:t>
            </a:r>
            <a:r>
              <a:rPr lang="en-US" altLang="zh-CN" sz="1600" b="1">
                <a:latin typeface="Times New Roman" panose="02020603050405020304" pitchFamily="18" charset="0"/>
                <a:ea typeface="宋体" panose="02010600030101010101" pitchFamily="2" charset="-122"/>
                <a:cs typeface="Times New Roman" panose="02020603050405020304" pitchFamily="18" charset="0"/>
                <a:sym typeface="+mn-ea"/>
              </a:rPr>
              <a:t> </a:t>
            </a:r>
            <a:r>
              <a:rPr lang="en-US" altLang="zh-CN" sz="1600" b="1">
                <a:latin typeface="Arial" panose="020B0604020202020204" pitchFamily="34" charset="0"/>
                <a:ea typeface="宋体" panose="02010600030101010101" pitchFamily="2" charset="-122"/>
                <a:cs typeface="Arial" panose="020B0604020202020204" pitchFamily="34" charset="0"/>
                <a:sym typeface="+mn-ea"/>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sym typeface="+mn-ea"/>
              </a:rPr>
              <a:t>右子结点</a:t>
            </a:r>
          </a:p>
        </p:txBody>
      </p:sp>
      <p:sp>
        <p:nvSpPr>
          <p:cNvPr id="17" name="圆角矩形 16"/>
          <p:cNvSpPr/>
          <p:nvPr/>
        </p:nvSpPr>
        <p:spPr>
          <a:xfrm>
            <a:off x="3119755" y="5255260"/>
            <a:ext cx="2578100" cy="436245"/>
          </a:xfrm>
          <a:prstGeom prst="roundRect">
            <a:avLst/>
          </a:prstGeom>
          <a:noFill/>
          <a:ln w="254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圆角矩形 17"/>
          <p:cNvSpPr/>
          <p:nvPr/>
        </p:nvSpPr>
        <p:spPr>
          <a:xfrm>
            <a:off x="7483475" y="5255260"/>
            <a:ext cx="2597785" cy="436245"/>
          </a:xfrm>
          <a:prstGeom prst="roundRect">
            <a:avLst/>
          </a:prstGeom>
          <a:noFill/>
          <a:ln w="254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7505" y="462915"/>
            <a:ext cx="9896475" cy="398780"/>
          </a:xfrm>
          <a:prstGeom prst="rect">
            <a:avLst/>
          </a:prstGeom>
        </p:spPr>
        <p:txBody>
          <a:bodyPr wrap="square">
            <a:spAutoFit/>
          </a:bodyPr>
          <a:lstStyle/>
          <a:p>
            <a:r>
              <a:rPr lang="zh-CN" altLang="en-US" sz="2000">
                <a:solidFill>
                  <a:srgbClr val="000000"/>
                </a:solidFill>
                <a:latin typeface="宋体" panose="02010600030101010101" pitchFamily="2" charset="-122"/>
                <a:ea typeface="宋体" panose="02010600030101010101" pitchFamily="2" charset="-122"/>
              </a:rPr>
              <a:t>二叉树的先序遍历和中序遍历分别为 </a:t>
            </a:r>
            <a:r>
              <a:rPr lang="en-US" altLang="zh-CN" sz="2000">
                <a:solidFill>
                  <a:srgbClr val="000000"/>
                </a:solidFill>
                <a:latin typeface="Times New Roman" panose="02020603050405020304"/>
                <a:ea typeface="Times New Roman" panose="02020603050405020304"/>
              </a:rPr>
              <a:t>ABCDEFGHIJKLMNO </a:t>
            </a:r>
            <a:r>
              <a:rPr lang="zh-CN" altLang="en-US" sz="2000">
                <a:solidFill>
                  <a:srgbClr val="000000"/>
                </a:solidFill>
                <a:latin typeface="宋体" panose="02010600030101010101" pitchFamily="2" charset="-122"/>
                <a:ea typeface="宋体" panose="02010600030101010101" pitchFamily="2" charset="-122"/>
              </a:rPr>
              <a:t>和 </a:t>
            </a:r>
            <a:r>
              <a:rPr lang="en-US" altLang="zh-CN" sz="2000">
                <a:solidFill>
                  <a:srgbClr val="000000"/>
                </a:solidFill>
                <a:latin typeface="Times New Roman" panose="02020603050405020304"/>
                <a:ea typeface="Times New Roman" panose="02020603050405020304"/>
              </a:rPr>
              <a:t>CDEBFHIJGAMLONK</a:t>
            </a:r>
            <a:endParaRPr lang="zh-CN" altLang="en-US" sz="2000">
              <a:solidFill>
                <a:srgbClr val="000000"/>
              </a:solidFill>
              <a:latin typeface="宋体" panose="02010600030101010101" pitchFamily="2" charset="-122"/>
              <a:ea typeface="宋体" panose="02010600030101010101" pitchFamily="2" charset="-122"/>
            </a:endParaRPr>
          </a:p>
        </p:txBody>
      </p:sp>
      <p:sp>
        <p:nvSpPr>
          <p:cNvPr id="7" name="文本框 6"/>
          <p:cNvSpPr txBox="1"/>
          <p:nvPr/>
        </p:nvSpPr>
        <p:spPr>
          <a:xfrm>
            <a:off x="431165" y="1243330"/>
            <a:ext cx="6096000" cy="706755"/>
          </a:xfrm>
          <a:prstGeom prst="rect">
            <a:avLst/>
          </a:prstGeom>
          <a:noFill/>
        </p:spPr>
        <p:txBody>
          <a:bodyPr wrap="square" rtlCol="0" anchor="t">
            <a:spAutoFit/>
          </a:bodyPr>
          <a:lstStyle/>
          <a:p>
            <a:r>
              <a:rPr lang="en-US" altLang="zh-CN" sz="2000">
                <a:solidFill>
                  <a:srgbClr val="FF0000"/>
                </a:solidFill>
                <a:latin typeface="Times New Roman" panose="02020603050405020304"/>
                <a:ea typeface="Times New Roman" panose="02020603050405020304"/>
                <a:sym typeface="+mn-ea"/>
              </a:rPr>
              <a:t>A</a:t>
            </a:r>
            <a:r>
              <a:rPr lang="en-US" altLang="zh-CN" sz="2000">
                <a:solidFill>
                  <a:srgbClr val="000000"/>
                </a:solidFill>
                <a:latin typeface="Times New Roman" panose="02020603050405020304"/>
                <a:ea typeface="Times New Roman" panose="02020603050405020304"/>
                <a:sym typeface="+mn-ea"/>
              </a:rPr>
              <a:t>BCDEFGHIJKLMNO </a:t>
            </a:r>
            <a:endParaRPr lang="zh-CN" altLang="en-US" sz="2000">
              <a:solidFill>
                <a:srgbClr val="000000"/>
              </a:solidFill>
              <a:latin typeface="宋体" panose="02010600030101010101" pitchFamily="2" charset="-122"/>
              <a:ea typeface="宋体" panose="02010600030101010101" pitchFamily="2" charset="-122"/>
              <a:sym typeface="+mn-ea"/>
            </a:endParaRPr>
          </a:p>
          <a:p>
            <a:r>
              <a:rPr lang="en-US" altLang="zh-CN" sz="2000">
                <a:solidFill>
                  <a:schemeClr val="accent6"/>
                </a:solidFill>
                <a:latin typeface="Times New Roman" panose="02020603050405020304"/>
                <a:ea typeface="Times New Roman" panose="02020603050405020304"/>
                <a:sym typeface="+mn-ea"/>
              </a:rPr>
              <a:t>C</a:t>
            </a:r>
            <a:r>
              <a:rPr lang="en-US" altLang="zh-CN" sz="2000">
                <a:solidFill>
                  <a:srgbClr val="000000"/>
                </a:solidFill>
                <a:latin typeface="Times New Roman" panose="02020603050405020304"/>
                <a:ea typeface="Times New Roman" panose="02020603050405020304"/>
                <a:sym typeface="+mn-ea"/>
              </a:rPr>
              <a:t>DE</a:t>
            </a:r>
            <a:r>
              <a:rPr lang="en-US" altLang="zh-CN" sz="2000">
                <a:solidFill>
                  <a:schemeClr val="accent1"/>
                </a:solidFill>
                <a:latin typeface="Times New Roman" panose="02020603050405020304"/>
                <a:ea typeface="Times New Roman" panose="02020603050405020304"/>
                <a:sym typeface="+mn-ea"/>
              </a:rPr>
              <a:t>B</a:t>
            </a:r>
            <a:r>
              <a:rPr lang="en-US" altLang="zh-CN" sz="2000">
                <a:solidFill>
                  <a:schemeClr val="accent6"/>
                </a:solidFill>
                <a:latin typeface="Times New Roman" panose="02020603050405020304"/>
                <a:ea typeface="Times New Roman" panose="02020603050405020304"/>
                <a:sym typeface="+mn-ea"/>
              </a:rPr>
              <a:t>F</a:t>
            </a:r>
            <a:r>
              <a:rPr lang="en-US" altLang="zh-CN" sz="2000">
                <a:solidFill>
                  <a:srgbClr val="000000"/>
                </a:solidFill>
                <a:latin typeface="Times New Roman" panose="02020603050405020304"/>
                <a:ea typeface="Times New Roman" panose="02020603050405020304"/>
                <a:sym typeface="+mn-ea"/>
              </a:rPr>
              <a:t>HIJG</a:t>
            </a:r>
            <a:r>
              <a:rPr lang="en-US" altLang="zh-CN" sz="2000">
                <a:solidFill>
                  <a:srgbClr val="FF0000"/>
                </a:solidFill>
                <a:latin typeface="Times New Roman" panose="02020603050405020304"/>
                <a:ea typeface="Times New Roman" panose="02020603050405020304"/>
                <a:sym typeface="+mn-ea"/>
              </a:rPr>
              <a:t>A</a:t>
            </a:r>
            <a:r>
              <a:rPr lang="en-US" altLang="zh-CN" sz="2000">
                <a:solidFill>
                  <a:srgbClr val="000000"/>
                </a:solidFill>
                <a:latin typeface="Times New Roman" panose="02020603050405020304"/>
                <a:ea typeface="Times New Roman" panose="02020603050405020304"/>
                <a:sym typeface="+mn-ea"/>
              </a:rPr>
              <a:t>M</a:t>
            </a:r>
            <a:r>
              <a:rPr lang="en-US" altLang="zh-CN" sz="2000">
                <a:solidFill>
                  <a:schemeClr val="accent6"/>
                </a:solidFill>
                <a:latin typeface="Times New Roman" panose="02020603050405020304"/>
                <a:ea typeface="Times New Roman" panose="02020603050405020304"/>
                <a:sym typeface="+mn-ea"/>
              </a:rPr>
              <a:t>L</a:t>
            </a:r>
            <a:r>
              <a:rPr lang="en-US" altLang="zh-CN" sz="2000">
                <a:solidFill>
                  <a:srgbClr val="000000"/>
                </a:solidFill>
                <a:latin typeface="Times New Roman" panose="02020603050405020304"/>
                <a:ea typeface="Times New Roman" panose="02020603050405020304"/>
                <a:sym typeface="+mn-ea"/>
              </a:rPr>
              <a:t>ON</a:t>
            </a:r>
            <a:r>
              <a:rPr lang="en-US" altLang="zh-CN" sz="2000">
                <a:solidFill>
                  <a:schemeClr val="accent1"/>
                </a:solidFill>
                <a:latin typeface="Times New Roman" panose="02020603050405020304"/>
                <a:ea typeface="Times New Roman" panose="02020603050405020304"/>
                <a:sym typeface="+mn-ea"/>
              </a:rPr>
              <a:t>K</a:t>
            </a:r>
          </a:p>
        </p:txBody>
      </p:sp>
      <p:cxnSp>
        <p:nvCxnSpPr>
          <p:cNvPr id="14" name="直线箭头连接符 11"/>
          <p:cNvCxnSpPr>
            <a:stCxn id="18" idx="4"/>
            <a:endCxn id="22" idx="7"/>
          </p:cNvCxnSpPr>
          <p:nvPr/>
        </p:nvCxnSpPr>
        <p:spPr>
          <a:xfrm flipH="1">
            <a:off x="1210437" y="2394852"/>
            <a:ext cx="1068070" cy="287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2059940" y="195897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a:t>
            </a:r>
          </a:p>
        </p:txBody>
      </p:sp>
      <p:sp>
        <p:nvSpPr>
          <p:cNvPr id="22" name="椭圆 21"/>
          <p:cNvSpPr/>
          <p:nvPr/>
        </p:nvSpPr>
        <p:spPr>
          <a:xfrm>
            <a:off x="838200" y="26181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B</a:t>
            </a:r>
          </a:p>
        </p:txBody>
      </p:sp>
      <p:sp>
        <p:nvSpPr>
          <p:cNvPr id="23" name="椭圆 22"/>
          <p:cNvSpPr/>
          <p:nvPr/>
        </p:nvSpPr>
        <p:spPr>
          <a:xfrm>
            <a:off x="3338830" y="26816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K</a:t>
            </a:r>
          </a:p>
        </p:txBody>
      </p:sp>
      <p:sp>
        <p:nvSpPr>
          <p:cNvPr id="24" name="椭圆 23"/>
          <p:cNvSpPr/>
          <p:nvPr/>
        </p:nvSpPr>
        <p:spPr>
          <a:xfrm>
            <a:off x="401955" y="32962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a:t>
            </a:r>
          </a:p>
        </p:txBody>
      </p:sp>
      <p:sp>
        <p:nvSpPr>
          <p:cNvPr id="25" name="椭圆 24"/>
          <p:cNvSpPr/>
          <p:nvPr/>
        </p:nvSpPr>
        <p:spPr>
          <a:xfrm>
            <a:off x="1186815" y="330644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F</a:t>
            </a:r>
          </a:p>
        </p:txBody>
      </p:sp>
      <p:sp>
        <p:nvSpPr>
          <p:cNvPr id="26" name="椭圆 25"/>
          <p:cNvSpPr/>
          <p:nvPr/>
        </p:nvSpPr>
        <p:spPr>
          <a:xfrm>
            <a:off x="2824480" y="32962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L</a:t>
            </a:r>
          </a:p>
        </p:txBody>
      </p:sp>
      <p:cxnSp>
        <p:nvCxnSpPr>
          <p:cNvPr id="29" name="直线箭头连接符 11"/>
          <p:cNvCxnSpPr>
            <a:stCxn id="18" idx="4"/>
            <a:endCxn id="23" idx="1"/>
          </p:cNvCxnSpPr>
          <p:nvPr/>
        </p:nvCxnSpPr>
        <p:spPr>
          <a:xfrm>
            <a:off x="2278507" y="2394852"/>
            <a:ext cx="1124585" cy="3505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11"/>
          <p:cNvCxnSpPr>
            <a:stCxn id="22" idx="4"/>
            <a:endCxn id="24" idx="7"/>
          </p:cNvCxnSpPr>
          <p:nvPr/>
        </p:nvCxnSpPr>
        <p:spPr>
          <a:xfrm flipH="1">
            <a:off x="774192" y="3053982"/>
            <a:ext cx="282575" cy="306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11"/>
          <p:cNvCxnSpPr>
            <a:stCxn id="22" idx="4"/>
            <a:endCxn id="25" idx="1"/>
          </p:cNvCxnSpPr>
          <p:nvPr/>
        </p:nvCxnSpPr>
        <p:spPr>
          <a:xfrm>
            <a:off x="1056767" y="3053982"/>
            <a:ext cx="194310" cy="316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线箭头连接符 11"/>
          <p:cNvCxnSpPr>
            <a:stCxn id="23" idx="4"/>
            <a:endCxn id="26" idx="0"/>
          </p:cNvCxnSpPr>
          <p:nvPr/>
        </p:nvCxnSpPr>
        <p:spPr>
          <a:xfrm flipH="1">
            <a:off x="3043047" y="3117482"/>
            <a:ext cx="514350" cy="1790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620395" y="41217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D</a:t>
            </a:r>
          </a:p>
        </p:txBody>
      </p:sp>
      <p:sp>
        <p:nvSpPr>
          <p:cNvPr id="27" name="椭圆 26"/>
          <p:cNvSpPr/>
          <p:nvPr/>
        </p:nvSpPr>
        <p:spPr>
          <a:xfrm>
            <a:off x="935990" y="481012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E</a:t>
            </a:r>
          </a:p>
        </p:txBody>
      </p:sp>
      <p:cxnSp>
        <p:nvCxnSpPr>
          <p:cNvPr id="28" name="直线箭头连接符 11"/>
          <p:cNvCxnSpPr>
            <a:stCxn id="24" idx="4"/>
            <a:endCxn id="21" idx="0"/>
          </p:cNvCxnSpPr>
          <p:nvPr/>
        </p:nvCxnSpPr>
        <p:spPr>
          <a:xfrm>
            <a:off x="620522" y="3732162"/>
            <a:ext cx="218440" cy="389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11"/>
          <p:cNvCxnSpPr>
            <a:stCxn id="21" idx="4"/>
            <a:endCxn id="27" idx="0"/>
          </p:cNvCxnSpPr>
          <p:nvPr/>
        </p:nvCxnSpPr>
        <p:spPr>
          <a:xfrm>
            <a:off x="838962" y="4557662"/>
            <a:ext cx="315595"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749425" y="412178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G</a:t>
            </a:r>
          </a:p>
        </p:txBody>
      </p:sp>
      <p:cxnSp>
        <p:nvCxnSpPr>
          <p:cNvPr id="35" name="直线箭头连接符 11"/>
          <p:cNvCxnSpPr>
            <a:stCxn id="25" idx="4"/>
            <a:endCxn id="34" idx="0"/>
          </p:cNvCxnSpPr>
          <p:nvPr/>
        </p:nvCxnSpPr>
        <p:spPr>
          <a:xfrm>
            <a:off x="1405382" y="3742322"/>
            <a:ext cx="562610" cy="379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1499235" y="481012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H</a:t>
            </a:r>
          </a:p>
        </p:txBody>
      </p:sp>
      <p:cxnSp>
        <p:nvCxnSpPr>
          <p:cNvPr id="37" name="直线箭头连接符 11"/>
          <p:cNvCxnSpPr>
            <a:stCxn id="34" idx="4"/>
            <a:endCxn id="36" idx="0"/>
          </p:cNvCxnSpPr>
          <p:nvPr/>
        </p:nvCxnSpPr>
        <p:spPr>
          <a:xfrm flipH="1">
            <a:off x="1717802" y="4557662"/>
            <a:ext cx="250190"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1842135" y="549846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I</a:t>
            </a:r>
          </a:p>
        </p:txBody>
      </p:sp>
      <p:sp>
        <p:nvSpPr>
          <p:cNvPr id="39" name="椭圆 38"/>
          <p:cNvSpPr/>
          <p:nvPr/>
        </p:nvSpPr>
        <p:spPr>
          <a:xfrm>
            <a:off x="2185670" y="6186805"/>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J</a:t>
            </a:r>
          </a:p>
        </p:txBody>
      </p:sp>
      <p:cxnSp>
        <p:nvCxnSpPr>
          <p:cNvPr id="40" name="直线箭头连接符 11"/>
          <p:cNvCxnSpPr>
            <a:stCxn id="38" idx="4"/>
            <a:endCxn id="39" idx="0"/>
          </p:cNvCxnSpPr>
          <p:nvPr/>
        </p:nvCxnSpPr>
        <p:spPr>
          <a:xfrm>
            <a:off x="2060702" y="5934342"/>
            <a:ext cx="343535"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11"/>
          <p:cNvCxnSpPr>
            <a:stCxn id="36" idx="4"/>
            <a:endCxn id="38" idx="0"/>
          </p:cNvCxnSpPr>
          <p:nvPr/>
        </p:nvCxnSpPr>
        <p:spPr>
          <a:xfrm>
            <a:off x="1717802" y="5246002"/>
            <a:ext cx="342900" cy="252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2414270" y="407289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M</a:t>
            </a:r>
          </a:p>
        </p:txBody>
      </p:sp>
      <p:sp>
        <p:nvSpPr>
          <p:cNvPr id="45" name="椭圆 44"/>
          <p:cNvSpPr/>
          <p:nvPr/>
        </p:nvSpPr>
        <p:spPr>
          <a:xfrm>
            <a:off x="3296920" y="406908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N</a:t>
            </a:r>
          </a:p>
        </p:txBody>
      </p:sp>
      <p:cxnSp>
        <p:nvCxnSpPr>
          <p:cNvPr id="46" name="直线箭头连接符 11"/>
          <p:cNvCxnSpPr>
            <a:stCxn id="26" idx="4"/>
            <a:endCxn id="44" idx="7"/>
          </p:cNvCxnSpPr>
          <p:nvPr/>
        </p:nvCxnSpPr>
        <p:spPr>
          <a:xfrm flipH="1">
            <a:off x="2786507" y="3732162"/>
            <a:ext cx="256540" cy="4044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11"/>
          <p:cNvCxnSpPr>
            <a:stCxn id="26" idx="4"/>
            <a:endCxn id="45" idx="1"/>
          </p:cNvCxnSpPr>
          <p:nvPr/>
        </p:nvCxnSpPr>
        <p:spPr>
          <a:xfrm>
            <a:off x="3043047" y="3732162"/>
            <a:ext cx="318135" cy="4006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椭圆 47"/>
          <p:cNvSpPr/>
          <p:nvPr/>
        </p:nvSpPr>
        <p:spPr>
          <a:xfrm>
            <a:off x="3079115" y="4801870"/>
            <a:ext cx="436245" cy="435600"/>
          </a:xfrm>
          <a:prstGeom prst="ellipse">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O</a:t>
            </a:r>
          </a:p>
        </p:txBody>
      </p:sp>
      <p:cxnSp>
        <p:nvCxnSpPr>
          <p:cNvPr id="49" name="直线箭头连接符 11"/>
          <p:cNvCxnSpPr>
            <a:stCxn id="45" idx="4"/>
            <a:endCxn id="48" idx="0"/>
          </p:cNvCxnSpPr>
          <p:nvPr/>
        </p:nvCxnSpPr>
        <p:spPr>
          <a:xfrm flipH="1">
            <a:off x="3297682" y="4504957"/>
            <a:ext cx="217805" cy="2971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p:cNvPicPr>
            <a:picLocks noChangeAspect="1"/>
          </p:cNvPicPr>
          <p:nvPr/>
        </p:nvPicPr>
        <p:blipFill>
          <a:blip r:embed="rId2"/>
          <a:stretch>
            <a:fillRect/>
          </a:stretch>
        </p:blipFill>
        <p:spPr>
          <a:xfrm>
            <a:off x="5246370" y="3117215"/>
            <a:ext cx="6765290" cy="1940560"/>
          </a:xfrm>
          <a:prstGeom prst="rect">
            <a:avLst/>
          </a:prstGeom>
        </p:spPr>
      </p:pic>
      <p:sp>
        <p:nvSpPr>
          <p:cNvPr id="51" name="右箭头 50"/>
          <p:cNvSpPr/>
          <p:nvPr/>
        </p:nvSpPr>
        <p:spPr>
          <a:xfrm>
            <a:off x="4208145" y="3951605"/>
            <a:ext cx="708660" cy="27178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03454"/>
            <a:ext cx="10515600" cy="1140492"/>
          </a:xfrm>
        </p:spPr>
        <p:txBody>
          <a:bodyPr>
            <a:normAutofit/>
          </a:bodyPr>
          <a:lstStyle/>
          <a:p>
            <a:pPr>
              <a:lnSpc>
                <a:spcPct val="150000"/>
              </a:lnSpc>
            </a:pP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已知二叉树如下所示：（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a:t>
            </a:r>
            <a:b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）用有向弧表示前驱和后继线索，画出树上的中序线索；</a:t>
            </a:r>
            <a:endParaRPr lang="zh-CN" altLang="en-US" dirty="0"/>
          </a:p>
        </p:txBody>
      </p:sp>
      <p:pic>
        <p:nvPicPr>
          <p:cNvPr id="5" name="图片 4"/>
          <p:cNvPicPr>
            <a:picLocks noChangeAspect="1"/>
          </p:cNvPicPr>
          <p:nvPr/>
        </p:nvPicPr>
        <p:blipFill>
          <a:blip r:embed="rId3"/>
          <a:stretch>
            <a:fillRect/>
          </a:stretch>
        </p:blipFill>
        <p:spPr>
          <a:xfrm>
            <a:off x="970870" y="2726734"/>
            <a:ext cx="4442691" cy="3901934"/>
          </a:xfrm>
          <a:prstGeom prst="rect">
            <a:avLst/>
          </a:prstGeom>
        </p:spPr>
      </p:pic>
      <p:pic>
        <p:nvPicPr>
          <p:cNvPr id="30" name="图片 29"/>
          <p:cNvPicPr>
            <a:picLocks noChangeAspect="1"/>
          </p:cNvPicPr>
          <p:nvPr/>
        </p:nvPicPr>
        <p:blipFill>
          <a:blip r:embed="rId4"/>
          <a:stretch>
            <a:fillRect/>
          </a:stretch>
        </p:blipFill>
        <p:spPr>
          <a:xfrm>
            <a:off x="6484475" y="2691200"/>
            <a:ext cx="4736655" cy="3789324"/>
          </a:xfrm>
          <a:prstGeom prst="rect">
            <a:avLst/>
          </a:prstGeom>
        </p:spPr>
      </p:pic>
      <p:sp>
        <p:nvSpPr>
          <p:cNvPr id="7" name="文本框 6"/>
          <p:cNvSpPr txBox="1"/>
          <p:nvPr/>
        </p:nvSpPr>
        <p:spPr>
          <a:xfrm>
            <a:off x="1106822" y="1305228"/>
            <a:ext cx="8613477" cy="646331"/>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写出二叉树的中序遍历    </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画出空的左指针和右指针的中序前驱和后继</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5604010" y="1998214"/>
            <a:ext cx="6098874" cy="646331"/>
          </a:xfrm>
          <a:prstGeom prst="rect">
            <a:avLst/>
          </a:prstGeom>
          <a:noFill/>
        </p:spPr>
        <p:txBody>
          <a:bodyPr wrap="square">
            <a:spAutoFit/>
          </a:bodyPr>
          <a:lstStyle/>
          <a:p>
            <a:r>
              <a:rPr kumimoji="0" lang="zh-CN" altLang="en-US"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答：中序遍历：</a:t>
            </a:r>
            <a:endParaRPr kumimoji="0" lang="en-US" altLang="zh-CN"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effectLst/>
                <a:latin typeface="Times"/>
              </a:rPr>
              <a:t>B -&gt; D -&gt; C -&gt; H -&gt; F -&gt; I -&gt; E -&gt; J -&gt; G -&gt; K -&gt; A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108362"/>
            <a:ext cx="10515600" cy="1644830"/>
          </a:xfrm>
        </p:spPr>
        <p:txBody>
          <a:bodyPr>
            <a:normAutofit/>
          </a:bodyPr>
          <a:lstStyle/>
          <a:p>
            <a:pPr>
              <a:lnSpc>
                <a:spcPct val="150000"/>
              </a:lnSpc>
            </a:pP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已知二叉树如下所示：（</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分）</a:t>
            </a:r>
            <a:b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）在树上删除结点</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，画出改变后的中序线索化二叉树及其中的线索。</a:t>
            </a:r>
            <a:endParaRPr lang="zh-CN" altLang="en-US" dirty="0"/>
          </a:p>
        </p:txBody>
      </p:sp>
      <p:pic>
        <p:nvPicPr>
          <p:cNvPr id="5" name="图片 4"/>
          <p:cNvPicPr>
            <a:picLocks noChangeAspect="1"/>
          </p:cNvPicPr>
          <p:nvPr/>
        </p:nvPicPr>
        <p:blipFill>
          <a:blip r:embed="rId3"/>
          <a:stretch>
            <a:fillRect/>
          </a:stretch>
        </p:blipFill>
        <p:spPr>
          <a:xfrm>
            <a:off x="1065166" y="2303310"/>
            <a:ext cx="4442691" cy="3901934"/>
          </a:xfrm>
          <a:prstGeom prst="rect">
            <a:avLst/>
          </a:prstGeom>
        </p:spPr>
      </p:pic>
      <p:pic>
        <p:nvPicPr>
          <p:cNvPr id="31" name="图片 30"/>
          <p:cNvPicPr>
            <a:picLocks noChangeAspect="1"/>
          </p:cNvPicPr>
          <p:nvPr/>
        </p:nvPicPr>
        <p:blipFill>
          <a:blip r:embed="rId4"/>
          <a:stretch>
            <a:fillRect/>
          </a:stretch>
        </p:blipFill>
        <p:spPr>
          <a:xfrm>
            <a:off x="6839855" y="2132223"/>
            <a:ext cx="4286979" cy="4244109"/>
          </a:xfrm>
          <a:prstGeom prst="rect">
            <a:avLst/>
          </a:prstGeom>
        </p:spPr>
      </p:pic>
      <p:sp>
        <p:nvSpPr>
          <p:cNvPr id="36" name="文本框 35"/>
          <p:cNvSpPr txBox="1"/>
          <p:nvPr/>
        </p:nvSpPr>
        <p:spPr>
          <a:xfrm>
            <a:off x="6328629" y="1485892"/>
            <a:ext cx="6098874" cy="646331"/>
          </a:xfrm>
          <a:prstGeom prst="rect">
            <a:avLst/>
          </a:prstGeom>
          <a:noFill/>
        </p:spPr>
        <p:txBody>
          <a:bodyPr wrap="square">
            <a:spAutoFit/>
          </a:bodyPr>
          <a:lstStyle/>
          <a:p>
            <a:r>
              <a:rPr kumimoji="0" lang="zh-CN" altLang="en-US"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答：中序遍历：</a:t>
            </a:r>
            <a:endParaRPr kumimoji="0" lang="en-US" altLang="zh-CN"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effectLst/>
                <a:latin typeface="Times"/>
              </a:rPr>
              <a:t>B -&gt; D -&gt; C -&gt; H -&gt; F -&gt; I -&gt; J -&gt; G -&gt; K -&gt; A </a:t>
            </a:r>
          </a:p>
        </p:txBody>
      </p:sp>
      <p:sp>
        <p:nvSpPr>
          <p:cNvPr id="41" name="文本框 40"/>
          <p:cNvSpPr txBox="1"/>
          <p:nvPr/>
        </p:nvSpPr>
        <p:spPr>
          <a:xfrm>
            <a:off x="522291" y="1485893"/>
            <a:ext cx="6098874" cy="646331"/>
          </a:xfrm>
          <a:prstGeom prst="rect">
            <a:avLst/>
          </a:prstGeom>
          <a:noFill/>
        </p:spPr>
        <p:txBody>
          <a:bodyPr wrap="square">
            <a:spAutoFit/>
          </a:bodyPr>
          <a:lstStyle/>
          <a:p>
            <a:r>
              <a:rPr kumimoji="0" lang="zh-CN" altLang="en-US"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中序遍历：</a:t>
            </a:r>
            <a:endParaRPr kumimoji="0" lang="en-US" altLang="zh-CN" sz="18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effectLst/>
                <a:latin typeface="Times"/>
              </a:rPr>
              <a:t>B -&gt; D -&gt; C -&gt; H -&gt; F -&gt; I -&gt; E -&gt; J -&gt; G -&gt; K -&gt; A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p:nvPr/>
        </p:nvSpPr>
        <p:spPr>
          <a:xfrm>
            <a:off x="6801485" y="2278561"/>
            <a:ext cx="17945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nvSpPr>
        <p:spPr>
          <a:xfrm>
            <a:off x="5967095" y="1289231"/>
            <a:ext cx="48171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714375" y="1289231"/>
            <a:ext cx="48171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标题 5"/>
          <p:cNvSpPr>
            <a:spLocks noGrp="1"/>
          </p:cNvSpPr>
          <p:nvPr>
            <p:ph type="ctrTitle"/>
          </p:nvPr>
        </p:nvSpPr>
        <p:spPr>
          <a:xfrm>
            <a:off x="714445" y="82711"/>
            <a:ext cx="10858150" cy="974885"/>
          </a:xfrm>
        </p:spPr>
        <p:txBody>
          <a:bodyPr>
            <a:normAutofit fontScale="90000"/>
          </a:bodyPr>
          <a:lstStyle/>
          <a:p>
            <a:pPr algn="l"/>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kumimoji="0" lang="en-US" altLang="zh-CN" sz="2000" b="1" i="0" u="none" strike="noStrike" kern="100" cap="none" spc="0" normalizeH="0" baseline="0" noProof="0" dirty="0">
                <a:ln>
                  <a:noFill/>
                </a:ln>
                <a:solidFill>
                  <a:srgbClr val="000000"/>
                </a:solidFill>
                <a:uLnTx/>
                <a:uFillTx/>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用于通信的电文由</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个字符组成，字符在电文中出现的频率分别为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0.09, 0.19, 0.02, 0.06, 0.30, </a:t>
            </a:r>
            <a:br>
              <a:rPr lang="en-US" altLang="zh-CN" sz="20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0.03, 0.21, 0.10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。试为这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个字符设计哈夫曼编码并计算总编码长度。使用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0~7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3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位等长二</a:t>
            </a:r>
            <a:br>
              <a:rPr lang="zh-CN" altLang="en-US" sz="20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进制表示形式是另一种编码方案，对于上述实例比较两种方案的优缺点。</a:t>
            </a:r>
          </a:p>
        </p:txBody>
      </p:sp>
      <p:sp>
        <p:nvSpPr>
          <p:cNvPr id="8" name="文本框 7"/>
          <p:cNvSpPr txBox="1"/>
          <p:nvPr/>
        </p:nvSpPr>
        <p:spPr>
          <a:xfrm>
            <a:off x="749300" y="1278436"/>
            <a:ext cx="464185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0.09, 0.19, 0.02, 0.06, 0.30, 0.03, 0.21, 0.10</a:t>
            </a:r>
          </a:p>
        </p:txBody>
      </p:sp>
      <p:sp>
        <p:nvSpPr>
          <p:cNvPr id="9" name="文本框 8"/>
          <p:cNvSpPr txBox="1"/>
          <p:nvPr/>
        </p:nvSpPr>
        <p:spPr>
          <a:xfrm>
            <a:off x="6013450" y="1277801"/>
            <a:ext cx="469011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0.02, 0.03, 0.06, 0.09, 0.10, 0.19, 0.21, 0.30 </a:t>
            </a:r>
          </a:p>
        </p:txBody>
      </p:sp>
      <p:sp>
        <p:nvSpPr>
          <p:cNvPr id="12" name="矩形 11"/>
          <p:cNvSpPr/>
          <p:nvPr/>
        </p:nvSpPr>
        <p:spPr>
          <a:xfrm>
            <a:off x="6013450" y="130320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矩形 12"/>
          <p:cNvSpPr/>
          <p:nvPr/>
        </p:nvSpPr>
        <p:spPr>
          <a:xfrm>
            <a:off x="6685280" y="1298756"/>
            <a:ext cx="45529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椭圆 13"/>
          <p:cNvSpPr/>
          <p:nvPr/>
        </p:nvSpPr>
        <p:spPr>
          <a:xfrm>
            <a:off x="2319655" y="6107159"/>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0.02</a:t>
            </a:r>
            <a:endParaRPr lang="zh-CN" altLang="en-US" dirty="0">
              <a:latin typeface="Times New Roman" panose="02020603050405020304" pitchFamily="18" charset="0"/>
              <a:cs typeface="Times New Roman" panose="02020603050405020304" pitchFamily="18" charset="0"/>
            </a:endParaRPr>
          </a:p>
        </p:txBody>
      </p:sp>
      <p:sp>
        <p:nvSpPr>
          <p:cNvPr id="15" name="矩形 14"/>
          <p:cNvSpPr/>
          <p:nvPr/>
        </p:nvSpPr>
        <p:spPr>
          <a:xfrm>
            <a:off x="702945" y="1788341"/>
            <a:ext cx="4158615"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文本框 17"/>
          <p:cNvSpPr txBox="1"/>
          <p:nvPr/>
        </p:nvSpPr>
        <p:spPr>
          <a:xfrm>
            <a:off x="749300" y="1783896"/>
            <a:ext cx="4070985"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0.05, 0.06, 0.09, 0.10, 0.19, 0.21, 0.30 </a:t>
            </a:r>
          </a:p>
        </p:txBody>
      </p:sp>
      <p:sp>
        <p:nvSpPr>
          <p:cNvPr id="19" name="椭圆 18"/>
          <p:cNvSpPr/>
          <p:nvPr/>
        </p:nvSpPr>
        <p:spPr>
          <a:xfrm>
            <a:off x="3513455" y="6107159"/>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0.03</a:t>
            </a:r>
            <a:endParaRPr lang="zh-CN" altLang="en-US" dirty="0">
              <a:latin typeface="Times New Roman" panose="02020603050405020304" pitchFamily="18" charset="0"/>
              <a:cs typeface="Times New Roman" panose="02020603050405020304" pitchFamily="18" charset="0"/>
            </a:endParaRPr>
          </a:p>
        </p:txBody>
      </p:sp>
      <p:sp>
        <p:nvSpPr>
          <p:cNvPr id="20" name="椭圆 19"/>
          <p:cNvSpPr/>
          <p:nvPr/>
        </p:nvSpPr>
        <p:spPr>
          <a:xfrm>
            <a:off x="2893695"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0.05</a:t>
            </a:r>
            <a:endParaRPr lang="zh-CN" altLang="en-US" dirty="0">
              <a:latin typeface="Times New Roman" panose="02020603050405020304" pitchFamily="18" charset="0"/>
              <a:cs typeface="Times New Roman" panose="02020603050405020304" pitchFamily="18" charset="0"/>
            </a:endParaRPr>
          </a:p>
        </p:txBody>
      </p:sp>
      <p:cxnSp>
        <p:nvCxnSpPr>
          <p:cNvPr id="21" name="直接连接符 20"/>
          <p:cNvCxnSpPr>
            <a:stCxn id="14" idx="0"/>
            <a:endCxn id="20" idx="3"/>
          </p:cNvCxnSpPr>
          <p:nvPr/>
        </p:nvCxnSpPr>
        <p:spPr>
          <a:xfrm flipV="1">
            <a:off x="2753360" y="5863954"/>
            <a:ext cx="26733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a:stCxn id="19" idx="0"/>
            <a:endCxn id="20" idx="5"/>
          </p:cNvCxnSpPr>
          <p:nvPr/>
        </p:nvCxnSpPr>
        <p:spPr>
          <a:xfrm flipH="1" flipV="1">
            <a:off x="3634105" y="5863954"/>
            <a:ext cx="31305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5" name="矩形 24"/>
          <p:cNvSpPr/>
          <p:nvPr/>
        </p:nvSpPr>
        <p:spPr>
          <a:xfrm>
            <a:off x="777875" y="179850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矩形 25"/>
          <p:cNvSpPr/>
          <p:nvPr/>
        </p:nvSpPr>
        <p:spPr>
          <a:xfrm>
            <a:off x="1379855" y="179659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椭圆 26"/>
          <p:cNvSpPr/>
          <p:nvPr/>
        </p:nvSpPr>
        <p:spPr>
          <a:xfrm>
            <a:off x="4048125"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0.06</a:t>
            </a:r>
            <a:endParaRPr lang="zh-CN" altLang="en-US" dirty="0">
              <a:latin typeface="Times New Roman" panose="02020603050405020304" pitchFamily="18" charset="0"/>
              <a:cs typeface="Times New Roman" panose="02020603050405020304" pitchFamily="18" charset="0"/>
            </a:endParaRPr>
          </a:p>
        </p:txBody>
      </p:sp>
      <p:sp>
        <p:nvSpPr>
          <p:cNvPr id="28" name="椭圆 27"/>
          <p:cNvSpPr/>
          <p:nvPr/>
        </p:nvSpPr>
        <p:spPr>
          <a:xfrm>
            <a:off x="3513455"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0.11</a:t>
            </a:r>
            <a:endParaRPr lang="zh-CN" altLang="en-US" dirty="0">
              <a:latin typeface="Times New Roman" panose="02020603050405020304" pitchFamily="18" charset="0"/>
              <a:cs typeface="Times New Roman" panose="02020603050405020304" pitchFamily="18" charset="0"/>
            </a:endParaRPr>
          </a:p>
        </p:txBody>
      </p:sp>
      <p:cxnSp>
        <p:nvCxnSpPr>
          <p:cNvPr id="29" name="直接连接符 28"/>
          <p:cNvCxnSpPr>
            <a:stCxn id="20" idx="0"/>
            <a:endCxn id="28" idx="3"/>
          </p:cNvCxnSpPr>
          <p:nvPr/>
        </p:nvCxnSpPr>
        <p:spPr>
          <a:xfrm flipV="1">
            <a:off x="3327400" y="5183234"/>
            <a:ext cx="31305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30" name="矩形 29"/>
          <p:cNvSpPr/>
          <p:nvPr/>
        </p:nvSpPr>
        <p:spPr>
          <a:xfrm>
            <a:off x="5867400" y="1783896"/>
            <a:ext cx="4158615"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文本框 30"/>
          <p:cNvSpPr txBox="1"/>
          <p:nvPr/>
        </p:nvSpPr>
        <p:spPr>
          <a:xfrm>
            <a:off x="5913755" y="1779451"/>
            <a:ext cx="356743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0.09, 0.10, 0.11, 0.19, 0.21, 0.30 </a:t>
            </a:r>
          </a:p>
        </p:txBody>
      </p:sp>
      <p:sp>
        <p:nvSpPr>
          <p:cNvPr id="32" name="矩形 31"/>
          <p:cNvSpPr/>
          <p:nvPr/>
        </p:nvSpPr>
        <p:spPr>
          <a:xfrm>
            <a:off x="5942330" y="179405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矩形 37"/>
          <p:cNvSpPr/>
          <p:nvPr/>
        </p:nvSpPr>
        <p:spPr>
          <a:xfrm>
            <a:off x="6555105" y="179405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椭圆 38"/>
          <p:cNvSpPr/>
          <p:nvPr/>
        </p:nvSpPr>
        <p:spPr>
          <a:xfrm>
            <a:off x="5264150"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0.09</a:t>
            </a:r>
            <a:endParaRPr lang="zh-CN" altLang="en-US" dirty="0">
              <a:latin typeface="Times New Roman" panose="02020603050405020304" pitchFamily="18" charset="0"/>
              <a:cs typeface="Times New Roman" panose="02020603050405020304" pitchFamily="18" charset="0"/>
            </a:endParaRPr>
          </a:p>
        </p:txBody>
      </p:sp>
      <p:sp>
        <p:nvSpPr>
          <p:cNvPr id="40" name="椭圆 39"/>
          <p:cNvSpPr/>
          <p:nvPr/>
        </p:nvSpPr>
        <p:spPr>
          <a:xfrm>
            <a:off x="6418580" y="535214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0.10</a:t>
            </a:r>
            <a:endParaRPr lang="zh-CN" altLang="en-US" dirty="0">
              <a:latin typeface="Times New Roman" panose="02020603050405020304" pitchFamily="18" charset="0"/>
              <a:cs typeface="Times New Roman" panose="02020603050405020304" pitchFamily="18" charset="0"/>
            </a:endParaRPr>
          </a:p>
        </p:txBody>
      </p:sp>
      <p:sp>
        <p:nvSpPr>
          <p:cNvPr id="41" name="矩形 40"/>
          <p:cNvSpPr/>
          <p:nvPr/>
        </p:nvSpPr>
        <p:spPr>
          <a:xfrm>
            <a:off x="702945" y="2278561"/>
            <a:ext cx="3053715"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2" name="文本框 41"/>
          <p:cNvSpPr txBox="1"/>
          <p:nvPr/>
        </p:nvSpPr>
        <p:spPr>
          <a:xfrm>
            <a:off x="749300" y="2274116"/>
            <a:ext cx="356743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0.11, 0.19, 0.19, 0.21, 0.30 </a:t>
            </a:r>
          </a:p>
        </p:txBody>
      </p:sp>
      <p:sp>
        <p:nvSpPr>
          <p:cNvPr id="44" name="矩形 43"/>
          <p:cNvSpPr/>
          <p:nvPr/>
        </p:nvSpPr>
        <p:spPr>
          <a:xfrm>
            <a:off x="749300" y="228872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 name="矩形 44"/>
          <p:cNvSpPr/>
          <p:nvPr/>
        </p:nvSpPr>
        <p:spPr>
          <a:xfrm>
            <a:off x="1370330" y="228999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椭圆 45"/>
          <p:cNvSpPr/>
          <p:nvPr/>
        </p:nvSpPr>
        <p:spPr>
          <a:xfrm>
            <a:off x="5810885"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0.19</a:t>
            </a:r>
            <a:endParaRPr lang="zh-CN" altLang="en-US" dirty="0">
              <a:latin typeface="Times New Roman" panose="02020603050405020304" pitchFamily="18" charset="0"/>
              <a:cs typeface="Times New Roman" panose="02020603050405020304" pitchFamily="18" charset="0"/>
            </a:endParaRPr>
          </a:p>
        </p:txBody>
      </p:sp>
      <p:cxnSp>
        <p:nvCxnSpPr>
          <p:cNvPr id="47" name="直接连接符 46"/>
          <p:cNvCxnSpPr>
            <a:stCxn id="27" idx="0"/>
            <a:endCxn id="28" idx="5"/>
          </p:cNvCxnSpPr>
          <p:nvPr/>
        </p:nvCxnSpPr>
        <p:spPr>
          <a:xfrm flipH="1" flipV="1">
            <a:off x="4253865" y="5183234"/>
            <a:ext cx="22796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48"/>
          <p:cNvCxnSpPr>
            <a:stCxn id="39" idx="0"/>
            <a:endCxn id="46" idx="3"/>
          </p:cNvCxnSpPr>
          <p:nvPr/>
        </p:nvCxnSpPr>
        <p:spPr>
          <a:xfrm flipV="1">
            <a:off x="5697855" y="5183234"/>
            <a:ext cx="24003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a:stCxn id="40" idx="0"/>
            <a:endCxn id="46" idx="5"/>
          </p:cNvCxnSpPr>
          <p:nvPr/>
        </p:nvCxnSpPr>
        <p:spPr>
          <a:xfrm flipH="1" flipV="1">
            <a:off x="6551295" y="5183234"/>
            <a:ext cx="30099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1" name="椭圆 50"/>
          <p:cNvSpPr/>
          <p:nvPr/>
        </p:nvSpPr>
        <p:spPr>
          <a:xfrm>
            <a:off x="4669790" y="407198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0.30</a:t>
            </a:r>
            <a:endParaRPr lang="zh-CN" altLang="en-US" dirty="0">
              <a:latin typeface="Times New Roman" panose="02020603050405020304" pitchFamily="18" charset="0"/>
              <a:cs typeface="Times New Roman" panose="02020603050405020304" pitchFamily="18" charset="0"/>
            </a:endParaRPr>
          </a:p>
        </p:txBody>
      </p:sp>
      <p:sp>
        <p:nvSpPr>
          <p:cNvPr id="52" name="矩形 51"/>
          <p:cNvSpPr/>
          <p:nvPr/>
        </p:nvSpPr>
        <p:spPr>
          <a:xfrm>
            <a:off x="3954780" y="2261416"/>
            <a:ext cx="2366010" cy="387350"/>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3" name="矩形 52"/>
          <p:cNvSpPr/>
          <p:nvPr/>
        </p:nvSpPr>
        <p:spPr>
          <a:xfrm>
            <a:off x="4001135" y="227157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4" name="矩形 53"/>
          <p:cNvSpPr/>
          <p:nvPr/>
        </p:nvSpPr>
        <p:spPr>
          <a:xfrm>
            <a:off x="4622165" y="227284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5" name="文本框 54"/>
          <p:cNvSpPr txBox="1"/>
          <p:nvPr/>
        </p:nvSpPr>
        <p:spPr>
          <a:xfrm>
            <a:off x="4001135" y="2267131"/>
            <a:ext cx="2517140"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0.19, 0.21 ,0.30,0.30</a:t>
            </a:r>
          </a:p>
        </p:txBody>
      </p:sp>
      <p:cxnSp>
        <p:nvCxnSpPr>
          <p:cNvPr id="56" name="直接连接符 55"/>
          <p:cNvCxnSpPr>
            <a:stCxn id="28" idx="0"/>
            <a:endCxn id="51" idx="2"/>
          </p:cNvCxnSpPr>
          <p:nvPr/>
        </p:nvCxnSpPr>
        <p:spPr>
          <a:xfrm flipV="1">
            <a:off x="3947160" y="4371704"/>
            <a:ext cx="72263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46" idx="0"/>
            <a:endCxn id="51" idx="6"/>
          </p:cNvCxnSpPr>
          <p:nvPr/>
        </p:nvCxnSpPr>
        <p:spPr>
          <a:xfrm flipH="1" flipV="1">
            <a:off x="5537200" y="4371704"/>
            <a:ext cx="70739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8" name="椭圆 57"/>
          <p:cNvSpPr/>
          <p:nvPr/>
        </p:nvSpPr>
        <p:spPr>
          <a:xfrm>
            <a:off x="7430135"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0.19</a:t>
            </a:r>
            <a:endParaRPr lang="zh-CN" altLang="en-US" dirty="0">
              <a:latin typeface="Times New Roman" panose="02020603050405020304" pitchFamily="18" charset="0"/>
              <a:cs typeface="Times New Roman" panose="02020603050405020304" pitchFamily="18" charset="0"/>
            </a:endParaRPr>
          </a:p>
        </p:txBody>
      </p:sp>
      <p:sp>
        <p:nvSpPr>
          <p:cNvPr id="59" name="椭圆 58"/>
          <p:cNvSpPr/>
          <p:nvPr/>
        </p:nvSpPr>
        <p:spPr>
          <a:xfrm>
            <a:off x="8460740" y="467142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0.21</a:t>
            </a:r>
            <a:endParaRPr lang="zh-CN" altLang="en-US" dirty="0">
              <a:latin typeface="Times New Roman" panose="02020603050405020304" pitchFamily="18" charset="0"/>
              <a:cs typeface="Times New Roman" panose="02020603050405020304" pitchFamily="18" charset="0"/>
            </a:endParaRPr>
          </a:p>
        </p:txBody>
      </p:sp>
      <p:sp>
        <p:nvSpPr>
          <p:cNvPr id="60" name="椭圆 59"/>
          <p:cNvSpPr/>
          <p:nvPr/>
        </p:nvSpPr>
        <p:spPr>
          <a:xfrm>
            <a:off x="7929880" y="396403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0.40</a:t>
            </a:r>
            <a:endParaRPr lang="zh-CN" altLang="en-US" dirty="0">
              <a:latin typeface="Times New Roman" panose="02020603050405020304" pitchFamily="18" charset="0"/>
              <a:cs typeface="Times New Roman" panose="02020603050405020304" pitchFamily="18" charset="0"/>
            </a:endParaRPr>
          </a:p>
        </p:txBody>
      </p:sp>
      <p:sp>
        <p:nvSpPr>
          <p:cNvPr id="61" name="椭圆 60"/>
          <p:cNvSpPr/>
          <p:nvPr/>
        </p:nvSpPr>
        <p:spPr>
          <a:xfrm>
            <a:off x="6418580" y="407198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0.30</a:t>
            </a:r>
            <a:endParaRPr lang="zh-CN" altLang="en-US" dirty="0">
              <a:latin typeface="Times New Roman" panose="02020603050405020304" pitchFamily="18" charset="0"/>
              <a:cs typeface="Times New Roman" panose="02020603050405020304" pitchFamily="18" charset="0"/>
            </a:endParaRPr>
          </a:p>
        </p:txBody>
      </p:sp>
      <p:sp>
        <p:nvSpPr>
          <p:cNvPr id="62" name="椭圆 61"/>
          <p:cNvSpPr/>
          <p:nvPr/>
        </p:nvSpPr>
        <p:spPr>
          <a:xfrm>
            <a:off x="5568950" y="3520169"/>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0.60</a:t>
            </a:r>
            <a:endParaRPr lang="zh-CN" altLang="en-US" dirty="0">
              <a:latin typeface="Times New Roman" panose="02020603050405020304" pitchFamily="18" charset="0"/>
              <a:cs typeface="Times New Roman" panose="02020603050405020304" pitchFamily="18" charset="0"/>
            </a:endParaRPr>
          </a:p>
        </p:txBody>
      </p:sp>
      <p:sp>
        <p:nvSpPr>
          <p:cNvPr id="63" name="椭圆 62"/>
          <p:cNvSpPr/>
          <p:nvPr/>
        </p:nvSpPr>
        <p:spPr>
          <a:xfrm>
            <a:off x="6743065" y="2899774"/>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1.00</a:t>
            </a:r>
            <a:endParaRPr lang="zh-CN" altLang="en-US" dirty="0">
              <a:latin typeface="Times New Roman" panose="02020603050405020304" pitchFamily="18" charset="0"/>
              <a:cs typeface="Times New Roman" panose="02020603050405020304" pitchFamily="18" charset="0"/>
            </a:endParaRPr>
          </a:p>
        </p:txBody>
      </p:sp>
      <p:cxnSp>
        <p:nvCxnSpPr>
          <p:cNvPr id="64" name="直接连接符 63"/>
          <p:cNvCxnSpPr>
            <a:stCxn id="51" idx="0"/>
            <a:endCxn id="62" idx="2"/>
          </p:cNvCxnSpPr>
          <p:nvPr/>
        </p:nvCxnSpPr>
        <p:spPr>
          <a:xfrm flipV="1">
            <a:off x="5103495" y="3819889"/>
            <a:ext cx="46545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61" idx="0"/>
            <a:endCxn id="62" idx="6"/>
          </p:cNvCxnSpPr>
          <p:nvPr/>
        </p:nvCxnSpPr>
        <p:spPr>
          <a:xfrm flipH="1" flipV="1">
            <a:off x="6436360" y="3819889"/>
            <a:ext cx="41592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58" idx="0"/>
            <a:endCxn id="60" idx="3"/>
          </p:cNvCxnSpPr>
          <p:nvPr/>
        </p:nvCxnSpPr>
        <p:spPr>
          <a:xfrm flipV="1">
            <a:off x="7863840" y="4475844"/>
            <a:ext cx="193040"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59" idx="0"/>
            <a:endCxn id="60" idx="5"/>
          </p:cNvCxnSpPr>
          <p:nvPr/>
        </p:nvCxnSpPr>
        <p:spPr>
          <a:xfrm flipH="1" flipV="1">
            <a:off x="8670290" y="4475844"/>
            <a:ext cx="224155"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60" idx="0"/>
            <a:endCxn id="63" idx="6"/>
          </p:cNvCxnSpPr>
          <p:nvPr/>
        </p:nvCxnSpPr>
        <p:spPr>
          <a:xfrm flipH="1" flipV="1">
            <a:off x="7610475" y="3199494"/>
            <a:ext cx="753110" cy="7645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62" idx="0"/>
            <a:endCxn id="63" idx="2"/>
          </p:cNvCxnSpPr>
          <p:nvPr/>
        </p:nvCxnSpPr>
        <p:spPr>
          <a:xfrm flipV="1">
            <a:off x="6002655" y="3199494"/>
            <a:ext cx="740410" cy="3206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70" name="文本框 69"/>
          <p:cNvSpPr txBox="1"/>
          <p:nvPr/>
        </p:nvSpPr>
        <p:spPr>
          <a:xfrm>
            <a:off x="6801485" y="2250621"/>
            <a:ext cx="1956435" cy="398780"/>
          </a:xfrm>
          <a:prstGeom prst="rect">
            <a:avLst/>
          </a:prstGeom>
          <a:noFill/>
        </p:spPr>
        <p:txBody>
          <a:bodyPr wrap="square" rtlCol="0" anchor="t">
            <a:spAutoFit/>
          </a:bodyPr>
          <a:lstStyle/>
          <a:p>
            <a:r>
              <a:rPr lang="en-US" altLang="zh-CN" sz="2000">
                <a:latin typeface="Times New Roman" panose="02020603050405020304" pitchFamily="18" charset="0"/>
                <a:ea typeface="宋体" panose="02010600030101010101" pitchFamily="2" charset="-122"/>
                <a:cs typeface="Times New Roman" panose="02020603050405020304" pitchFamily="18" charset="0"/>
                <a:sym typeface="+mn-ea"/>
              </a:rPr>
              <a:t>0.30, 0.30, 0.40</a:t>
            </a:r>
          </a:p>
        </p:txBody>
      </p:sp>
      <p:sp>
        <p:nvSpPr>
          <p:cNvPr id="72" name="矩形 71"/>
          <p:cNvSpPr/>
          <p:nvPr/>
        </p:nvSpPr>
        <p:spPr>
          <a:xfrm>
            <a:off x="6820535" y="2295071"/>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3" name="矩形 72"/>
          <p:cNvSpPr/>
          <p:nvPr/>
        </p:nvSpPr>
        <p:spPr>
          <a:xfrm>
            <a:off x="7451090" y="2298246"/>
            <a:ext cx="554355" cy="358775"/>
          </a:xfrm>
          <a:prstGeom prst="rect">
            <a:avLst/>
          </a:prstGeom>
          <a:noFill/>
          <a:ln w="19050" cmpd="sng">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714445" y="82711"/>
            <a:ext cx="10858150" cy="974885"/>
          </a:xfrm>
        </p:spPr>
        <p:txBody>
          <a:bodyPr>
            <a:normAutofit fontScale="90000"/>
          </a:bodyPr>
          <a:lstStyle/>
          <a:p>
            <a:pPr algn="l"/>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问答题</a:t>
            </a:r>
            <a:r>
              <a:rPr kumimoji="0" lang="en-US" altLang="zh-CN" sz="2000" b="1" i="0" u="none" strike="noStrike" kern="100" cap="none" spc="0" normalizeH="0" baseline="0" noProof="0" dirty="0">
                <a:ln>
                  <a:noFill/>
                </a:ln>
                <a:solidFill>
                  <a:srgbClr val="000000"/>
                </a:solidFill>
                <a:uLnTx/>
                <a:uFillTx/>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用于通信的电文由</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个字符组成，字符在电文中出现的频率分别为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0.09, 0.19, 0.02, 0.06, 0.30, </a:t>
            </a:r>
            <a:br>
              <a:rPr lang="en-US" altLang="zh-CN" sz="20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0.03, 0.21, 0.10</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。试为这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8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个字符设计哈夫曼编码并计算总编码长度。使用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0~7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3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位等长二</a:t>
            </a:r>
            <a:br>
              <a:rPr lang="zh-CN" altLang="en-US" sz="2000" dirty="0">
                <a:latin typeface="Times New Roman" panose="02020603050405020304" pitchFamily="18" charset="0"/>
                <a:ea typeface="宋体" panose="02010600030101010101" pitchFamily="2" charset="-122"/>
                <a:cs typeface="Times New Roman" panose="02020603050405020304" pitchFamily="18" charset="0"/>
              </a:rPr>
            </a:b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进制表示形式是另一种编码方案，对于上述实例比较两种方案的优缺点。</a:t>
            </a:r>
          </a:p>
        </p:txBody>
      </p:sp>
      <p:sp>
        <p:nvSpPr>
          <p:cNvPr id="14" name="椭圆 13"/>
          <p:cNvSpPr/>
          <p:nvPr/>
        </p:nvSpPr>
        <p:spPr>
          <a:xfrm>
            <a:off x="501741" y="6036945"/>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0.02</a:t>
            </a:r>
          </a:p>
        </p:txBody>
      </p:sp>
      <p:sp>
        <p:nvSpPr>
          <p:cNvPr id="19" name="椭圆 18"/>
          <p:cNvSpPr/>
          <p:nvPr/>
        </p:nvSpPr>
        <p:spPr>
          <a:xfrm>
            <a:off x="1695541" y="6036945"/>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0.03</a:t>
            </a:r>
            <a:endParaRPr lang="zh-CN" altLang="en-US" b="1" dirty="0">
              <a:latin typeface="Times New Roman" panose="02020603050405020304" pitchFamily="18" charset="0"/>
              <a:cs typeface="Times New Roman" panose="02020603050405020304" pitchFamily="18" charset="0"/>
            </a:endParaRPr>
          </a:p>
        </p:txBody>
      </p:sp>
      <p:sp>
        <p:nvSpPr>
          <p:cNvPr id="20" name="椭圆 19"/>
          <p:cNvSpPr/>
          <p:nvPr/>
        </p:nvSpPr>
        <p:spPr>
          <a:xfrm>
            <a:off x="1075781"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0.05</a:t>
            </a:r>
            <a:endParaRPr lang="zh-CN" altLang="en-US" dirty="0">
              <a:latin typeface="Times New Roman" panose="02020603050405020304" pitchFamily="18" charset="0"/>
              <a:cs typeface="Times New Roman" panose="02020603050405020304" pitchFamily="18" charset="0"/>
            </a:endParaRPr>
          </a:p>
        </p:txBody>
      </p:sp>
      <p:cxnSp>
        <p:nvCxnSpPr>
          <p:cNvPr id="21" name="直接连接符 20"/>
          <p:cNvCxnSpPr>
            <a:stCxn id="14" idx="0"/>
            <a:endCxn id="20" idx="3"/>
          </p:cNvCxnSpPr>
          <p:nvPr/>
        </p:nvCxnSpPr>
        <p:spPr>
          <a:xfrm flipV="1">
            <a:off x="935446" y="5793740"/>
            <a:ext cx="26733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2" name="直接连接符 21"/>
          <p:cNvCxnSpPr>
            <a:stCxn id="19" idx="0"/>
            <a:endCxn id="20" idx="5"/>
          </p:cNvCxnSpPr>
          <p:nvPr/>
        </p:nvCxnSpPr>
        <p:spPr>
          <a:xfrm flipH="1" flipV="1">
            <a:off x="1816191" y="5793740"/>
            <a:ext cx="313055" cy="2432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7" name="椭圆 26"/>
          <p:cNvSpPr/>
          <p:nvPr/>
        </p:nvSpPr>
        <p:spPr>
          <a:xfrm>
            <a:off x="2230211"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0.06</a:t>
            </a:r>
          </a:p>
        </p:txBody>
      </p:sp>
      <p:sp>
        <p:nvSpPr>
          <p:cNvPr id="28" name="椭圆 27"/>
          <p:cNvSpPr/>
          <p:nvPr/>
        </p:nvSpPr>
        <p:spPr>
          <a:xfrm>
            <a:off x="1695541"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0.11</a:t>
            </a:r>
            <a:endParaRPr lang="zh-CN" altLang="en-US" dirty="0">
              <a:latin typeface="Times New Roman" panose="02020603050405020304" pitchFamily="18" charset="0"/>
              <a:cs typeface="Times New Roman" panose="02020603050405020304" pitchFamily="18" charset="0"/>
            </a:endParaRPr>
          </a:p>
        </p:txBody>
      </p:sp>
      <p:cxnSp>
        <p:nvCxnSpPr>
          <p:cNvPr id="29" name="直接连接符 28"/>
          <p:cNvCxnSpPr>
            <a:stCxn id="20" idx="0"/>
            <a:endCxn id="28" idx="3"/>
          </p:cNvCxnSpPr>
          <p:nvPr/>
        </p:nvCxnSpPr>
        <p:spPr>
          <a:xfrm flipV="1">
            <a:off x="1509486" y="5113020"/>
            <a:ext cx="31305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39" name="椭圆 38"/>
          <p:cNvSpPr/>
          <p:nvPr/>
        </p:nvSpPr>
        <p:spPr>
          <a:xfrm>
            <a:off x="3446236"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0.09</a:t>
            </a:r>
          </a:p>
        </p:txBody>
      </p:sp>
      <p:sp>
        <p:nvSpPr>
          <p:cNvPr id="40" name="椭圆 39"/>
          <p:cNvSpPr/>
          <p:nvPr/>
        </p:nvSpPr>
        <p:spPr>
          <a:xfrm>
            <a:off x="4600666" y="528193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0.10</a:t>
            </a:r>
            <a:endParaRPr lang="zh-CN" altLang="en-US" b="1" dirty="0">
              <a:latin typeface="Times New Roman" panose="02020603050405020304" pitchFamily="18" charset="0"/>
              <a:cs typeface="Times New Roman" panose="02020603050405020304" pitchFamily="18" charset="0"/>
            </a:endParaRPr>
          </a:p>
        </p:txBody>
      </p:sp>
      <p:sp>
        <p:nvSpPr>
          <p:cNvPr id="46" name="椭圆 45"/>
          <p:cNvSpPr/>
          <p:nvPr/>
        </p:nvSpPr>
        <p:spPr>
          <a:xfrm>
            <a:off x="3992971"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0.19</a:t>
            </a:r>
            <a:endParaRPr lang="zh-CN" altLang="en-US" dirty="0">
              <a:latin typeface="Times New Roman" panose="02020603050405020304" pitchFamily="18" charset="0"/>
              <a:cs typeface="Times New Roman" panose="02020603050405020304" pitchFamily="18" charset="0"/>
            </a:endParaRPr>
          </a:p>
        </p:txBody>
      </p:sp>
      <p:cxnSp>
        <p:nvCxnSpPr>
          <p:cNvPr id="47" name="直接连接符 46"/>
          <p:cNvCxnSpPr>
            <a:stCxn id="27" idx="0"/>
            <a:endCxn id="28" idx="5"/>
          </p:cNvCxnSpPr>
          <p:nvPr/>
        </p:nvCxnSpPr>
        <p:spPr>
          <a:xfrm flipH="1" flipV="1">
            <a:off x="2435951" y="5113020"/>
            <a:ext cx="227965"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9" name="直接连接符 48"/>
          <p:cNvCxnSpPr>
            <a:stCxn id="39" idx="0"/>
            <a:endCxn id="46" idx="3"/>
          </p:cNvCxnSpPr>
          <p:nvPr/>
        </p:nvCxnSpPr>
        <p:spPr>
          <a:xfrm flipV="1">
            <a:off x="3879941" y="5113020"/>
            <a:ext cx="24003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a:stCxn id="40" idx="0"/>
            <a:endCxn id="46" idx="5"/>
          </p:cNvCxnSpPr>
          <p:nvPr/>
        </p:nvCxnSpPr>
        <p:spPr>
          <a:xfrm flipH="1" flipV="1">
            <a:off x="4733381" y="5113020"/>
            <a:ext cx="300990" cy="1689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1" name="椭圆 50"/>
          <p:cNvSpPr/>
          <p:nvPr/>
        </p:nvSpPr>
        <p:spPr>
          <a:xfrm>
            <a:off x="2851876" y="400177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0.30</a:t>
            </a:r>
            <a:endParaRPr lang="zh-CN" altLang="en-US" dirty="0">
              <a:latin typeface="Times New Roman" panose="02020603050405020304" pitchFamily="18" charset="0"/>
              <a:cs typeface="Times New Roman" panose="02020603050405020304" pitchFamily="18" charset="0"/>
            </a:endParaRPr>
          </a:p>
        </p:txBody>
      </p:sp>
      <p:cxnSp>
        <p:nvCxnSpPr>
          <p:cNvPr id="56" name="直接连接符 55"/>
          <p:cNvCxnSpPr>
            <a:stCxn id="28" idx="0"/>
            <a:endCxn id="51" idx="2"/>
          </p:cNvCxnSpPr>
          <p:nvPr/>
        </p:nvCxnSpPr>
        <p:spPr>
          <a:xfrm flipV="1">
            <a:off x="2129246" y="4301490"/>
            <a:ext cx="72263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46" idx="0"/>
            <a:endCxn id="51" idx="6"/>
          </p:cNvCxnSpPr>
          <p:nvPr/>
        </p:nvCxnSpPr>
        <p:spPr>
          <a:xfrm flipH="1" flipV="1">
            <a:off x="3719286" y="4301490"/>
            <a:ext cx="707390" cy="2997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8" name="椭圆 57"/>
          <p:cNvSpPr/>
          <p:nvPr/>
        </p:nvSpPr>
        <p:spPr>
          <a:xfrm>
            <a:off x="5612221"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0.19</a:t>
            </a:r>
          </a:p>
        </p:txBody>
      </p:sp>
      <p:sp>
        <p:nvSpPr>
          <p:cNvPr id="59" name="椭圆 58"/>
          <p:cNvSpPr/>
          <p:nvPr/>
        </p:nvSpPr>
        <p:spPr>
          <a:xfrm>
            <a:off x="6642826" y="460121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0.21</a:t>
            </a:r>
          </a:p>
        </p:txBody>
      </p:sp>
      <p:sp>
        <p:nvSpPr>
          <p:cNvPr id="60" name="椭圆 59"/>
          <p:cNvSpPr/>
          <p:nvPr/>
        </p:nvSpPr>
        <p:spPr>
          <a:xfrm>
            <a:off x="6111966" y="389382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0.40</a:t>
            </a:r>
            <a:endParaRPr lang="zh-CN" altLang="en-US" dirty="0">
              <a:latin typeface="Times New Roman" panose="02020603050405020304" pitchFamily="18" charset="0"/>
              <a:cs typeface="Times New Roman" panose="02020603050405020304" pitchFamily="18" charset="0"/>
            </a:endParaRPr>
          </a:p>
        </p:txBody>
      </p:sp>
      <p:sp>
        <p:nvSpPr>
          <p:cNvPr id="61" name="椭圆 60"/>
          <p:cNvSpPr/>
          <p:nvPr/>
        </p:nvSpPr>
        <p:spPr>
          <a:xfrm>
            <a:off x="4600666" y="400177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0.30</a:t>
            </a:r>
            <a:endParaRPr lang="zh-CN" altLang="en-US" b="1" dirty="0">
              <a:latin typeface="Times New Roman" panose="02020603050405020304" pitchFamily="18" charset="0"/>
              <a:cs typeface="Times New Roman" panose="02020603050405020304" pitchFamily="18" charset="0"/>
            </a:endParaRPr>
          </a:p>
        </p:txBody>
      </p:sp>
      <p:sp>
        <p:nvSpPr>
          <p:cNvPr id="62" name="椭圆 61"/>
          <p:cNvSpPr/>
          <p:nvPr/>
        </p:nvSpPr>
        <p:spPr>
          <a:xfrm>
            <a:off x="3751036" y="3449955"/>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0.60</a:t>
            </a:r>
            <a:endParaRPr lang="zh-CN" altLang="en-US" dirty="0">
              <a:latin typeface="Times New Roman" panose="02020603050405020304" pitchFamily="18" charset="0"/>
              <a:cs typeface="Times New Roman" panose="02020603050405020304" pitchFamily="18" charset="0"/>
            </a:endParaRPr>
          </a:p>
        </p:txBody>
      </p:sp>
      <p:sp>
        <p:nvSpPr>
          <p:cNvPr id="63" name="椭圆 62"/>
          <p:cNvSpPr/>
          <p:nvPr/>
        </p:nvSpPr>
        <p:spPr>
          <a:xfrm>
            <a:off x="4925151" y="2829560"/>
            <a:ext cx="867410" cy="59944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1.00</a:t>
            </a:r>
            <a:endParaRPr lang="zh-CN" altLang="en-US" dirty="0">
              <a:latin typeface="Times New Roman" panose="02020603050405020304" pitchFamily="18" charset="0"/>
              <a:cs typeface="Times New Roman" panose="02020603050405020304" pitchFamily="18" charset="0"/>
            </a:endParaRPr>
          </a:p>
        </p:txBody>
      </p:sp>
      <p:cxnSp>
        <p:nvCxnSpPr>
          <p:cNvPr id="64" name="直接连接符 63"/>
          <p:cNvCxnSpPr>
            <a:stCxn id="51" idx="0"/>
            <a:endCxn id="62" idx="2"/>
          </p:cNvCxnSpPr>
          <p:nvPr/>
        </p:nvCxnSpPr>
        <p:spPr>
          <a:xfrm flipV="1">
            <a:off x="3285581" y="3749675"/>
            <a:ext cx="46545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5" name="直接连接符 64"/>
          <p:cNvCxnSpPr>
            <a:stCxn id="61" idx="0"/>
            <a:endCxn id="62" idx="6"/>
          </p:cNvCxnSpPr>
          <p:nvPr/>
        </p:nvCxnSpPr>
        <p:spPr>
          <a:xfrm flipH="1" flipV="1">
            <a:off x="4618446" y="3749675"/>
            <a:ext cx="415925" cy="25209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58" idx="0"/>
            <a:endCxn id="60" idx="3"/>
          </p:cNvCxnSpPr>
          <p:nvPr/>
        </p:nvCxnSpPr>
        <p:spPr>
          <a:xfrm flipV="1">
            <a:off x="6045926" y="4405630"/>
            <a:ext cx="193040"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59" idx="0"/>
            <a:endCxn id="60" idx="5"/>
          </p:cNvCxnSpPr>
          <p:nvPr/>
        </p:nvCxnSpPr>
        <p:spPr>
          <a:xfrm flipH="1" flipV="1">
            <a:off x="6852376" y="4405630"/>
            <a:ext cx="224155" cy="19558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60" idx="0"/>
            <a:endCxn id="63" idx="6"/>
          </p:cNvCxnSpPr>
          <p:nvPr/>
        </p:nvCxnSpPr>
        <p:spPr>
          <a:xfrm flipH="1" flipV="1">
            <a:off x="5792561" y="3129280"/>
            <a:ext cx="753110" cy="7645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a:stCxn id="62" idx="0"/>
            <a:endCxn id="63" idx="2"/>
          </p:cNvCxnSpPr>
          <p:nvPr/>
        </p:nvCxnSpPr>
        <p:spPr>
          <a:xfrm flipV="1">
            <a:off x="4184741" y="3129280"/>
            <a:ext cx="740410" cy="3206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4438741" y="2962275"/>
            <a:ext cx="455930" cy="368300"/>
          </a:xfrm>
          <a:prstGeom prst="rect">
            <a:avLst/>
          </a:prstGeom>
          <a:noFill/>
        </p:spPr>
        <p:txBody>
          <a:bodyPr wrap="square" rtlCol="0">
            <a:spAutoFit/>
          </a:bodyPr>
          <a:lstStyle/>
          <a:p>
            <a:r>
              <a:rPr lang="en-US" altLang="zh-CN"/>
              <a:t>0</a:t>
            </a:r>
          </a:p>
        </p:txBody>
      </p:sp>
      <p:sp>
        <p:nvSpPr>
          <p:cNvPr id="3" name="文本框 2"/>
          <p:cNvSpPr txBox="1"/>
          <p:nvPr/>
        </p:nvSpPr>
        <p:spPr>
          <a:xfrm>
            <a:off x="6890476" y="4271010"/>
            <a:ext cx="455930" cy="368300"/>
          </a:xfrm>
          <a:prstGeom prst="rect">
            <a:avLst/>
          </a:prstGeom>
          <a:noFill/>
        </p:spPr>
        <p:txBody>
          <a:bodyPr wrap="square" rtlCol="0">
            <a:spAutoFit/>
          </a:bodyPr>
          <a:lstStyle/>
          <a:p>
            <a:r>
              <a:rPr lang="en-US" altLang="zh-CN"/>
              <a:t>1</a:t>
            </a:r>
          </a:p>
        </p:txBody>
      </p:sp>
      <p:sp>
        <p:nvSpPr>
          <p:cNvPr id="4" name="文本框 3"/>
          <p:cNvSpPr txBox="1"/>
          <p:nvPr/>
        </p:nvSpPr>
        <p:spPr>
          <a:xfrm>
            <a:off x="3334476" y="3578860"/>
            <a:ext cx="455930" cy="368300"/>
          </a:xfrm>
          <a:prstGeom prst="rect">
            <a:avLst/>
          </a:prstGeom>
          <a:noFill/>
        </p:spPr>
        <p:txBody>
          <a:bodyPr wrap="square" rtlCol="0">
            <a:spAutoFit/>
          </a:bodyPr>
          <a:lstStyle/>
          <a:p>
            <a:r>
              <a:rPr lang="en-US" altLang="zh-CN"/>
              <a:t>0</a:t>
            </a:r>
          </a:p>
        </p:txBody>
      </p:sp>
      <p:sp>
        <p:nvSpPr>
          <p:cNvPr id="5" name="文本框 4"/>
          <p:cNvSpPr txBox="1"/>
          <p:nvPr/>
        </p:nvSpPr>
        <p:spPr>
          <a:xfrm>
            <a:off x="2288631" y="4170045"/>
            <a:ext cx="455930" cy="368300"/>
          </a:xfrm>
          <a:prstGeom prst="rect">
            <a:avLst/>
          </a:prstGeom>
          <a:noFill/>
        </p:spPr>
        <p:txBody>
          <a:bodyPr wrap="square" rtlCol="0">
            <a:spAutoFit/>
          </a:bodyPr>
          <a:lstStyle/>
          <a:p>
            <a:r>
              <a:rPr lang="en-US" altLang="zh-CN"/>
              <a:t>0</a:t>
            </a:r>
          </a:p>
        </p:txBody>
      </p:sp>
      <p:sp>
        <p:nvSpPr>
          <p:cNvPr id="7" name="文本框 6"/>
          <p:cNvSpPr txBox="1"/>
          <p:nvPr/>
        </p:nvSpPr>
        <p:spPr>
          <a:xfrm>
            <a:off x="1449161" y="4942205"/>
            <a:ext cx="455930" cy="368300"/>
          </a:xfrm>
          <a:prstGeom prst="rect">
            <a:avLst/>
          </a:prstGeom>
          <a:noFill/>
        </p:spPr>
        <p:txBody>
          <a:bodyPr wrap="square" rtlCol="0">
            <a:spAutoFit/>
          </a:bodyPr>
          <a:lstStyle/>
          <a:p>
            <a:r>
              <a:rPr lang="en-US" altLang="zh-CN"/>
              <a:t>0</a:t>
            </a:r>
          </a:p>
        </p:txBody>
      </p:sp>
      <p:sp>
        <p:nvSpPr>
          <p:cNvPr id="16" name="文本框 15"/>
          <p:cNvSpPr txBox="1"/>
          <p:nvPr/>
        </p:nvSpPr>
        <p:spPr>
          <a:xfrm>
            <a:off x="758281" y="5710555"/>
            <a:ext cx="455930" cy="368300"/>
          </a:xfrm>
          <a:prstGeom prst="rect">
            <a:avLst/>
          </a:prstGeom>
          <a:noFill/>
        </p:spPr>
        <p:txBody>
          <a:bodyPr wrap="square" rtlCol="0">
            <a:spAutoFit/>
          </a:bodyPr>
          <a:lstStyle/>
          <a:p>
            <a:r>
              <a:rPr lang="en-US" altLang="zh-CN"/>
              <a:t>0</a:t>
            </a:r>
          </a:p>
        </p:txBody>
      </p:sp>
      <p:sp>
        <p:nvSpPr>
          <p:cNvPr id="17" name="文本框 16"/>
          <p:cNvSpPr txBox="1"/>
          <p:nvPr/>
        </p:nvSpPr>
        <p:spPr>
          <a:xfrm>
            <a:off x="3702141" y="4926965"/>
            <a:ext cx="455930" cy="368300"/>
          </a:xfrm>
          <a:prstGeom prst="rect">
            <a:avLst/>
          </a:prstGeom>
          <a:noFill/>
        </p:spPr>
        <p:txBody>
          <a:bodyPr wrap="square" rtlCol="0">
            <a:spAutoFit/>
          </a:bodyPr>
          <a:lstStyle/>
          <a:p>
            <a:r>
              <a:rPr lang="en-US" altLang="zh-CN"/>
              <a:t>0</a:t>
            </a:r>
          </a:p>
        </p:txBody>
      </p:sp>
      <p:sp>
        <p:nvSpPr>
          <p:cNvPr id="23" name="文本框 22"/>
          <p:cNvSpPr txBox="1"/>
          <p:nvPr/>
        </p:nvSpPr>
        <p:spPr>
          <a:xfrm>
            <a:off x="5887811" y="4284345"/>
            <a:ext cx="455930" cy="368300"/>
          </a:xfrm>
          <a:prstGeom prst="rect">
            <a:avLst/>
          </a:prstGeom>
          <a:noFill/>
        </p:spPr>
        <p:txBody>
          <a:bodyPr wrap="square" rtlCol="0">
            <a:spAutoFit/>
          </a:bodyPr>
          <a:lstStyle/>
          <a:p>
            <a:r>
              <a:rPr lang="en-US" altLang="zh-CN"/>
              <a:t>0</a:t>
            </a:r>
          </a:p>
        </p:txBody>
      </p:sp>
      <p:sp>
        <p:nvSpPr>
          <p:cNvPr id="33" name="文本框 32"/>
          <p:cNvSpPr txBox="1"/>
          <p:nvPr/>
        </p:nvSpPr>
        <p:spPr>
          <a:xfrm>
            <a:off x="6074501" y="3210560"/>
            <a:ext cx="455930" cy="368300"/>
          </a:xfrm>
          <a:prstGeom prst="rect">
            <a:avLst/>
          </a:prstGeom>
          <a:noFill/>
        </p:spPr>
        <p:txBody>
          <a:bodyPr wrap="square" rtlCol="0">
            <a:spAutoFit/>
          </a:bodyPr>
          <a:lstStyle/>
          <a:p>
            <a:r>
              <a:rPr lang="en-US" altLang="zh-CN"/>
              <a:t>1</a:t>
            </a:r>
          </a:p>
        </p:txBody>
      </p:sp>
      <p:sp>
        <p:nvSpPr>
          <p:cNvPr id="34" name="文本框 33"/>
          <p:cNvSpPr txBox="1"/>
          <p:nvPr/>
        </p:nvSpPr>
        <p:spPr>
          <a:xfrm>
            <a:off x="4731476" y="3592195"/>
            <a:ext cx="455930" cy="368300"/>
          </a:xfrm>
          <a:prstGeom prst="rect">
            <a:avLst/>
          </a:prstGeom>
          <a:noFill/>
        </p:spPr>
        <p:txBody>
          <a:bodyPr wrap="square" rtlCol="0">
            <a:spAutoFit/>
          </a:bodyPr>
          <a:lstStyle/>
          <a:p>
            <a:r>
              <a:rPr lang="en-US" altLang="zh-CN"/>
              <a:t>1</a:t>
            </a:r>
          </a:p>
        </p:txBody>
      </p:sp>
      <p:sp>
        <p:nvSpPr>
          <p:cNvPr id="35" name="文本框 34"/>
          <p:cNvSpPr txBox="1"/>
          <p:nvPr/>
        </p:nvSpPr>
        <p:spPr>
          <a:xfrm>
            <a:off x="3942806" y="4172585"/>
            <a:ext cx="455930" cy="368300"/>
          </a:xfrm>
          <a:prstGeom prst="rect">
            <a:avLst/>
          </a:prstGeom>
          <a:noFill/>
        </p:spPr>
        <p:txBody>
          <a:bodyPr wrap="square" rtlCol="0">
            <a:spAutoFit/>
          </a:bodyPr>
          <a:lstStyle/>
          <a:p>
            <a:r>
              <a:rPr lang="en-US" altLang="zh-CN"/>
              <a:t>1</a:t>
            </a:r>
          </a:p>
        </p:txBody>
      </p:sp>
      <p:sp>
        <p:nvSpPr>
          <p:cNvPr id="36" name="文本框 35"/>
          <p:cNvSpPr txBox="1"/>
          <p:nvPr/>
        </p:nvSpPr>
        <p:spPr>
          <a:xfrm>
            <a:off x="2500721" y="4942205"/>
            <a:ext cx="455930" cy="368300"/>
          </a:xfrm>
          <a:prstGeom prst="rect">
            <a:avLst/>
          </a:prstGeom>
          <a:noFill/>
        </p:spPr>
        <p:txBody>
          <a:bodyPr wrap="square" rtlCol="0">
            <a:spAutoFit/>
          </a:bodyPr>
          <a:lstStyle/>
          <a:p>
            <a:r>
              <a:rPr lang="en-US" altLang="zh-CN"/>
              <a:t>1</a:t>
            </a:r>
          </a:p>
        </p:txBody>
      </p:sp>
      <p:sp>
        <p:nvSpPr>
          <p:cNvPr id="37" name="文本框 36"/>
          <p:cNvSpPr txBox="1"/>
          <p:nvPr/>
        </p:nvSpPr>
        <p:spPr>
          <a:xfrm>
            <a:off x="4807676" y="4932680"/>
            <a:ext cx="455930" cy="368300"/>
          </a:xfrm>
          <a:prstGeom prst="rect">
            <a:avLst/>
          </a:prstGeom>
          <a:noFill/>
        </p:spPr>
        <p:txBody>
          <a:bodyPr wrap="square" rtlCol="0">
            <a:spAutoFit/>
          </a:bodyPr>
          <a:lstStyle/>
          <a:p>
            <a:r>
              <a:rPr lang="en-US" altLang="zh-CN"/>
              <a:t>1</a:t>
            </a:r>
          </a:p>
        </p:txBody>
      </p:sp>
      <p:graphicFrame>
        <p:nvGraphicFramePr>
          <p:cNvPr id="48" name="表格 47"/>
          <p:cNvGraphicFramePr>
            <a:graphicFrameLocks noGrp="1"/>
          </p:cNvGraphicFramePr>
          <p:nvPr/>
        </p:nvGraphicFramePr>
        <p:xfrm>
          <a:off x="884269" y="1266972"/>
          <a:ext cx="7576180" cy="1275171"/>
        </p:xfrm>
        <a:graphic>
          <a:graphicData uri="http://schemas.openxmlformats.org/drawingml/2006/table">
            <a:tbl>
              <a:tblPr>
                <a:tableStyleId>{5C22544A-7EE6-4342-B048-85BDC9FD1C3A}</a:tableStyleId>
              </a:tblPr>
              <a:tblGrid>
                <a:gridCol w="841424">
                  <a:extLst>
                    <a:ext uri="{9D8B030D-6E8A-4147-A177-3AD203B41FA5}">
                      <a16:colId xmlns:a16="http://schemas.microsoft.com/office/drawing/2014/main" val="20000"/>
                    </a:ext>
                  </a:extLst>
                </a:gridCol>
                <a:gridCol w="841424">
                  <a:extLst>
                    <a:ext uri="{9D8B030D-6E8A-4147-A177-3AD203B41FA5}">
                      <a16:colId xmlns:a16="http://schemas.microsoft.com/office/drawing/2014/main" val="20001"/>
                    </a:ext>
                  </a:extLst>
                </a:gridCol>
                <a:gridCol w="841424">
                  <a:extLst>
                    <a:ext uri="{9D8B030D-6E8A-4147-A177-3AD203B41FA5}">
                      <a16:colId xmlns:a16="http://schemas.microsoft.com/office/drawing/2014/main" val="20002"/>
                    </a:ext>
                  </a:extLst>
                </a:gridCol>
                <a:gridCol w="841424">
                  <a:extLst>
                    <a:ext uri="{9D8B030D-6E8A-4147-A177-3AD203B41FA5}">
                      <a16:colId xmlns:a16="http://schemas.microsoft.com/office/drawing/2014/main" val="20003"/>
                    </a:ext>
                  </a:extLst>
                </a:gridCol>
                <a:gridCol w="841424">
                  <a:extLst>
                    <a:ext uri="{9D8B030D-6E8A-4147-A177-3AD203B41FA5}">
                      <a16:colId xmlns:a16="http://schemas.microsoft.com/office/drawing/2014/main" val="20004"/>
                    </a:ext>
                  </a:extLst>
                </a:gridCol>
                <a:gridCol w="842265">
                  <a:extLst>
                    <a:ext uri="{9D8B030D-6E8A-4147-A177-3AD203B41FA5}">
                      <a16:colId xmlns:a16="http://schemas.microsoft.com/office/drawing/2014/main" val="20005"/>
                    </a:ext>
                  </a:extLst>
                </a:gridCol>
                <a:gridCol w="842265">
                  <a:extLst>
                    <a:ext uri="{9D8B030D-6E8A-4147-A177-3AD203B41FA5}">
                      <a16:colId xmlns:a16="http://schemas.microsoft.com/office/drawing/2014/main" val="20006"/>
                    </a:ext>
                  </a:extLst>
                </a:gridCol>
                <a:gridCol w="842265">
                  <a:extLst>
                    <a:ext uri="{9D8B030D-6E8A-4147-A177-3AD203B41FA5}">
                      <a16:colId xmlns:a16="http://schemas.microsoft.com/office/drawing/2014/main" val="20007"/>
                    </a:ext>
                  </a:extLst>
                </a:gridCol>
                <a:gridCol w="842265">
                  <a:extLst>
                    <a:ext uri="{9D8B030D-6E8A-4147-A177-3AD203B41FA5}">
                      <a16:colId xmlns:a16="http://schemas.microsoft.com/office/drawing/2014/main" val="20008"/>
                    </a:ext>
                  </a:extLst>
                </a:gridCol>
              </a:tblGrid>
              <a:tr h="425057">
                <a:tc>
                  <a:txBody>
                    <a:bodyPr/>
                    <a:lstStyle/>
                    <a:p>
                      <a:pPr algn="ctr">
                        <a:lnSpc>
                          <a:spcPct val="115000"/>
                        </a:lnSpc>
                      </a:pPr>
                      <a:r>
                        <a:rPr lang="zh-CN" sz="1800" kern="100" dirty="0">
                          <a:effectLst/>
                          <a:latin typeface="Times New Roman" panose="02020603050405020304" pitchFamily="18" charset="0"/>
                        </a:rPr>
                        <a:t>频数</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altLang="zh-CN" sz="1800" kern="100" dirty="0">
                          <a:effectLst/>
                          <a:latin typeface="Times New Roman" panose="02020603050405020304" pitchFamily="18" charset="0"/>
                          <a:cs typeface="Times New Roman" panose="02020603050405020304" pitchFamily="18" charset="0"/>
                        </a:rPr>
                        <a:t>0.09</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0.19</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0.02</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0.06</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0.30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0.03</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0.21</a:t>
                      </a: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0.10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25057">
                <a:tc>
                  <a:txBody>
                    <a:bodyPr/>
                    <a:lstStyle/>
                    <a:p>
                      <a:pPr algn="ctr">
                        <a:lnSpc>
                          <a:spcPct val="115000"/>
                        </a:lnSpc>
                      </a:pPr>
                      <a:r>
                        <a:rPr lang="zh-CN" sz="1800" kern="100">
                          <a:effectLst/>
                          <a:latin typeface="Times New Roman" panose="02020603050405020304" pitchFamily="18" charset="0"/>
                        </a:rPr>
                        <a:t>哈夫曼</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0010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00000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00001</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0111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25057">
                <a:tc>
                  <a:txBody>
                    <a:bodyPr/>
                    <a:lstStyle/>
                    <a:p>
                      <a:pPr algn="ctr">
                        <a:lnSpc>
                          <a:spcPct val="115000"/>
                        </a:lnSpc>
                      </a:pPr>
                      <a:r>
                        <a:rPr lang="zh-CN" sz="1800" kern="100">
                          <a:effectLst/>
                          <a:latin typeface="Times New Roman" panose="02020603050405020304" pitchFamily="18" charset="0"/>
                        </a:rPr>
                        <a:t>等长码</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000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011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100</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a:effectLst/>
                          <a:latin typeface="Times New Roman" panose="02020603050405020304" pitchFamily="18" charset="0"/>
                          <a:cs typeface="Times New Roman" panose="02020603050405020304" pitchFamily="18" charset="0"/>
                        </a:rPr>
                        <a:t>101</a:t>
                      </a:r>
                      <a:endParaRPr lang="en-US"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110</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pPr>
                      <a:r>
                        <a:rPr lang="en-US" sz="1800" kern="100" dirty="0">
                          <a:effectLst/>
                          <a:latin typeface="Times New Roman" panose="02020603050405020304" pitchFamily="18" charset="0"/>
                          <a:cs typeface="Times New Roman" panose="02020603050405020304" pitchFamily="18" charset="0"/>
                        </a:rPr>
                        <a:t>111</a:t>
                      </a:r>
                      <a:endParaRPr 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
        <p:nvSpPr>
          <p:cNvPr id="9" name="文本框 8">
            <a:extLst>
              <a:ext uri="{FF2B5EF4-FFF2-40B4-BE49-F238E27FC236}">
                <a16:creationId xmlns:a16="http://schemas.microsoft.com/office/drawing/2014/main" id="{338B8489-8368-D088-59D2-3608929D0A5F}"/>
              </a:ext>
            </a:extLst>
          </p:cNvPr>
          <p:cNvSpPr txBox="1"/>
          <p:nvPr/>
        </p:nvSpPr>
        <p:spPr>
          <a:xfrm>
            <a:off x="7878173" y="2988290"/>
            <a:ext cx="4074341" cy="92333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哈夫曼编码方案的带权路径长度为</a:t>
            </a:r>
            <a:r>
              <a:rPr lang="zh-CN" altLang="en-US"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rPr>
              <a:t>：</a:t>
            </a:r>
            <a:endParaRPr lang="en-US" altLang="zh-CN"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endParaRPr>
          </a:p>
          <a:p>
            <a:pPr marL="285750" indent="-285750">
              <a:buFont typeface="Arial" panose="020B0604020202020204" pitchFamily="34" charset="0"/>
              <a:buChar char="•"/>
            </a:pPr>
            <a:r>
              <a:rPr lang="en-US" altLang="zh-CN"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rPr>
              <a:t>(</a:t>
            </a:r>
            <a:r>
              <a:rPr lang="en-US" altLang="zh-CN"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0.02 + 0.03</a:t>
            </a:r>
            <a:r>
              <a:rPr lang="en-US" altLang="zh-CN" dirty="0">
                <a:solidFill>
                  <a:srgbClr val="000000"/>
                </a:solidFill>
                <a:latin typeface="Times New Roman" panose="02020603050405020304" pitchFamily="18" charset="0"/>
                <a:ea typeface="SimSun" panose="02010600030101010101" pitchFamily="2" charset="-122"/>
                <a:cs typeface="Times New Roman" panose="02020603050405020304" pitchFamily="18" charset="0"/>
                <a:sym typeface="Wingdings" pitchFamily="2" charset="2"/>
              </a:rPr>
              <a:t>) * 5 + (0.06 + 0.09 + 0.1) * 4 + (0.19 + 0.21) * 2 + 0.3 * 2 = 2.65</a:t>
            </a:r>
            <a:endParaRPr lang="zh-CN" altLang="en-US"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0580C7FE-66EA-8B40-672A-DD1B7800A82E}"/>
              </a:ext>
            </a:extLst>
          </p:cNvPr>
          <p:cNvSpPr txBox="1"/>
          <p:nvPr/>
        </p:nvSpPr>
        <p:spPr>
          <a:xfrm>
            <a:off x="7878173" y="4601210"/>
            <a:ext cx="4074341"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哈</a:t>
            </a:r>
            <a:r>
              <a:rPr lang="zh-CN" altLang="en-US"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夫曼编码的优点：</a:t>
            </a:r>
            <a:endParaRPr lang="en-US" altLang="zh-CN"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降低了信息编码的平均长度，可以提高信道利用率，提高信息传输速度，节省存储空间</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299"/>
            <a:ext cx="10686691" cy="1754326"/>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首先判断两个链表是否有环，分以下情况：</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arenBoth"/>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如果一个有环，一个没有环，则没有交点，返回空指针。 </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arenBoth"/>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如果两个都无环，则查其第一个交点就是要找的结点。</a:t>
            </a:r>
          </a:p>
          <a:p>
            <a:pPr marL="342900" indent="-342900">
              <a:buAutoNum type="arabicParenBoth"/>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935136" y="3429000"/>
            <a:ext cx="6765503" cy="258387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299"/>
            <a:ext cx="10686691" cy="646331"/>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）如果两个都无环，则查其第一个交点就是要找的结点。</a:t>
            </a:r>
          </a:p>
        </p:txBody>
      </p:sp>
      <p:pic>
        <p:nvPicPr>
          <p:cNvPr id="4" name="图片 3"/>
          <p:cNvPicPr>
            <a:picLocks noChangeAspect="1"/>
          </p:cNvPicPr>
          <p:nvPr/>
        </p:nvPicPr>
        <p:blipFill>
          <a:blip r:embed="rId3"/>
          <a:stretch>
            <a:fillRect/>
          </a:stretch>
        </p:blipFill>
        <p:spPr>
          <a:xfrm>
            <a:off x="1143101" y="2162648"/>
            <a:ext cx="3520339" cy="4586198"/>
          </a:xfrm>
          <a:prstGeom prst="rect">
            <a:avLst/>
          </a:prstGeom>
        </p:spPr>
      </p:pic>
      <p:sp>
        <p:nvSpPr>
          <p:cNvPr id="5" name="椭圆 4"/>
          <p:cNvSpPr/>
          <p:nvPr/>
        </p:nvSpPr>
        <p:spPr>
          <a:xfrm>
            <a:off x="5742432" y="3120022"/>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p:nvSpPr>
        <p:spPr>
          <a:xfrm>
            <a:off x="6743174" y="3120022"/>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箭头连接符 11"/>
          <p:cNvCxnSpPr>
            <a:stCxn id="5" idx="6"/>
            <a:endCxn id="6" idx="2"/>
          </p:cNvCxnSpPr>
          <p:nvPr/>
        </p:nvCxnSpPr>
        <p:spPr>
          <a:xfrm>
            <a:off x="6108192" y="3302902"/>
            <a:ext cx="634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7738818" y="3484863"/>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8739560" y="3484863"/>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箭头连接符 15"/>
          <p:cNvCxnSpPr>
            <a:stCxn id="14" idx="6"/>
            <a:endCxn id="15" idx="2"/>
          </p:cNvCxnSpPr>
          <p:nvPr/>
        </p:nvCxnSpPr>
        <p:spPr>
          <a:xfrm>
            <a:off x="8104578" y="3667743"/>
            <a:ext cx="634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p:cNvCxnSpPr>
            <a:stCxn id="6" idx="6"/>
            <a:endCxn id="14" idx="2"/>
          </p:cNvCxnSpPr>
          <p:nvPr/>
        </p:nvCxnSpPr>
        <p:spPr>
          <a:xfrm>
            <a:off x="7108934" y="3302902"/>
            <a:ext cx="629884" cy="364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9747342" y="3484863"/>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1" name="直线箭头连接符 20"/>
          <p:cNvCxnSpPr>
            <a:stCxn id="15" idx="6"/>
            <a:endCxn id="20" idx="2"/>
          </p:cNvCxnSpPr>
          <p:nvPr/>
        </p:nvCxnSpPr>
        <p:spPr>
          <a:xfrm>
            <a:off x="9105320" y="3667743"/>
            <a:ext cx="6420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6743174" y="4091784"/>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箭头连接符 32"/>
          <p:cNvCxnSpPr>
            <a:stCxn id="24" idx="6"/>
            <a:endCxn id="14" idx="2"/>
          </p:cNvCxnSpPr>
          <p:nvPr/>
        </p:nvCxnSpPr>
        <p:spPr>
          <a:xfrm flipV="1">
            <a:off x="7108934" y="3667743"/>
            <a:ext cx="629884" cy="606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300"/>
            <a:ext cx="10686691" cy="1200329"/>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首先判断两个链表是否有环，分以下情况：</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28"/>
          <p:cNvSpPr txBox="1"/>
          <p:nvPr/>
        </p:nvSpPr>
        <p:spPr>
          <a:xfrm>
            <a:off x="838200" y="3055185"/>
            <a:ext cx="6099048" cy="3139321"/>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判断是否有环（快慢指针）：</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slow = slow -&gt;next</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fast = fast -&gt; next -&gt; next</a:t>
            </a:r>
          </a:p>
          <a:p>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找到环入口：</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slow: x + y</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fast: x + y + n (y + z)</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(x + y) * 2 = x + y + n (y + z)</a:t>
            </a:r>
          </a:p>
          <a:p>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x = (n - 1) (y + z) + z</a:t>
            </a:r>
          </a:p>
        </p:txBody>
      </p:sp>
      <p:pic>
        <p:nvPicPr>
          <p:cNvPr id="33" name="图片 32"/>
          <p:cNvPicPr>
            <a:picLocks noChangeAspect="1"/>
          </p:cNvPicPr>
          <p:nvPr/>
        </p:nvPicPr>
        <p:blipFill>
          <a:blip r:embed="rId3"/>
          <a:stretch>
            <a:fillRect/>
          </a:stretch>
        </p:blipFill>
        <p:spPr>
          <a:xfrm>
            <a:off x="4907280" y="3320279"/>
            <a:ext cx="6861048" cy="260913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451136"/>
            <a:ext cx="10686691" cy="1200329"/>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首先判断两个链表是否有环，分以下情况：</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838199" y="2999232"/>
            <a:ext cx="4267347" cy="3529477"/>
          </a:xfrm>
          <a:prstGeom prst="rect">
            <a:avLst/>
          </a:prstGeom>
        </p:spPr>
      </p:pic>
      <p:pic>
        <p:nvPicPr>
          <p:cNvPr id="4" name="图片 3"/>
          <p:cNvPicPr>
            <a:picLocks noChangeAspect="1"/>
          </p:cNvPicPr>
          <p:nvPr/>
        </p:nvPicPr>
        <p:blipFill>
          <a:blip r:embed="rId4"/>
          <a:stretch>
            <a:fillRect/>
          </a:stretch>
        </p:blipFill>
        <p:spPr>
          <a:xfrm>
            <a:off x="5312605" y="3564009"/>
            <a:ext cx="6212286" cy="236241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a:xfrm>
            <a:off x="838200" y="243481"/>
            <a:ext cx="10515600" cy="1140492"/>
          </a:xfrm>
        </p:spPr>
        <p:txBody>
          <a:bodyPr>
            <a:normAutofit fontScale="90000"/>
          </a:bodyPr>
          <a:lstStyle/>
          <a:p>
            <a:pPr>
              <a:lnSpc>
                <a:spcPct val="150000"/>
              </a:lnSpc>
            </a:pPr>
            <a:r>
              <a:rPr lang="zh-CN" altLang="en-US"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2000"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2000" b="1"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给定两个单链表的头结点指针</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，写一个函数</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LinkNode * findFirst(LinkNode *h1, LinkNode *h2)</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，如果两个单链表有交点，则返回离</a:t>
            </a:r>
            <a:r>
              <a:rPr kumimoji="0" lang="en-US" altLang="zh-CN"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h1</a:t>
            </a:r>
            <a:r>
              <a:rPr kumimoji="0" lang="zh-CN" altLang="en-US" sz="200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最近的交点，否则返回空指针。要求算法时间和空间复杂度尽量优。</a:t>
            </a:r>
            <a:endParaRPr lang="zh-CN" altLang="en-US" dirty="0"/>
          </a:p>
        </p:txBody>
      </p:sp>
      <p:sp>
        <p:nvSpPr>
          <p:cNvPr id="2" name="文本框 1"/>
          <p:cNvSpPr txBox="1"/>
          <p:nvPr/>
        </p:nvSpPr>
        <p:spPr>
          <a:xfrm>
            <a:off x="838200" y="1518299"/>
            <a:ext cx="10686691" cy="923330"/>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如果两个都有环，先找到各自环的起点，设为</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，从</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开始向后找，如果找到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，则有交点，</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离</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h1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最近，返回</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即可；如果一直到回到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都没有遇到</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s2</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，则没有交点，返回空指针。</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椭圆 4"/>
          <p:cNvSpPr/>
          <p:nvPr/>
        </p:nvSpPr>
        <p:spPr>
          <a:xfrm>
            <a:off x="6493935" y="3246120"/>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p:cNvSpPr/>
          <p:nvPr/>
        </p:nvSpPr>
        <p:spPr>
          <a:xfrm>
            <a:off x="7501717" y="3246120"/>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箭头连接符 11"/>
          <p:cNvCxnSpPr>
            <a:stCxn id="5" idx="6"/>
            <a:endCxn id="6" idx="2"/>
          </p:cNvCxnSpPr>
          <p:nvPr/>
        </p:nvCxnSpPr>
        <p:spPr>
          <a:xfrm>
            <a:off x="6859695" y="3429000"/>
            <a:ext cx="6420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8490321" y="3610961"/>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p:cNvSpPr/>
          <p:nvPr/>
        </p:nvSpPr>
        <p:spPr>
          <a:xfrm>
            <a:off x="9491063" y="3610961"/>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 name="直线箭头连接符 15"/>
          <p:cNvCxnSpPr>
            <a:stCxn id="14" idx="6"/>
            <a:endCxn id="15" idx="2"/>
          </p:cNvCxnSpPr>
          <p:nvPr/>
        </p:nvCxnSpPr>
        <p:spPr>
          <a:xfrm>
            <a:off x="8856081" y="3793841"/>
            <a:ext cx="634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p:cNvCxnSpPr>
            <a:stCxn id="6" idx="6"/>
            <a:endCxn id="14" idx="2"/>
          </p:cNvCxnSpPr>
          <p:nvPr/>
        </p:nvCxnSpPr>
        <p:spPr>
          <a:xfrm>
            <a:off x="7867477" y="3429000"/>
            <a:ext cx="622844" cy="364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10498845" y="3610961"/>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1" name="直线箭头连接符 20"/>
          <p:cNvCxnSpPr>
            <a:stCxn id="15" idx="6"/>
            <a:endCxn id="20" idx="2"/>
          </p:cNvCxnSpPr>
          <p:nvPr/>
        </p:nvCxnSpPr>
        <p:spPr>
          <a:xfrm>
            <a:off x="9856823" y="3793841"/>
            <a:ext cx="6420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7501717" y="4384392"/>
            <a:ext cx="365760" cy="365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3" name="直线箭头连接符 32"/>
          <p:cNvCxnSpPr>
            <a:stCxn id="24" idx="6"/>
            <a:endCxn id="15" idx="4"/>
          </p:cNvCxnSpPr>
          <p:nvPr/>
        </p:nvCxnSpPr>
        <p:spPr>
          <a:xfrm flipV="1">
            <a:off x="7867477" y="3976721"/>
            <a:ext cx="1806466" cy="5905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p:cNvCxnSpPr>
            <a:stCxn id="20" idx="7"/>
            <a:endCxn id="14" idx="2"/>
          </p:cNvCxnSpPr>
          <p:nvPr/>
        </p:nvCxnSpPr>
        <p:spPr>
          <a:xfrm rot="16200000" flipH="1" flipV="1">
            <a:off x="9586023" y="2568823"/>
            <a:ext cx="129316" cy="2320720"/>
          </a:xfrm>
          <a:prstGeom prst="curvedConnector4">
            <a:avLst>
              <a:gd name="adj1" fmla="val -324263"/>
              <a:gd name="adj2" fmla="val 9724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图片 25"/>
          <p:cNvPicPr>
            <a:picLocks noChangeAspect="1"/>
          </p:cNvPicPr>
          <p:nvPr/>
        </p:nvPicPr>
        <p:blipFill>
          <a:blip r:embed="rId3"/>
          <a:stretch>
            <a:fillRect/>
          </a:stretch>
        </p:blipFill>
        <p:spPr>
          <a:xfrm>
            <a:off x="528140" y="3118104"/>
            <a:ext cx="5850497" cy="230603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95275" y="2242820"/>
            <a:ext cx="5660390" cy="4294505"/>
          </a:xfrm>
          <a:prstGeom prst="rect">
            <a:avLst/>
          </a:prstGeom>
          <a:noFill/>
        </p:spPr>
        <p:txBody>
          <a:bodyPr wrap="square" rtlCol="0" anchor="t">
            <a:spAutoFit/>
          </a:bodyPr>
          <a:lstStyle/>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a:t>
            </a:r>
            <a:r>
              <a:rPr lang="en-US" altLang="zh-CN" sz="1600" b="1">
                <a:solidFill>
                  <a:srgbClr val="FF0000"/>
                </a:solidFill>
                <a:latin typeface="Times New Roman" panose="02020603050405020304" pitchFamily="18" charset="0"/>
                <a:cs typeface="Times New Roman" panose="02020603050405020304" pitchFamily="18" charset="0"/>
              </a:rPr>
              <a:t> </a:t>
            </a:r>
            <a:r>
              <a:rPr lang="zh-CN" altLang="en-US" sz="1600" b="1">
                <a:solidFill>
                  <a:srgbClr val="FF0000"/>
                </a:solidFill>
                <a:latin typeface="Times New Roman" panose="02020603050405020304" pitchFamily="18" charset="0"/>
                <a:cs typeface="Times New Roman" panose="02020603050405020304" pitchFamily="18" charset="0"/>
              </a:rPr>
              <a:t>计算</a:t>
            </a:r>
            <a:r>
              <a:rPr lang="en-US" altLang="zh-CN" sz="1600" b="1">
                <a:solidFill>
                  <a:srgbClr val="FF0000"/>
                </a:solidFill>
                <a:latin typeface="Times New Roman" panose="02020603050405020304" pitchFamily="18" charset="0"/>
                <a:cs typeface="Times New Roman" panose="02020603050405020304" pitchFamily="18" charset="0"/>
              </a:rPr>
              <a:t>next</a:t>
            </a:r>
            <a:r>
              <a:rPr lang="zh-CN" altLang="en-US" sz="1600" b="1">
                <a:solidFill>
                  <a:srgbClr val="FF0000"/>
                </a:solidFill>
                <a:latin typeface="Times New Roman" panose="02020603050405020304" pitchFamily="18" charset="0"/>
                <a:cs typeface="Times New Roman" panose="02020603050405020304" pitchFamily="18" charset="0"/>
              </a:rPr>
              <a:t>数组</a:t>
            </a:r>
            <a:r>
              <a:rPr lang="en-US" altLang="zh-CN" sz="1600" b="1">
                <a:solidFill>
                  <a:srgbClr val="FF0000"/>
                </a:solidFill>
                <a:latin typeface="Times New Roman" panose="02020603050405020304" pitchFamily="18" charset="0"/>
                <a:cs typeface="Times New Roman" panose="02020603050405020304" pitchFamily="18" charset="0"/>
              </a:rPr>
              <a:t>(</a:t>
            </a:r>
            <a:r>
              <a:rPr lang="zh-CN" altLang="en-US" sz="1600" b="1">
                <a:solidFill>
                  <a:srgbClr val="FF0000"/>
                </a:solidFill>
                <a:latin typeface="Times New Roman" panose="02020603050405020304" pitchFamily="18" charset="0"/>
                <a:cs typeface="Times New Roman" panose="02020603050405020304" pitchFamily="18" charset="0"/>
              </a:rPr>
              <a:t>课本</a:t>
            </a:r>
            <a:r>
              <a:rPr lang="en-US" altLang="zh-CN" sz="1600" b="1">
                <a:solidFill>
                  <a:srgbClr val="FF0000"/>
                </a:solidFill>
                <a:latin typeface="Times New Roman" panose="02020603050405020304" pitchFamily="18" charset="0"/>
                <a:cs typeface="Times New Roman" panose="02020603050405020304" pitchFamily="18" charset="0"/>
              </a:rPr>
              <a:t>P154)</a:t>
            </a:r>
            <a:endParaRPr lang="zh-CN" altLang="en-US"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vector&lt;int&gt; computeNext(const string&amp; P) {</a:t>
            </a:r>
          </a:p>
          <a:p>
            <a:pPr>
              <a:lnSpc>
                <a:spcPct val="90000"/>
              </a:lnSpc>
            </a:pPr>
            <a:r>
              <a:rPr lang="en-US" altLang="zh-CN" sz="1600">
                <a:latin typeface="Times New Roman" panose="02020603050405020304" pitchFamily="18" charset="0"/>
                <a:cs typeface="Times New Roman" panose="02020603050405020304" pitchFamily="18" charset="0"/>
              </a:rPr>
              <a:t>    int m = P.length();</a:t>
            </a:r>
          </a:p>
          <a:p>
            <a:pPr>
              <a:lnSpc>
                <a:spcPct val="90000"/>
              </a:lnSpc>
            </a:pPr>
            <a:r>
              <a:rPr lang="en-US" altLang="zh-CN" sz="1600">
                <a:latin typeface="Times New Roman" panose="02020603050405020304" pitchFamily="18" charset="0"/>
                <a:cs typeface="Times New Roman" panose="02020603050405020304" pitchFamily="18" charset="0"/>
              </a:rPr>
              <a:t>    vector&lt;int&gt; next(m, -1);  // </a:t>
            </a:r>
            <a:r>
              <a:rPr lang="zh-CN" altLang="en-US" sz="1600">
                <a:latin typeface="Times New Roman" panose="02020603050405020304" pitchFamily="18" charset="0"/>
                <a:cs typeface="Times New Roman" panose="02020603050405020304" pitchFamily="18" charset="0"/>
              </a:rPr>
              <a:t>初始化</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数组，长度为</a:t>
            </a:r>
            <a:r>
              <a:rPr lang="en-US" altLang="zh-CN" sz="1600">
                <a:latin typeface="Times New Roman" panose="02020603050405020304" pitchFamily="18" charset="0"/>
                <a:cs typeface="Times New Roman" panose="02020603050405020304" pitchFamily="18" charset="0"/>
              </a:rPr>
              <a:t> m</a:t>
            </a:r>
          </a:p>
          <a:p>
            <a:pPr>
              <a:lnSpc>
                <a:spcPct val="90000"/>
              </a:lnSpc>
            </a:pPr>
            <a:r>
              <a:rPr lang="en-US" altLang="zh-CN" sz="1600">
                <a:latin typeface="Times New Roman" panose="02020603050405020304" pitchFamily="18" charset="0"/>
                <a:cs typeface="Times New Roman" panose="02020603050405020304" pitchFamily="18" charset="0"/>
              </a:rPr>
              <a:t>    int k = -1;  // </a:t>
            </a:r>
            <a:r>
              <a:rPr lang="zh-CN" altLang="en-US" sz="1600">
                <a:latin typeface="Times New Roman" panose="02020603050405020304" pitchFamily="18" charset="0"/>
                <a:cs typeface="Times New Roman" panose="02020603050405020304" pitchFamily="18" charset="0"/>
              </a:rPr>
              <a:t>前缀的末尾位置</a:t>
            </a:r>
          </a:p>
          <a:p>
            <a:pPr>
              <a:lnSpc>
                <a:spcPct val="90000"/>
              </a:lnSpc>
            </a:pPr>
            <a:r>
              <a:rPr lang="en-US" altLang="zh-CN" sz="1600">
                <a:latin typeface="Times New Roman" panose="02020603050405020304" pitchFamily="18" charset="0"/>
                <a:cs typeface="Times New Roman" panose="02020603050405020304" pitchFamily="18" charset="0"/>
              </a:rPr>
              <a:t>    int j = 0;   // </a:t>
            </a:r>
            <a:r>
              <a:rPr lang="zh-CN" altLang="en-US" sz="1600">
                <a:latin typeface="Times New Roman" panose="02020603050405020304" pitchFamily="18" charset="0"/>
                <a:cs typeface="Times New Roman" panose="02020603050405020304" pitchFamily="18" charset="0"/>
              </a:rPr>
              <a:t>当前匹配的字符位置</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while (j &lt; m - 1) {</a:t>
            </a:r>
          </a:p>
          <a:p>
            <a:pPr>
              <a:lnSpc>
                <a:spcPct val="90000"/>
              </a:lnSpc>
            </a:pPr>
            <a:r>
              <a:rPr lang="en-US" altLang="zh-CN" sz="1600">
                <a:latin typeface="Times New Roman" panose="02020603050405020304" pitchFamily="18" charset="0"/>
                <a:cs typeface="Times New Roman" panose="02020603050405020304" pitchFamily="18" charset="0"/>
              </a:rPr>
              <a:t>        if (k == -1 || P[j] == P[k]) {  // </a:t>
            </a:r>
            <a:r>
              <a:rPr lang="zh-CN" altLang="en-US" sz="1600">
                <a:latin typeface="Times New Roman" panose="02020603050405020304" pitchFamily="18" charset="0"/>
                <a:cs typeface="Times New Roman" panose="02020603050405020304" pitchFamily="18" charset="0"/>
              </a:rPr>
              <a:t>找到相同的前后缀</a:t>
            </a:r>
          </a:p>
          <a:p>
            <a:pPr>
              <a:lnSpc>
                <a:spcPct val="90000"/>
              </a:lnSpc>
            </a:pPr>
            <a:r>
              <a:rPr lang="en-US" altLang="zh-CN" sz="1600">
                <a:latin typeface="Times New Roman" panose="02020603050405020304" pitchFamily="18" charset="0"/>
                <a:cs typeface="Times New Roman" panose="02020603050405020304" pitchFamily="18" charset="0"/>
              </a:rPr>
              <a:t>            j++;</a:t>
            </a:r>
          </a:p>
          <a:p>
            <a:pPr>
              <a:lnSpc>
                <a:spcPct val="90000"/>
              </a:lnSpc>
            </a:pPr>
            <a:r>
              <a:rPr lang="en-US" altLang="zh-CN" sz="1600">
                <a:latin typeface="Times New Roman" panose="02020603050405020304" pitchFamily="18" charset="0"/>
                <a:cs typeface="Times New Roman" panose="02020603050405020304" pitchFamily="18" charset="0"/>
              </a:rPr>
              <a:t>            k++;</a:t>
            </a:r>
          </a:p>
          <a:p>
            <a:pPr>
              <a:lnSpc>
                <a:spcPct val="90000"/>
              </a:lnSpc>
            </a:pPr>
            <a:r>
              <a:rPr lang="en-US" altLang="zh-CN" sz="1600">
                <a:latin typeface="Times New Roman" panose="02020603050405020304" pitchFamily="18" charset="0"/>
                <a:cs typeface="Times New Roman" panose="02020603050405020304" pitchFamily="18" charset="0"/>
              </a:rPr>
              <a:t>            next[j] = k;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k(</a:t>
            </a:r>
            <a:r>
              <a:rPr lang="zh-CN" altLang="en-US" sz="1600">
                <a:latin typeface="Times New Roman" panose="02020603050405020304" pitchFamily="18" charset="0"/>
                <a:cs typeface="Times New Roman" panose="02020603050405020304" pitchFamily="18" charset="0"/>
              </a:rPr>
              <a:t>前缀的长度</a:t>
            </a:r>
            <a:r>
              <a:rPr lang="en-US" altLang="zh-CN" sz="1600">
                <a:latin typeface="Times New Roman" panose="02020603050405020304" pitchFamily="18" charset="0"/>
                <a:cs typeface="Times New Roman" panose="02020603050405020304" pitchFamily="18" charset="0"/>
              </a:rPr>
              <a:t>)</a:t>
            </a:r>
            <a:r>
              <a:rPr lang="zh-CN" altLang="en-US" sz="1600">
                <a:latin typeface="Times New Roman" panose="02020603050405020304" pitchFamily="18" charset="0"/>
                <a:cs typeface="Times New Roman" panose="02020603050405020304" pitchFamily="18" charset="0"/>
              </a:rPr>
              <a:t>赋给</a:t>
            </a:r>
            <a:r>
              <a:rPr lang="en-US" altLang="zh-CN" sz="1600">
                <a:latin typeface="Times New Roman" panose="02020603050405020304" pitchFamily="18" charset="0"/>
                <a:cs typeface="Times New Roman" panose="02020603050405020304" pitchFamily="18" charset="0"/>
              </a:rPr>
              <a:t> next[j]</a:t>
            </a:r>
          </a:p>
          <a:p>
            <a:pPr>
              <a:lnSpc>
                <a:spcPct val="90000"/>
              </a:lnSpc>
            </a:pPr>
            <a:r>
              <a:rPr lang="en-US" altLang="zh-CN" sz="1600">
                <a:latin typeface="Times New Roman" panose="02020603050405020304" pitchFamily="18" charset="0"/>
                <a:cs typeface="Times New Roman" panose="02020603050405020304" pitchFamily="18" charset="0"/>
              </a:rPr>
              <a:t>        } else {</a:t>
            </a:r>
          </a:p>
          <a:p>
            <a:pPr>
              <a:lnSpc>
                <a:spcPct val="90000"/>
              </a:lnSpc>
            </a:pPr>
            <a:r>
              <a:rPr lang="en-US" altLang="zh-CN" sz="1600">
                <a:latin typeface="Times New Roman" panose="02020603050405020304" pitchFamily="18" charset="0"/>
                <a:cs typeface="Times New Roman" panose="02020603050405020304" pitchFamily="18" charset="0"/>
              </a:rPr>
              <a:t>            k = next[k];  // </a:t>
            </a:r>
            <a:r>
              <a:rPr lang="zh-CN" altLang="en-US" sz="1600">
                <a:latin typeface="Times New Roman" panose="02020603050405020304" pitchFamily="18" charset="0"/>
                <a:cs typeface="Times New Roman" panose="02020603050405020304" pitchFamily="18" charset="0"/>
              </a:rPr>
              <a:t>回退，寻找更短的前缀</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return next;</a:t>
            </a:r>
          </a:p>
          <a:p>
            <a:pPr>
              <a:lnSpc>
                <a:spcPct val="90000"/>
              </a:lnSpc>
            </a:pPr>
            <a:r>
              <a:rPr lang="en-US" altLang="zh-CN" sz="1600">
                <a:latin typeface="Times New Roman" panose="02020603050405020304" pitchFamily="18" charset="0"/>
                <a:cs typeface="Times New Roman" panose="02020603050405020304" pitchFamily="18" charset="0"/>
              </a:rPr>
              <a:t>}</a:t>
            </a:r>
            <a:endParaRPr lang="zh-CN" altLang="en-US" sz="1600">
              <a:latin typeface="Times New Roman" panose="02020603050405020304" pitchFamily="18" charset="0"/>
              <a:cs typeface="Times New Roman" panose="02020603050405020304" pitchFamily="18" charset="0"/>
            </a:endParaRPr>
          </a:p>
        </p:txBody>
      </p:sp>
      <p:sp>
        <p:nvSpPr>
          <p:cNvPr id="8" name="文本框 7"/>
          <p:cNvSpPr txBox="1"/>
          <p:nvPr/>
        </p:nvSpPr>
        <p:spPr>
          <a:xfrm>
            <a:off x="6096000" y="635000"/>
            <a:ext cx="6096000" cy="6064250"/>
          </a:xfrm>
          <a:prstGeom prst="rect">
            <a:avLst/>
          </a:prstGeom>
          <a:noFill/>
        </p:spPr>
        <p:txBody>
          <a:bodyPr wrap="square" rtlCol="0" anchor="t">
            <a:spAutoFit/>
          </a:bodyPr>
          <a:lstStyle/>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a:t>
            </a:r>
            <a:r>
              <a:rPr lang="en-US" altLang="zh-CN" sz="1600" b="1">
                <a:latin typeface="Times New Roman" panose="02020603050405020304" pitchFamily="18" charset="0"/>
                <a:cs typeface="Times New Roman" panose="02020603050405020304" pitchFamily="18" charset="0"/>
              </a:rPr>
              <a:t> </a:t>
            </a:r>
            <a:r>
              <a:rPr lang="en-US" altLang="zh-CN" sz="1600" b="1">
                <a:solidFill>
                  <a:srgbClr val="FF0000"/>
                </a:solidFill>
                <a:latin typeface="Times New Roman" panose="02020603050405020304" pitchFamily="18" charset="0"/>
                <a:cs typeface="Times New Roman" panose="02020603050405020304" pitchFamily="18" charset="0"/>
              </a:rPr>
              <a:t>KMP</a:t>
            </a:r>
            <a:r>
              <a:rPr lang="zh-CN" altLang="en-US" sz="1600" b="1">
                <a:solidFill>
                  <a:srgbClr val="FF0000"/>
                </a:solidFill>
                <a:latin typeface="Times New Roman" panose="02020603050405020304" pitchFamily="18" charset="0"/>
                <a:cs typeface="Times New Roman" panose="02020603050405020304" pitchFamily="18" charset="0"/>
              </a:rPr>
              <a:t>匹配算法</a:t>
            </a:r>
            <a:r>
              <a:rPr lang="en-US" altLang="zh-CN" sz="1600" b="1">
                <a:solidFill>
                  <a:srgbClr val="FF0000"/>
                </a:solidFill>
                <a:latin typeface="Times New Roman" panose="02020603050405020304" pitchFamily="18" charset="0"/>
                <a:cs typeface="Times New Roman" panose="02020603050405020304" pitchFamily="18" charset="0"/>
                <a:sym typeface="+mn-ea"/>
              </a:rPr>
              <a:t>(</a:t>
            </a:r>
            <a:r>
              <a:rPr lang="zh-CN" altLang="en-US" sz="1600" b="1">
                <a:solidFill>
                  <a:srgbClr val="FF0000"/>
                </a:solidFill>
                <a:latin typeface="Times New Roman" panose="02020603050405020304" pitchFamily="18" charset="0"/>
                <a:cs typeface="Times New Roman" panose="02020603050405020304" pitchFamily="18" charset="0"/>
                <a:sym typeface="+mn-ea"/>
              </a:rPr>
              <a:t>课本</a:t>
            </a:r>
            <a:r>
              <a:rPr lang="en-US" altLang="zh-CN" sz="1600" b="1">
                <a:solidFill>
                  <a:srgbClr val="FF0000"/>
                </a:solidFill>
                <a:latin typeface="Times New Roman" panose="02020603050405020304" pitchFamily="18" charset="0"/>
                <a:cs typeface="Times New Roman" panose="02020603050405020304" pitchFamily="18" charset="0"/>
                <a:sym typeface="+mn-ea"/>
              </a:rPr>
              <a:t>P152)</a:t>
            </a:r>
            <a:endParaRPr lang="zh-CN" altLang="en-US" sz="1600">
              <a:solidFill>
                <a:srgbClr val="FF0000"/>
              </a:solidFill>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int Find_KMP(const string&amp;</a:t>
            </a:r>
            <a:r>
              <a:rPr lang="en-US" altLang="zh-CN" sz="1600" b="1">
                <a:latin typeface="Times New Roman" panose="02020603050405020304" pitchFamily="18" charset="0"/>
                <a:cs typeface="Times New Roman" panose="02020603050405020304" pitchFamily="18" charset="0"/>
              </a:rPr>
              <a:t> text</a:t>
            </a:r>
            <a:r>
              <a:rPr lang="en-US" altLang="zh-CN" sz="1600">
                <a:latin typeface="Times New Roman" panose="02020603050405020304" pitchFamily="18" charset="0"/>
                <a:cs typeface="Times New Roman" panose="02020603050405020304" pitchFamily="18" charset="0"/>
              </a:rPr>
              <a:t>, const string&amp; </a:t>
            </a:r>
            <a:r>
              <a:rPr lang="en-US" altLang="zh-CN" sz="1600" b="1">
                <a:latin typeface="Times New Roman" panose="02020603050405020304" pitchFamily="18" charset="0"/>
                <a:cs typeface="Times New Roman" panose="02020603050405020304" pitchFamily="18" charset="0"/>
              </a:rPr>
              <a:t>pattern</a:t>
            </a: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int posP = 0, posT = 0;</a:t>
            </a:r>
          </a:p>
          <a:p>
            <a:pPr>
              <a:lnSpc>
                <a:spcPct val="90000"/>
              </a:lnSpc>
            </a:pPr>
            <a:r>
              <a:rPr lang="en-US" altLang="zh-CN" sz="1600">
                <a:latin typeface="Times New Roman" panose="02020603050405020304" pitchFamily="18" charset="0"/>
                <a:cs typeface="Times New Roman" panose="02020603050405020304" pitchFamily="18" charset="0"/>
              </a:rPr>
              <a:t>    int lengthP = pattern.length();</a:t>
            </a:r>
          </a:p>
          <a:p>
            <a:pPr>
              <a:lnSpc>
                <a:spcPct val="90000"/>
              </a:lnSpc>
            </a:pPr>
            <a:r>
              <a:rPr lang="en-US" altLang="zh-CN" sz="1600">
                <a:latin typeface="Times New Roman" panose="02020603050405020304" pitchFamily="18" charset="0"/>
                <a:cs typeface="Times New Roman" panose="02020603050405020304" pitchFamily="18" charset="0"/>
              </a:rPr>
              <a:t>    int lengthT = text.length();</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计算模式串的</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a:t>
            </a:r>
          </a:p>
          <a:p>
            <a:pPr>
              <a:lnSpc>
                <a:spcPct val="90000"/>
              </a:lnSpc>
            </a:pPr>
            <a:r>
              <a:rPr lang="en-US" altLang="zh-CN" sz="1600">
                <a:latin typeface="Times New Roman" panose="02020603050405020304" pitchFamily="18" charset="0"/>
                <a:cs typeface="Times New Roman" panose="02020603050405020304" pitchFamily="18" charset="0"/>
              </a:rPr>
              <a:t>    vector&lt;int&gt; next = computeNext(pattern);</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 KMP </a:t>
            </a:r>
            <a:r>
              <a:rPr lang="zh-CN" altLang="en-US" sz="1600">
                <a:latin typeface="Times New Roman" panose="02020603050405020304" pitchFamily="18" charset="0"/>
                <a:cs typeface="Times New Roman" panose="02020603050405020304" pitchFamily="18" charset="0"/>
              </a:rPr>
              <a:t>字符串匹配算法</a:t>
            </a:r>
          </a:p>
          <a:p>
            <a:pPr>
              <a:lnSpc>
                <a:spcPct val="90000"/>
              </a:lnSpc>
            </a:pPr>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while (posP &lt; lengthP &amp;&amp; posT &lt; lengthT)</a:t>
            </a:r>
            <a:r>
              <a:rPr lang="en-US" altLang="zh-CN" sz="1600" b="1">
                <a:latin typeface="Times New Roman" panose="02020603050405020304" pitchFamily="18" charset="0"/>
                <a:cs typeface="Times New Roman" panose="02020603050405020304" pitchFamily="18" charset="0"/>
              </a:rPr>
              <a:t> </a:t>
            </a:r>
            <a:r>
              <a:rPr lang="en-US" altLang="zh-CN" sz="1600">
                <a:latin typeface="Times New Roman" panose="02020603050405020304" pitchFamily="18" charset="0"/>
                <a:cs typeface="Times New Roman" panose="02020603050405020304" pitchFamily="18" charset="0"/>
              </a:rPr>
              <a:t>{</a:t>
            </a:r>
          </a:p>
          <a:p>
            <a:pPr>
              <a:lnSpc>
                <a:spcPct val="90000"/>
              </a:lnSpc>
            </a:pPr>
            <a:r>
              <a:rPr lang="en-US" altLang="zh-CN" sz="1600">
                <a:latin typeface="Times New Roman" panose="02020603050405020304" pitchFamily="18" charset="0"/>
                <a:cs typeface="Times New Roman" panose="02020603050405020304" pitchFamily="18" charset="0"/>
              </a:rPr>
              <a:t>        if (posP == -1 || pattern[posP] == text[posT]) {</a:t>
            </a:r>
          </a:p>
          <a:p>
            <a:pPr>
              <a:lnSpc>
                <a:spcPct val="90000"/>
              </a:lnSpc>
            </a:pPr>
            <a:r>
              <a:rPr lang="en-US" altLang="zh-CN" sz="1600">
                <a:latin typeface="Times New Roman" panose="02020603050405020304" pitchFamily="18" charset="0"/>
                <a:cs typeface="Times New Roman" panose="02020603050405020304" pitchFamily="18" charset="0"/>
              </a:rPr>
              <a:t>            posP++;</a:t>
            </a:r>
          </a:p>
          <a:p>
            <a:pPr>
              <a:lnSpc>
                <a:spcPct val="90000"/>
              </a:lnSpc>
            </a:pPr>
            <a:r>
              <a:rPr lang="en-US" altLang="zh-CN" sz="1600">
                <a:latin typeface="Times New Roman" panose="02020603050405020304" pitchFamily="18" charset="0"/>
                <a:cs typeface="Times New Roman" panose="02020603050405020304" pitchFamily="18" charset="0"/>
              </a:rPr>
              <a:t>            posT++;</a:t>
            </a:r>
          </a:p>
          <a:p>
            <a:pPr>
              <a:lnSpc>
                <a:spcPct val="90000"/>
              </a:lnSpc>
            </a:pPr>
            <a:r>
              <a:rPr lang="en-US" altLang="zh-CN" sz="1600">
                <a:latin typeface="Times New Roman" panose="02020603050405020304" pitchFamily="18" charset="0"/>
                <a:cs typeface="Times New Roman" panose="02020603050405020304" pitchFamily="18" charset="0"/>
              </a:rPr>
              <a:t>        } else {</a:t>
            </a:r>
          </a:p>
          <a:p>
            <a:pPr>
              <a:lnSpc>
                <a:spcPct val="90000"/>
              </a:lnSpc>
            </a:pPr>
            <a:r>
              <a:rPr lang="en-US" altLang="zh-CN" sz="1600">
                <a:latin typeface="Times New Roman" panose="02020603050405020304" pitchFamily="18" charset="0"/>
                <a:cs typeface="Times New Roman" panose="02020603050405020304" pitchFamily="18" charset="0"/>
              </a:rPr>
              <a:t>            posP = next[posP];  // </a:t>
            </a:r>
            <a:r>
              <a:rPr lang="zh-CN" altLang="en-US" sz="1600">
                <a:latin typeface="Times New Roman" panose="02020603050405020304" pitchFamily="18" charset="0"/>
                <a:cs typeface="Times New Roman" panose="02020603050405020304" pitchFamily="18" charset="0"/>
              </a:rPr>
              <a:t>使用</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数组回退</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endParaRPr lang="en-US" altLang="zh-CN" sz="1600">
              <a:latin typeface="Times New Roman" panose="02020603050405020304" pitchFamily="18" charset="0"/>
              <a:cs typeface="Times New Roman" panose="02020603050405020304" pitchFamily="18" charset="0"/>
            </a:endParaRPr>
          </a:p>
          <a:p>
            <a:pPr>
              <a:lnSpc>
                <a:spcPct val="90000"/>
              </a:lnSpc>
            </a:pPr>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如果</a:t>
            </a:r>
            <a:r>
              <a:rPr lang="en-US" altLang="zh-CN" sz="1600">
                <a:latin typeface="Times New Roman" panose="02020603050405020304" pitchFamily="18" charset="0"/>
                <a:cs typeface="Times New Roman" panose="02020603050405020304" pitchFamily="18" charset="0"/>
              </a:rPr>
              <a:t> posP </a:t>
            </a:r>
            <a:r>
              <a:rPr lang="zh-CN" altLang="en-US" sz="1600">
                <a:latin typeface="Times New Roman" panose="02020603050405020304" pitchFamily="18" charset="0"/>
                <a:cs typeface="Times New Roman" panose="02020603050405020304" pitchFamily="18" charset="0"/>
              </a:rPr>
              <a:t>遍历完模式串，则匹配成功，返回匹配的起始位置</a:t>
            </a:r>
          </a:p>
          <a:p>
            <a:pPr>
              <a:lnSpc>
                <a:spcPct val="90000"/>
              </a:lnSpc>
            </a:pPr>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 if (posP &lt; lengthP)</a:t>
            </a: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        return -1;  // </a:t>
            </a:r>
            <a:r>
              <a:rPr lang="zh-CN" altLang="en-US" sz="1600">
                <a:latin typeface="Times New Roman" panose="02020603050405020304" pitchFamily="18" charset="0"/>
                <a:cs typeface="Times New Roman" panose="02020603050405020304" pitchFamily="18" charset="0"/>
              </a:rPr>
              <a:t>匹配失败</a:t>
            </a:r>
          </a:p>
          <a:p>
            <a:pPr>
              <a:lnSpc>
                <a:spcPct val="90000"/>
              </a:lnSpc>
            </a:pPr>
            <a:r>
              <a:rPr lang="en-US" altLang="zh-CN" sz="1600">
                <a:latin typeface="Times New Roman" panose="02020603050405020304" pitchFamily="18" charset="0"/>
                <a:cs typeface="Times New Roman" panose="02020603050405020304" pitchFamily="18" charset="0"/>
              </a:rPr>
              <a:t>    } else {</a:t>
            </a:r>
          </a:p>
          <a:p>
            <a:pPr>
              <a:lnSpc>
                <a:spcPct val="90000"/>
              </a:lnSpc>
            </a:pPr>
            <a:r>
              <a:rPr lang="en-US" altLang="zh-CN" sz="1600">
                <a:latin typeface="Times New Roman" panose="02020603050405020304" pitchFamily="18" charset="0"/>
                <a:cs typeface="Times New Roman" panose="02020603050405020304" pitchFamily="18" charset="0"/>
              </a:rPr>
              <a:t>        return posT - lengthP;  // </a:t>
            </a:r>
            <a:r>
              <a:rPr lang="zh-CN" altLang="en-US" sz="1600">
                <a:latin typeface="Times New Roman" panose="02020603050405020304" pitchFamily="18" charset="0"/>
                <a:cs typeface="Times New Roman" panose="02020603050405020304" pitchFamily="18" charset="0"/>
              </a:rPr>
              <a:t>返回匹配的起始位置</a:t>
            </a:r>
          </a:p>
          <a:p>
            <a:pPr>
              <a:lnSpc>
                <a:spcPct val="90000"/>
              </a:lnSpc>
            </a:pPr>
            <a:r>
              <a:rPr lang="en-US" altLang="zh-CN" sz="1600">
                <a:latin typeface="Times New Roman" panose="02020603050405020304" pitchFamily="18" charset="0"/>
                <a:cs typeface="Times New Roman" panose="02020603050405020304" pitchFamily="18" charset="0"/>
              </a:rPr>
              <a:t>    }</a:t>
            </a:r>
          </a:p>
          <a:p>
            <a:pPr>
              <a:lnSpc>
                <a:spcPct val="90000"/>
              </a:lnSpc>
            </a:pPr>
            <a:r>
              <a:rPr lang="en-US" altLang="zh-CN" sz="1600">
                <a:latin typeface="Times New Roman" panose="02020603050405020304" pitchFamily="18" charset="0"/>
                <a:cs typeface="Times New Roman" panose="02020603050405020304" pitchFamily="18" charset="0"/>
              </a:rPr>
              <a:t>}</a:t>
            </a:r>
            <a:endParaRPr lang="zh-CN" altLang="en-US" sz="1600">
              <a:latin typeface="Times New Roman" panose="02020603050405020304" pitchFamily="18" charset="0"/>
              <a:cs typeface="Times New Roman" panose="02020603050405020304" pitchFamily="18" charset="0"/>
            </a:endParaRPr>
          </a:p>
        </p:txBody>
      </p:sp>
      <p:sp>
        <p:nvSpPr>
          <p:cNvPr id="9" name="文本框 8"/>
          <p:cNvSpPr txBox="1"/>
          <p:nvPr/>
        </p:nvSpPr>
        <p:spPr>
          <a:xfrm>
            <a:off x="353695" y="236220"/>
            <a:ext cx="6096000" cy="398780"/>
          </a:xfrm>
          <a:prstGeom prst="rect">
            <a:avLst/>
          </a:prstGeom>
          <a:noFill/>
        </p:spPr>
        <p:txBody>
          <a:bodyPr wrap="square" rtlCol="0" anchor="t">
            <a:spAutoFit/>
          </a:bodyPr>
          <a:lstStyle/>
          <a:p>
            <a:r>
              <a:rPr lang="en-US" altLang="zh-CN" sz="2000" b="1">
                <a:latin typeface="Times New Roman" panose="02020603050405020304" pitchFamily="18" charset="0"/>
                <a:cs typeface="Times New Roman" panose="02020603050405020304" pitchFamily="18" charset="0"/>
                <a:sym typeface="+mn-ea"/>
              </a:rPr>
              <a:t>KMP</a:t>
            </a:r>
            <a:r>
              <a:rPr lang="zh-CN" altLang="en-US" sz="2000" b="1">
                <a:latin typeface="Times New Roman" panose="02020603050405020304" pitchFamily="18" charset="0"/>
                <a:cs typeface="Times New Roman" panose="02020603050405020304" pitchFamily="18" charset="0"/>
                <a:sym typeface="+mn-ea"/>
              </a:rPr>
              <a:t>匹配算法回顾</a:t>
            </a:r>
            <a:r>
              <a:rPr lang="en-US" altLang="zh-CN" sz="2000" b="1">
                <a:latin typeface="Times New Roman" panose="02020603050405020304" pitchFamily="18" charset="0"/>
                <a:cs typeface="Times New Roman" panose="02020603050405020304" pitchFamily="18" charset="0"/>
                <a:sym typeface="+mn-ea"/>
              </a:rPr>
              <a:t> </a:t>
            </a:r>
          </a:p>
        </p:txBody>
      </p:sp>
      <p:graphicFrame>
        <p:nvGraphicFramePr>
          <p:cNvPr id="11" name="表格 10"/>
          <p:cNvGraphicFramePr/>
          <p:nvPr>
            <p:custDataLst>
              <p:tags r:id="rId1"/>
            </p:custDataLst>
          </p:nvPr>
        </p:nvGraphicFramePr>
        <p:xfrm>
          <a:off x="469900" y="635000"/>
          <a:ext cx="3464560" cy="746760"/>
        </p:xfrm>
        <a:graphic>
          <a:graphicData uri="http://schemas.openxmlformats.org/drawingml/2006/table">
            <a:tbl>
              <a:tblPr firstRow="1" bandRow="1">
                <a:tableStyleId>{5C22544A-7EE6-4342-B048-85BDC9FD1C3A}</a:tableStyleId>
              </a:tblPr>
              <a:tblGrid>
                <a:gridCol w="433070">
                  <a:extLst>
                    <a:ext uri="{9D8B030D-6E8A-4147-A177-3AD203B41FA5}">
                      <a16:colId xmlns:a16="http://schemas.microsoft.com/office/drawing/2014/main" val="20000"/>
                    </a:ext>
                  </a:extLst>
                </a:gridCol>
                <a:gridCol w="433070">
                  <a:extLst>
                    <a:ext uri="{9D8B030D-6E8A-4147-A177-3AD203B41FA5}">
                      <a16:colId xmlns:a16="http://schemas.microsoft.com/office/drawing/2014/main" val="20001"/>
                    </a:ext>
                  </a:extLst>
                </a:gridCol>
                <a:gridCol w="433070">
                  <a:extLst>
                    <a:ext uri="{9D8B030D-6E8A-4147-A177-3AD203B41FA5}">
                      <a16:colId xmlns:a16="http://schemas.microsoft.com/office/drawing/2014/main" val="20002"/>
                    </a:ext>
                  </a:extLst>
                </a:gridCol>
                <a:gridCol w="433070">
                  <a:extLst>
                    <a:ext uri="{9D8B030D-6E8A-4147-A177-3AD203B41FA5}">
                      <a16:colId xmlns:a16="http://schemas.microsoft.com/office/drawing/2014/main" val="20003"/>
                    </a:ext>
                  </a:extLst>
                </a:gridCol>
                <a:gridCol w="433070">
                  <a:extLst>
                    <a:ext uri="{9D8B030D-6E8A-4147-A177-3AD203B41FA5}">
                      <a16:colId xmlns:a16="http://schemas.microsoft.com/office/drawing/2014/main" val="20004"/>
                    </a:ext>
                  </a:extLst>
                </a:gridCol>
                <a:gridCol w="433070">
                  <a:extLst>
                    <a:ext uri="{9D8B030D-6E8A-4147-A177-3AD203B41FA5}">
                      <a16:colId xmlns:a16="http://schemas.microsoft.com/office/drawing/2014/main" val="20005"/>
                    </a:ext>
                  </a:extLst>
                </a:gridCol>
                <a:gridCol w="433070">
                  <a:extLst>
                    <a:ext uri="{9D8B030D-6E8A-4147-A177-3AD203B41FA5}">
                      <a16:colId xmlns:a16="http://schemas.microsoft.com/office/drawing/2014/main" val="20006"/>
                    </a:ext>
                  </a:extLst>
                </a:gridCol>
                <a:gridCol w="433070">
                  <a:extLst>
                    <a:ext uri="{9D8B030D-6E8A-4147-A177-3AD203B41FA5}">
                      <a16:colId xmlns:a16="http://schemas.microsoft.com/office/drawing/2014/main" val="20007"/>
                    </a:ext>
                  </a:extLst>
                </a:gridCol>
              </a:tblGrid>
              <a:tr h="381000">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a</a:t>
                      </a:r>
                    </a:p>
                  </a:txBody>
                  <a:tcPr/>
                </a:tc>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c</a:t>
                      </a:r>
                    </a:p>
                  </a:txBody>
                  <a:tcPr/>
                </a:tc>
                <a:tc>
                  <a:txBody>
                    <a:bodyPr/>
                    <a:lstStyle/>
                    <a:p>
                      <a:pPr algn="ctr">
                        <a:buNone/>
                      </a:pPr>
                      <a:r>
                        <a:rPr lang="en-US" altLang="zh-CN"/>
                        <a:t>a</a:t>
                      </a:r>
                    </a:p>
                  </a:txBody>
                  <a:tcPr/>
                </a:tc>
                <a:tc>
                  <a:txBody>
                    <a:bodyPr/>
                    <a:lstStyle/>
                    <a:p>
                      <a:pPr algn="ctr">
                        <a:buNone/>
                      </a:pPr>
                      <a:r>
                        <a:rPr lang="en-US" altLang="zh-CN"/>
                        <a:t>c</a:t>
                      </a:r>
                    </a:p>
                  </a:txBody>
                  <a:tcPr/>
                </a:tc>
                <a:extLst>
                  <a:ext uri="{0D108BD9-81ED-4DB2-BD59-A6C34878D82A}">
                    <a16:rowId xmlns:a16="http://schemas.microsoft.com/office/drawing/2014/main" val="10000"/>
                  </a:ext>
                </a:extLst>
              </a:tr>
              <a:tr h="0">
                <a:tc>
                  <a:txBody>
                    <a:bodyPr/>
                    <a:lstStyle/>
                    <a:p>
                      <a:pPr algn="ctr">
                        <a:buNone/>
                      </a:pPr>
                      <a:r>
                        <a:rPr lang="en-US" altLang="zh-CN"/>
                        <a:t>-1</a:t>
                      </a:r>
                    </a:p>
                  </a:txBody>
                  <a:tcPr/>
                </a:tc>
                <a:tc>
                  <a:txBody>
                    <a:bodyPr/>
                    <a:lstStyle/>
                    <a:p>
                      <a:pPr algn="ctr">
                        <a:buNone/>
                      </a:pPr>
                      <a:r>
                        <a:rPr lang="en-US" altLang="zh-CN"/>
                        <a:t>0</a:t>
                      </a:r>
                    </a:p>
                  </a:txBody>
                  <a:tcPr/>
                </a:tc>
                <a:tc>
                  <a:txBody>
                    <a:bodyPr/>
                    <a:lstStyle/>
                    <a:p>
                      <a:pPr algn="ctr">
                        <a:buNone/>
                      </a:pPr>
                      <a:r>
                        <a:rPr lang="en-US" altLang="zh-CN"/>
                        <a:t>0</a:t>
                      </a:r>
                    </a:p>
                  </a:txBody>
                  <a:tcPr/>
                </a:tc>
                <a:tc>
                  <a:txBody>
                    <a:bodyPr/>
                    <a:lstStyle/>
                    <a:p>
                      <a:pPr algn="ctr">
                        <a:buNone/>
                      </a:pPr>
                      <a:r>
                        <a:rPr lang="en-US" altLang="zh-CN"/>
                        <a:t>1</a:t>
                      </a:r>
                    </a:p>
                  </a:txBody>
                  <a:tcPr/>
                </a:tc>
                <a:tc>
                  <a:txBody>
                    <a:bodyPr/>
                    <a:lstStyle/>
                    <a:p>
                      <a:pPr algn="ctr">
                        <a:buNone/>
                      </a:pPr>
                      <a:r>
                        <a:rPr lang="en-US" altLang="zh-CN"/>
                        <a:t>1</a:t>
                      </a:r>
                    </a:p>
                  </a:txBody>
                  <a:tcPr/>
                </a:tc>
                <a:tc>
                  <a:txBody>
                    <a:bodyPr/>
                    <a:lstStyle/>
                    <a:p>
                      <a:pPr algn="ctr">
                        <a:buNone/>
                      </a:pPr>
                      <a:r>
                        <a:rPr lang="en-US" altLang="zh-CN"/>
                        <a:t>2</a:t>
                      </a:r>
                    </a:p>
                  </a:txBody>
                  <a:tcPr/>
                </a:tc>
                <a:tc>
                  <a:txBody>
                    <a:bodyPr/>
                    <a:lstStyle/>
                    <a:p>
                      <a:pPr algn="ctr">
                        <a:buNone/>
                      </a:pPr>
                      <a:r>
                        <a:rPr lang="en-US" altLang="zh-CN"/>
                        <a:t>0</a:t>
                      </a:r>
                    </a:p>
                  </a:txBody>
                  <a:tcPr/>
                </a:tc>
                <a:tc>
                  <a:txBody>
                    <a:bodyPr/>
                    <a:lstStyle/>
                    <a:p>
                      <a:pPr algn="ctr">
                        <a:buNone/>
                      </a:pPr>
                      <a:r>
                        <a:rPr lang="en-US" altLang="zh-CN"/>
                        <a:t>1</a:t>
                      </a:r>
                    </a:p>
                  </a:txBody>
                  <a:tcPr/>
                </a:tc>
                <a:extLst>
                  <a:ext uri="{0D108BD9-81ED-4DB2-BD59-A6C34878D82A}">
                    <a16:rowId xmlns:a16="http://schemas.microsoft.com/office/drawing/2014/main" val="10001"/>
                  </a:ext>
                </a:extLst>
              </a:tr>
            </a:tbl>
          </a:graphicData>
        </a:graphic>
      </p:graphicFrame>
      <p:graphicFrame>
        <p:nvGraphicFramePr>
          <p:cNvPr id="16" name="表格 15"/>
          <p:cNvGraphicFramePr/>
          <p:nvPr/>
        </p:nvGraphicFramePr>
        <p:xfrm>
          <a:off x="708660" y="1861820"/>
          <a:ext cx="1732280" cy="381000"/>
        </p:xfrm>
        <a:graphic>
          <a:graphicData uri="http://schemas.openxmlformats.org/drawingml/2006/table">
            <a:tbl>
              <a:tblPr firstRow="1" bandRow="1">
                <a:tableStyleId>{5C22544A-7EE6-4342-B048-85BDC9FD1C3A}</a:tableStyleId>
              </a:tblPr>
              <a:tblGrid>
                <a:gridCol w="433070">
                  <a:extLst>
                    <a:ext uri="{9D8B030D-6E8A-4147-A177-3AD203B41FA5}">
                      <a16:colId xmlns:a16="http://schemas.microsoft.com/office/drawing/2014/main" val="20000"/>
                    </a:ext>
                  </a:extLst>
                </a:gridCol>
                <a:gridCol w="433070">
                  <a:extLst>
                    <a:ext uri="{9D8B030D-6E8A-4147-A177-3AD203B41FA5}">
                      <a16:colId xmlns:a16="http://schemas.microsoft.com/office/drawing/2014/main" val="20001"/>
                    </a:ext>
                  </a:extLst>
                </a:gridCol>
                <a:gridCol w="433070">
                  <a:extLst>
                    <a:ext uri="{9D8B030D-6E8A-4147-A177-3AD203B41FA5}">
                      <a16:colId xmlns:a16="http://schemas.microsoft.com/office/drawing/2014/main" val="20002"/>
                    </a:ext>
                  </a:extLst>
                </a:gridCol>
                <a:gridCol w="433070">
                  <a:extLst>
                    <a:ext uri="{9D8B030D-6E8A-4147-A177-3AD203B41FA5}">
                      <a16:colId xmlns:a16="http://schemas.microsoft.com/office/drawing/2014/main" val="20003"/>
                    </a:ext>
                  </a:extLst>
                </a:gridCol>
              </a:tblGrid>
              <a:tr h="381000">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a</a:t>
                      </a:r>
                    </a:p>
                  </a:txBody>
                  <a:tcPr/>
                </a:tc>
                <a:tc>
                  <a:txBody>
                    <a:bodyPr/>
                    <a:lstStyle/>
                    <a:p>
                      <a:pPr algn="ctr">
                        <a:buNone/>
                      </a:pPr>
                      <a:r>
                        <a:rPr lang="en-US" altLang="zh-CN">
                          <a:solidFill>
                            <a:srgbClr val="FF0000"/>
                          </a:solidFill>
                        </a:rPr>
                        <a:t>a</a:t>
                      </a:r>
                    </a:p>
                  </a:txBody>
                  <a:tcPr/>
                </a:tc>
                <a:extLst>
                  <a:ext uri="{0D108BD9-81ED-4DB2-BD59-A6C34878D82A}">
                    <a16:rowId xmlns:a16="http://schemas.microsoft.com/office/drawing/2014/main" val="10000"/>
                  </a:ext>
                </a:extLst>
              </a:tr>
            </a:tbl>
          </a:graphicData>
        </a:graphic>
      </p:graphicFrame>
      <p:graphicFrame>
        <p:nvGraphicFramePr>
          <p:cNvPr id="17" name="表格 16"/>
          <p:cNvGraphicFramePr/>
          <p:nvPr/>
        </p:nvGraphicFramePr>
        <p:xfrm>
          <a:off x="708660" y="1431290"/>
          <a:ext cx="1732280" cy="381000"/>
        </p:xfrm>
        <a:graphic>
          <a:graphicData uri="http://schemas.openxmlformats.org/drawingml/2006/table">
            <a:tbl>
              <a:tblPr firstRow="1" bandRow="1">
                <a:tableStyleId>{5C22544A-7EE6-4342-B048-85BDC9FD1C3A}</a:tableStyleId>
              </a:tblPr>
              <a:tblGrid>
                <a:gridCol w="433070">
                  <a:extLst>
                    <a:ext uri="{9D8B030D-6E8A-4147-A177-3AD203B41FA5}">
                      <a16:colId xmlns:a16="http://schemas.microsoft.com/office/drawing/2014/main" val="20000"/>
                    </a:ext>
                  </a:extLst>
                </a:gridCol>
                <a:gridCol w="433070">
                  <a:extLst>
                    <a:ext uri="{9D8B030D-6E8A-4147-A177-3AD203B41FA5}">
                      <a16:colId xmlns:a16="http://schemas.microsoft.com/office/drawing/2014/main" val="20001"/>
                    </a:ext>
                  </a:extLst>
                </a:gridCol>
                <a:gridCol w="433070">
                  <a:extLst>
                    <a:ext uri="{9D8B030D-6E8A-4147-A177-3AD203B41FA5}">
                      <a16:colId xmlns:a16="http://schemas.microsoft.com/office/drawing/2014/main" val="20002"/>
                    </a:ext>
                  </a:extLst>
                </a:gridCol>
                <a:gridCol w="433070">
                  <a:extLst>
                    <a:ext uri="{9D8B030D-6E8A-4147-A177-3AD203B41FA5}">
                      <a16:colId xmlns:a16="http://schemas.microsoft.com/office/drawing/2014/main" val="20003"/>
                    </a:ext>
                  </a:extLst>
                </a:gridCol>
              </a:tblGrid>
              <a:tr h="381000">
                <a:tc>
                  <a:txBody>
                    <a:bodyPr/>
                    <a:lstStyle/>
                    <a:p>
                      <a:pPr algn="ctr">
                        <a:buNone/>
                      </a:pPr>
                      <a:r>
                        <a:rPr lang="en-US" altLang="zh-CN"/>
                        <a:t>a</a:t>
                      </a:r>
                    </a:p>
                  </a:txBody>
                  <a:tcPr/>
                </a:tc>
                <a:tc>
                  <a:txBody>
                    <a:bodyPr/>
                    <a:lstStyle/>
                    <a:p>
                      <a:pPr algn="ctr">
                        <a:buNone/>
                      </a:pPr>
                      <a:r>
                        <a:rPr lang="en-US" altLang="zh-CN"/>
                        <a:t>b</a:t>
                      </a:r>
                    </a:p>
                  </a:txBody>
                  <a:tcPr/>
                </a:tc>
                <a:tc>
                  <a:txBody>
                    <a:bodyPr/>
                    <a:lstStyle/>
                    <a:p>
                      <a:pPr algn="ctr">
                        <a:buNone/>
                      </a:pPr>
                      <a:r>
                        <a:rPr lang="en-US" altLang="zh-CN"/>
                        <a:t>a</a:t>
                      </a:r>
                    </a:p>
                  </a:txBody>
                  <a:tcPr/>
                </a:tc>
                <a:tc>
                  <a:txBody>
                    <a:bodyPr/>
                    <a:lstStyle/>
                    <a:p>
                      <a:pPr algn="ctr">
                        <a:buNone/>
                      </a:pPr>
                      <a:r>
                        <a:rPr lang="en-US" altLang="zh-CN">
                          <a:solidFill>
                            <a:srgbClr val="FF0000"/>
                          </a:solidFill>
                        </a:rPr>
                        <a:t>b</a:t>
                      </a:r>
                    </a:p>
                  </a:txBody>
                  <a:tcPr/>
                </a:tc>
                <a:extLst>
                  <a:ext uri="{0D108BD9-81ED-4DB2-BD59-A6C34878D82A}">
                    <a16:rowId xmlns:a16="http://schemas.microsoft.com/office/drawing/2014/main" val="10000"/>
                  </a:ext>
                </a:extLst>
              </a:tr>
            </a:tbl>
          </a:graphicData>
        </a:graphic>
      </p:graphicFrame>
      <p:sp>
        <p:nvSpPr>
          <p:cNvPr id="18" name="文本框 17"/>
          <p:cNvSpPr txBox="1"/>
          <p:nvPr/>
        </p:nvSpPr>
        <p:spPr>
          <a:xfrm>
            <a:off x="6036310" y="51435"/>
            <a:ext cx="3703320" cy="583565"/>
          </a:xfrm>
          <a:prstGeom prst="rect">
            <a:avLst/>
          </a:prstGeom>
        </p:spPr>
        <p:txBody>
          <a:bodyPr wrap="square">
            <a:spAutoFit/>
          </a:bodyPr>
          <a:lstStyle/>
          <a:p>
            <a:pPr marL="285750" indent="-285750">
              <a:buFont typeface="Arial" panose="020B0604020202020204" pitchFamily="34" charset="0"/>
              <a:buChar char="•"/>
            </a:pPr>
            <a:r>
              <a:rPr lang="en-US" altLang="zh-CN" sz="1600">
                <a:solidFill>
                  <a:srgbClr val="FF0000"/>
                </a:solidFill>
              </a:rPr>
              <a:t>text </a:t>
            </a:r>
            <a:r>
              <a:rPr lang="zh-CN" altLang="en-US" sz="1600">
                <a:solidFill>
                  <a:srgbClr val="FF0000"/>
                </a:solidFill>
              </a:rPr>
              <a:t>是你要搜索的原始文本</a:t>
            </a:r>
          </a:p>
          <a:p>
            <a:pPr marL="285750" indent="-285750">
              <a:buFont typeface="Arial" panose="020B0604020202020204" pitchFamily="34" charset="0"/>
              <a:buChar char="•"/>
            </a:pPr>
            <a:r>
              <a:rPr lang="en-US" altLang="zh-CN" sz="1600">
                <a:solidFill>
                  <a:srgbClr val="FF0000"/>
                </a:solidFill>
              </a:rPr>
              <a:t>pattern </a:t>
            </a:r>
            <a:r>
              <a:rPr lang="zh-CN" altLang="en-US" sz="1600">
                <a:solidFill>
                  <a:srgbClr val="FF0000"/>
                </a:solidFill>
              </a:rPr>
              <a:t>是你要匹配的模式串</a:t>
            </a:r>
          </a:p>
        </p:txBody>
      </p:sp>
      <p:cxnSp>
        <p:nvCxnSpPr>
          <p:cNvPr id="19" name="直接连接符 18"/>
          <p:cNvCxnSpPr/>
          <p:nvPr/>
        </p:nvCxnSpPr>
        <p:spPr>
          <a:xfrm>
            <a:off x="5664835" y="46355"/>
            <a:ext cx="8890" cy="68141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1587308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4495" y="983615"/>
            <a:ext cx="10340340" cy="1322070"/>
          </a:xfrm>
          <a:prstGeom prst="rect">
            <a:avLst/>
          </a:prstGeom>
          <a:noFill/>
        </p:spPr>
        <p:txBody>
          <a:bodyPr wrap="square" rtlCol="0" anchor="t">
            <a:spAutoFit/>
          </a:bodyPr>
          <a:lstStyle/>
          <a:p>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思路</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较好的方法是</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稍作修改的</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KMP </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算法</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即先求出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的</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逐一字符从左向右比较，在某个位置两个串的字符相等，则一起向右，一种情况是到达了</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串的末尾，然后接入</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串剩余的部分，就成功结束。</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但也有可能在某个位置发生不匹配，例如这时的位置为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A[i]!=B[j]</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按</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数组回溯，例如回溯到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达到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A[i-k]~A[i]=B[0]~B[k]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i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开始，继续向右重复上述匹配过程。</a:t>
            </a:r>
          </a:p>
        </p:txBody>
      </p:sp>
      <p:sp>
        <p:nvSpPr>
          <p:cNvPr id="8" name="文本框 7"/>
          <p:cNvSpPr txBox="1"/>
          <p:nvPr/>
        </p:nvSpPr>
        <p:spPr>
          <a:xfrm>
            <a:off x="353695" y="125730"/>
            <a:ext cx="11300460" cy="837565"/>
          </a:xfrm>
          <a:prstGeom prst="rect">
            <a:avLst/>
          </a:prstGeom>
        </p:spPr>
        <p:txBody>
          <a:bodyPr wrap="square">
            <a:noAutofit/>
          </a:bodyPr>
          <a:lstStyle/>
          <a:p>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用尽量快的算法实现连接两个头尾重合的字符串。例如，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 “123456”</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 = “12345678”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再如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A+B=“</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要求：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描述该算法的基本设计思想；</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给出程序代码。</a:t>
            </a:r>
          </a:p>
        </p:txBody>
      </p:sp>
      <p:sp>
        <p:nvSpPr>
          <p:cNvPr id="9" name="文本框 8"/>
          <p:cNvSpPr txBox="1"/>
          <p:nvPr/>
        </p:nvSpPr>
        <p:spPr>
          <a:xfrm>
            <a:off x="6096000" y="504190"/>
            <a:ext cx="3210560" cy="337185"/>
          </a:xfrm>
          <a:prstGeom prst="rect">
            <a:avLst/>
          </a:prstGeom>
          <a:noFill/>
        </p:spPr>
        <p:txBody>
          <a:bodyPr wrap="square" rtlCol="0" anchor="t">
            <a:spAutoFit/>
          </a:bodyPr>
          <a:lstStyle/>
          <a:p>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 “cdabcdef”</a:t>
            </a:r>
            <a:r>
              <a:rPr lang="zh-CN" altLang="en-US" sz="160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60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B: “cdefgh”</a:t>
            </a:r>
          </a:p>
        </p:txBody>
      </p:sp>
      <p:sp>
        <p:nvSpPr>
          <p:cNvPr id="10" name="文本框 9"/>
          <p:cNvSpPr txBox="1"/>
          <p:nvPr/>
        </p:nvSpPr>
        <p:spPr>
          <a:xfrm>
            <a:off x="170815" y="2700020"/>
            <a:ext cx="6013450" cy="3784600"/>
          </a:xfrm>
          <a:prstGeom prst="rect">
            <a:avLst/>
          </a:prstGeom>
          <a:noFill/>
        </p:spPr>
        <p:txBody>
          <a:bodyPr wrap="square" rtlCol="0" anchor="t">
            <a:spAutoFit/>
          </a:bodyPr>
          <a:lstStyle/>
          <a:p>
            <a:r>
              <a:rPr lang="en-US" altLang="zh-CN" sz="1600">
                <a:latin typeface="Times New Roman" panose="02020603050405020304" pitchFamily="18" charset="0"/>
                <a:cs typeface="Times New Roman" panose="02020603050405020304" pitchFamily="18" charset="0"/>
                <a:sym typeface="+mn-ea"/>
              </a:rPr>
              <a:t>// </a:t>
            </a:r>
            <a:r>
              <a:rPr lang="zh-CN" altLang="en-US" sz="1600">
                <a:latin typeface="Times New Roman" panose="02020603050405020304" pitchFamily="18" charset="0"/>
                <a:cs typeface="Times New Roman" panose="02020603050405020304" pitchFamily="18" charset="0"/>
                <a:sym typeface="+mn-ea"/>
              </a:rPr>
              <a:t>连接</a:t>
            </a:r>
            <a:r>
              <a:rPr lang="en-US" altLang="zh-CN" sz="1600">
                <a:latin typeface="Times New Roman" panose="02020603050405020304" pitchFamily="18" charset="0"/>
                <a:cs typeface="Times New Roman" panose="02020603050405020304" pitchFamily="18" charset="0"/>
                <a:sym typeface="+mn-ea"/>
              </a:rPr>
              <a:t> text </a:t>
            </a:r>
            <a:r>
              <a:rPr lang="zh-CN" altLang="en-US" sz="1600">
                <a:latin typeface="Times New Roman" panose="02020603050405020304" pitchFamily="18" charset="0"/>
                <a:cs typeface="Times New Roman" panose="02020603050405020304" pitchFamily="18" charset="0"/>
                <a:sym typeface="+mn-ea"/>
              </a:rPr>
              <a:t>和</a:t>
            </a:r>
            <a:r>
              <a:rPr lang="en-US" altLang="zh-CN" sz="1600">
                <a:latin typeface="Times New Roman" panose="02020603050405020304" pitchFamily="18" charset="0"/>
                <a:cs typeface="Times New Roman" panose="02020603050405020304" pitchFamily="18" charset="0"/>
                <a:sym typeface="+mn-ea"/>
              </a:rPr>
              <a:t> pattern</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string catenate_kmp(const string&amp; text, const string&amp; pattern) {  // </a:t>
            </a:r>
            <a:r>
              <a:rPr lang="zh-CN" altLang="en-US" sz="1600">
                <a:latin typeface="Times New Roman" panose="02020603050405020304" pitchFamily="18" charset="0"/>
                <a:cs typeface="Times New Roman" panose="02020603050405020304" pitchFamily="18" charset="0"/>
                <a:sym typeface="+mn-ea"/>
              </a:rPr>
              <a:t>原</a:t>
            </a:r>
            <a:r>
              <a:rPr lang="en-US" altLang="zh-CN" sz="1600">
                <a:latin typeface="Times New Roman" panose="02020603050405020304" pitchFamily="18" charset="0"/>
                <a:cs typeface="Times New Roman" panose="02020603050405020304" pitchFamily="18" charset="0"/>
                <a:sym typeface="+mn-ea"/>
              </a:rPr>
              <a:t> `str1` </a:t>
            </a:r>
            <a:r>
              <a:rPr lang="zh-CN" altLang="en-US" sz="1600">
                <a:latin typeface="Times New Roman" panose="02020603050405020304" pitchFamily="18" charset="0"/>
                <a:cs typeface="Times New Roman" panose="02020603050405020304" pitchFamily="18" charset="0"/>
                <a:sym typeface="+mn-ea"/>
              </a:rPr>
              <a:t>和</a:t>
            </a:r>
            <a:r>
              <a:rPr lang="en-US" altLang="zh-CN" sz="1600">
                <a:latin typeface="Times New Roman" panose="02020603050405020304" pitchFamily="18" charset="0"/>
                <a:cs typeface="Times New Roman" panose="02020603050405020304" pitchFamily="18" charset="0"/>
                <a:sym typeface="+mn-ea"/>
              </a:rPr>
              <a:t> `str2`</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int len1 = text.length();  // </a:t>
            </a:r>
            <a:r>
              <a:rPr lang="zh-CN" altLang="en-US" sz="1600">
                <a:latin typeface="Times New Roman" panose="02020603050405020304" pitchFamily="18" charset="0"/>
                <a:cs typeface="Times New Roman" panose="02020603050405020304" pitchFamily="18" charset="0"/>
                <a:sym typeface="+mn-ea"/>
              </a:rPr>
              <a:t>原</a:t>
            </a:r>
            <a:r>
              <a:rPr lang="en-US" altLang="zh-CN" sz="1600">
                <a:latin typeface="Times New Roman" panose="02020603050405020304" pitchFamily="18" charset="0"/>
                <a:cs typeface="Times New Roman" panose="02020603050405020304" pitchFamily="18" charset="0"/>
                <a:sym typeface="+mn-ea"/>
              </a:rPr>
              <a:t> `str1`</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int len2 = pattern.length();  // </a:t>
            </a:r>
            <a:r>
              <a:rPr lang="zh-CN" altLang="en-US" sz="1600">
                <a:latin typeface="Times New Roman" panose="02020603050405020304" pitchFamily="18" charset="0"/>
                <a:cs typeface="Times New Roman" panose="02020603050405020304" pitchFamily="18" charset="0"/>
                <a:sym typeface="+mn-ea"/>
              </a:rPr>
              <a:t>原</a:t>
            </a:r>
            <a:r>
              <a:rPr lang="en-US" altLang="zh-CN" sz="1600">
                <a:latin typeface="Times New Roman" panose="02020603050405020304" pitchFamily="18" charset="0"/>
                <a:cs typeface="Times New Roman" panose="02020603050405020304" pitchFamily="18" charset="0"/>
                <a:sym typeface="+mn-ea"/>
              </a:rPr>
              <a:t> `str2`</a:t>
            </a:r>
            <a:endParaRPr lang="en-US" altLang="zh-CN" sz="1600">
              <a:latin typeface="Times New Roman" panose="02020603050405020304" pitchFamily="18" charset="0"/>
              <a:cs typeface="Times New Roman" panose="02020603050405020304" pitchFamily="18" charset="0"/>
            </a:endParaRPr>
          </a:p>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 </a:t>
            </a:r>
            <a:r>
              <a:rPr lang="zh-CN" altLang="en-US" sz="1600">
                <a:latin typeface="Times New Roman" panose="02020603050405020304" pitchFamily="18" charset="0"/>
                <a:cs typeface="Times New Roman" panose="02020603050405020304" pitchFamily="18" charset="0"/>
                <a:sym typeface="+mn-ea"/>
              </a:rPr>
              <a:t>计算</a:t>
            </a:r>
            <a:r>
              <a:rPr lang="en-US" altLang="zh-CN" sz="1600">
                <a:latin typeface="Times New Roman" panose="02020603050405020304" pitchFamily="18" charset="0"/>
                <a:cs typeface="Times New Roman" panose="02020603050405020304" pitchFamily="18" charset="0"/>
                <a:sym typeface="+mn-ea"/>
              </a:rPr>
              <a:t> pattern </a:t>
            </a:r>
            <a:r>
              <a:rPr lang="zh-CN" altLang="en-US" sz="1600">
                <a:latin typeface="Times New Roman" panose="02020603050405020304" pitchFamily="18" charset="0"/>
                <a:cs typeface="Times New Roman" panose="02020603050405020304" pitchFamily="18" charset="0"/>
                <a:sym typeface="+mn-ea"/>
              </a:rPr>
              <a:t>的</a:t>
            </a:r>
            <a:r>
              <a:rPr lang="en-US" altLang="zh-CN" sz="1600">
                <a:latin typeface="Times New Roman" panose="02020603050405020304" pitchFamily="18" charset="0"/>
                <a:cs typeface="Times New Roman" panose="02020603050405020304" pitchFamily="18" charset="0"/>
                <a:sym typeface="+mn-ea"/>
              </a:rPr>
              <a:t> next </a:t>
            </a:r>
            <a:r>
              <a:rPr lang="zh-CN" altLang="en-US" sz="1600">
                <a:latin typeface="Times New Roman" panose="02020603050405020304" pitchFamily="18" charset="0"/>
                <a:cs typeface="Times New Roman" panose="02020603050405020304" pitchFamily="18" charset="0"/>
                <a:sym typeface="+mn-ea"/>
              </a:rPr>
              <a:t>数组</a:t>
            </a:r>
            <a:endParaRPr lang="zh-CN" altLang="en-US"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vector&lt;int&gt; next = computeNext(pattern);</a:t>
            </a:r>
            <a:endParaRPr lang="en-US" altLang="zh-CN" sz="1600">
              <a:latin typeface="Times New Roman" panose="02020603050405020304" pitchFamily="18" charset="0"/>
              <a:cs typeface="Times New Roman" panose="02020603050405020304" pitchFamily="18" charset="0"/>
            </a:endParaRPr>
          </a:p>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 </a:t>
            </a:r>
            <a:r>
              <a:rPr lang="zh-CN" altLang="en-US" sz="1600">
                <a:latin typeface="Times New Roman" panose="02020603050405020304" pitchFamily="18" charset="0"/>
                <a:cs typeface="Times New Roman" panose="02020603050405020304" pitchFamily="18" charset="0"/>
                <a:sym typeface="+mn-ea"/>
              </a:rPr>
              <a:t>结果字符串</a:t>
            </a:r>
            <a:endParaRPr lang="zh-CN" altLang="en-US"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string result;</a:t>
            </a:r>
          </a:p>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sym typeface="+mn-ea"/>
              </a:rPr>
              <a:t>// </a:t>
            </a:r>
            <a:r>
              <a:rPr lang="zh-CN" altLang="en-US" sz="1600">
                <a:latin typeface="Times New Roman" panose="02020603050405020304" pitchFamily="18" charset="0"/>
                <a:cs typeface="Times New Roman" panose="02020603050405020304" pitchFamily="18" charset="0"/>
                <a:sym typeface="+mn-ea"/>
              </a:rPr>
              <a:t>初始化两个指针</a:t>
            </a:r>
          </a:p>
          <a:p>
            <a:r>
              <a:rPr lang="en-US" altLang="zh-CN" sz="1600">
                <a:latin typeface="Times New Roman" panose="02020603050405020304" pitchFamily="18" charset="0"/>
                <a:cs typeface="Times New Roman" panose="02020603050405020304" pitchFamily="18" charset="0"/>
                <a:sym typeface="+mn-ea"/>
              </a:rPr>
              <a:t>    int posT = 0;  // text </a:t>
            </a:r>
            <a:r>
              <a:rPr lang="zh-CN" altLang="en-US" sz="1600">
                <a:latin typeface="Times New Roman" panose="02020603050405020304" pitchFamily="18" charset="0"/>
                <a:cs typeface="Times New Roman" panose="02020603050405020304" pitchFamily="18" charset="0"/>
                <a:sym typeface="+mn-ea"/>
              </a:rPr>
              <a:t>的指针</a:t>
            </a:r>
          </a:p>
          <a:p>
            <a:r>
              <a:rPr lang="en-US" altLang="zh-CN" sz="1600">
                <a:latin typeface="Times New Roman" panose="02020603050405020304" pitchFamily="18" charset="0"/>
                <a:cs typeface="Times New Roman" panose="02020603050405020304" pitchFamily="18" charset="0"/>
                <a:sym typeface="+mn-ea"/>
              </a:rPr>
              <a:t>    int posP = 0;  // pattern </a:t>
            </a:r>
            <a:r>
              <a:rPr lang="zh-CN" altLang="en-US" sz="1600">
                <a:latin typeface="Times New Roman" panose="02020603050405020304" pitchFamily="18" charset="0"/>
                <a:cs typeface="Times New Roman" panose="02020603050405020304" pitchFamily="18" charset="0"/>
                <a:sym typeface="+mn-ea"/>
              </a:rPr>
              <a:t>的指针</a:t>
            </a:r>
          </a:p>
        </p:txBody>
      </p:sp>
      <p:sp>
        <p:nvSpPr>
          <p:cNvPr id="11" name="文本框 10"/>
          <p:cNvSpPr txBox="1"/>
          <p:nvPr/>
        </p:nvSpPr>
        <p:spPr>
          <a:xfrm>
            <a:off x="6096000" y="2326640"/>
            <a:ext cx="6096000" cy="4531360"/>
          </a:xfrm>
          <a:prstGeom prst="rect">
            <a:avLst/>
          </a:prstGeom>
          <a:noFill/>
        </p:spPr>
        <p:txBody>
          <a:bodyPr wrap="square" rtlCol="0" anchor="t">
            <a:noAutofit/>
          </a:bodyPr>
          <a:lstStyle/>
          <a:p>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while (posT &lt; len1)</a:t>
            </a:r>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if (posP == -1 || text[posT] == pattern[posP]) {  </a:t>
            </a:r>
          </a:p>
          <a:p>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匹配或第一次匹配</a:t>
            </a:r>
          </a:p>
          <a:p>
            <a:r>
              <a:rPr lang="en-US" altLang="zh-CN" sz="1600">
                <a:latin typeface="Times New Roman" panose="02020603050405020304" pitchFamily="18" charset="0"/>
                <a:cs typeface="Times New Roman" panose="02020603050405020304" pitchFamily="18" charset="0"/>
              </a:rPr>
              <a:t>            result += text[posT];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text[posT] </a:t>
            </a:r>
            <a:r>
              <a:rPr lang="zh-CN" altLang="en-US" sz="1600">
                <a:latin typeface="Times New Roman" panose="02020603050405020304" pitchFamily="18" charset="0"/>
                <a:cs typeface="Times New Roman" panose="02020603050405020304" pitchFamily="18" charset="0"/>
              </a:rPr>
              <a:t>添加到结果</a:t>
            </a:r>
          </a:p>
          <a:p>
            <a:r>
              <a:rPr lang="en-US" altLang="zh-CN" sz="1600">
                <a:latin typeface="Times New Roman" panose="02020603050405020304" pitchFamily="18" charset="0"/>
                <a:cs typeface="Times New Roman" panose="02020603050405020304" pitchFamily="18" charset="0"/>
              </a:rPr>
              <a:t>            posT++;</a:t>
            </a:r>
          </a:p>
          <a:p>
            <a:r>
              <a:rPr lang="en-US" altLang="zh-CN" sz="1600">
                <a:latin typeface="Times New Roman" panose="02020603050405020304" pitchFamily="18" charset="0"/>
                <a:cs typeface="Times New Roman" panose="02020603050405020304" pitchFamily="18" charset="0"/>
              </a:rPr>
              <a:t>            posP++;</a:t>
            </a:r>
          </a:p>
          <a:p>
            <a:r>
              <a:rPr lang="en-US" altLang="zh-CN" sz="1600">
                <a:latin typeface="Times New Roman" panose="02020603050405020304" pitchFamily="18" charset="0"/>
                <a:cs typeface="Times New Roman" panose="02020603050405020304" pitchFamily="18" charset="0"/>
              </a:rPr>
              <a:t>        } else {  // </a:t>
            </a:r>
            <a:r>
              <a:rPr lang="zh-CN" altLang="en-US" sz="1600">
                <a:latin typeface="Times New Roman" panose="02020603050405020304" pitchFamily="18" charset="0"/>
                <a:cs typeface="Times New Roman" panose="02020603050405020304" pitchFamily="18" charset="0"/>
              </a:rPr>
              <a:t>匹配失败，使用</a:t>
            </a:r>
            <a:r>
              <a:rPr lang="en-US" altLang="zh-CN" sz="1600">
                <a:latin typeface="Times New Roman" panose="02020603050405020304" pitchFamily="18" charset="0"/>
                <a:cs typeface="Times New Roman" panose="02020603050405020304" pitchFamily="18" charset="0"/>
              </a:rPr>
              <a:t> next </a:t>
            </a:r>
            <a:r>
              <a:rPr lang="zh-CN" altLang="en-US" sz="1600">
                <a:latin typeface="Times New Roman" panose="02020603050405020304" pitchFamily="18" charset="0"/>
                <a:cs typeface="Times New Roman" panose="02020603050405020304" pitchFamily="18" charset="0"/>
              </a:rPr>
              <a:t>数组回退</a:t>
            </a:r>
          </a:p>
          <a:p>
            <a:r>
              <a:rPr lang="en-US" altLang="zh-CN" sz="1600">
                <a:latin typeface="Times New Roman" panose="02020603050405020304" pitchFamily="18" charset="0"/>
                <a:cs typeface="Times New Roman" panose="02020603050405020304" pitchFamily="18" charset="0"/>
              </a:rPr>
              <a:t>            posP = next[posP];</a:t>
            </a:r>
          </a:p>
          <a:p>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pattern </a:t>
            </a:r>
            <a:r>
              <a:rPr lang="zh-CN" altLang="en-US" sz="1600">
                <a:latin typeface="Times New Roman" panose="02020603050405020304" pitchFamily="18" charset="0"/>
                <a:cs typeface="Times New Roman" panose="02020603050405020304" pitchFamily="18" charset="0"/>
              </a:rPr>
              <a:t>剩余部分复制到结果中</a:t>
            </a:r>
          </a:p>
          <a:p>
            <a:r>
              <a:rPr lang="en-US" altLang="zh-CN" sz="1600">
                <a:latin typeface="Times New Roman" panose="02020603050405020304" pitchFamily="18" charset="0"/>
                <a:cs typeface="Times New Roman" panose="02020603050405020304" pitchFamily="18" charset="0"/>
              </a:rPr>
              <a:t>    </a:t>
            </a:r>
            <a:r>
              <a:rPr lang="en-US" altLang="zh-CN" sz="1600" b="1" u="sng">
                <a:solidFill>
                  <a:srgbClr val="FF0000"/>
                </a:solidFill>
                <a:latin typeface="Times New Roman" panose="02020603050405020304" pitchFamily="18" charset="0"/>
                <a:cs typeface="Times New Roman" panose="02020603050405020304" pitchFamily="18" charset="0"/>
              </a:rPr>
              <a:t>while (posP &lt; len2) </a:t>
            </a:r>
            <a:r>
              <a:rPr lang="en-US" altLang="zh-CN" sz="1600">
                <a:latin typeface="Times New Roman" panose="02020603050405020304" pitchFamily="18" charset="0"/>
                <a:cs typeface="Times New Roman" panose="02020603050405020304" pitchFamily="18" charset="0"/>
              </a:rPr>
              <a:t>{</a:t>
            </a:r>
          </a:p>
          <a:p>
            <a:r>
              <a:rPr lang="en-US" altLang="zh-CN" sz="1600">
                <a:latin typeface="Times New Roman" panose="02020603050405020304" pitchFamily="18" charset="0"/>
                <a:cs typeface="Times New Roman" panose="02020603050405020304" pitchFamily="18" charset="0"/>
              </a:rPr>
              <a:t>        result += pattern[posP];  // </a:t>
            </a:r>
            <a:r>
              <a:rPr lang="zh-CN" altLang="en-US" sz="1600">
                <a:latin typeface="Times New Roman" panose="02020603050405020304" pitchFamily="18" charset="0"/>
                <a:cs typeface="Times New Roman" panose="02020603050405020304" pitchFamily="18" charset="0"/>
              </a:rPr>
              <a:t>将</a:t>
            </a:r>
            <a:r>
              <a:rPr lang="en-US" altLang="zh-CN" sz="1600">
                <a:latin typeface="Times New Roman" panose="02020603050405020304" pitchFamily="18" charset="0"/>
                <a:cs typeface="Times New Roman" panose="02020603050405020304" pitchFamily="18" charset="0"/>
              </a:rPr>
              <a:t> pattern[posP] </a:t>
            </a:r>
            <a:r>
              <a:rPr lang="zh-CN" altLang="en-US" sz="1600">
                <a:latin typeface="Times New Roman" panose="02020603050405020304" pitchFamily="18" charset="0"/>
                <a:cs typeface="Times New Roman" panose="02020603050405020304" pitchFamily="18" charset="0"/>
              </a:rPr>
              <a:t>添加到结果</a:t>
            </a:r>
          </a:p>
          <a:p>
            <a:r>
              <a:rPr lang="en-US" altLang="zh-CN" sz="1600">
                <a:latin typeface="Times New Roman" panose="02020603050405020304" pitchFamily="18" charset="0"/>
                <a:cs typeface="Times New Roman" panose="02020603050405020304" pitchFamily="18" charset="0"/>
              </a:rPr>
              <a:t>        posP++;</a:t>
            </a:r>
          </a:p>
          <a:p>
            <a:r>
              <a:rPr lang="en-US" altLang="zh-CN" sz="1600">
                <a:latin typeface="Times New Roman" panose="02020603050405020304" pitchFamily="18" charset="0"/>
                <a:cs typeface="Times New Roman" panose="02020603050405020304" pitchFamily="18" charset="0"/>
              </a:rPr>
              <a:t>    }</a:t>
            </a:r>
          </a:p>
          <a:p>
            <a:r>
              <a:rPr lang="en-US" altLang="zh-CN" sz="1600">
                <a:latin typeface="Times New Roman" panose="02020603050405020304" pitchFamily="18" charset="0"/>
                <a:cs typeface="Times New Roman" panose="02020603050405020304" pitchFamily="18" charset="0"/>
              </a:rPr>
              <a:t>    return result;  // </a:t>
            </a:r>
            <a:r>
              <a:rPr lang="zh-CN" altLang="en-US" sz="1600">
                <a:latin typeface="Times New Roman" panose="02020603050405020304" pitchFamily="18" charset="0"/>
                <a:cs typeface="Times New Roman" panose="02020603050405020304" pitchFamily="18" charset="0"/>
              </a:rPr>
              <a:t>返回连接后的字符串</a:t>
            </a:r>
          </a:p>
          <a:p>
            <a:r>
              <a:rPr lang="en-US" altLang="zh-CN" sz="1600">
                <a:latin typeface="Times New Roman" panose="02020603050405020304" pitchFamily="18" charset="0"/>
                <a:cs typeface="Times New Roman" panose="02020603050405020304" pitchFamily="18" charset="0"/>
              </a:rPr>
              <a:t>}</a:t>
            </a:r>
          </a:p>
        </p:txBody>
      </p:sp>
      <p:sp>
        <p:nvSpPr>
          <p:cNvPr id="12" name="文本框 11"/>
          <p:cNvSpPr txBox="1"/>
          <p:nvPr/>
        </p:nvSpPr>
        <p:spPr>
          <a:xfrm>
            <a:off x="1797685" y="3590925"/>
            <a:ext cx="7978775" cy="1198880"/>
          </a:xfrm>
          <a:prstGeom prst="rect">
            <a:avLst/>
          </a:prstGeom>
          <a:solidFill>
            <a:schemeClr val="accent5">
              <a:lumMod val="40000"/>
              <a:lumOff val="60000"/>
            </a:schemeClr>
          </a:solidFill>
          <a:ln w="12700" cmpd="sng">
            <a:solidFill>
              <a:schemeClr val="accent1">
                <a:shade val="50000"/>
              </a:schemeClr>
            </a:solidFill>
            <a:prstDash val="solid"/>
          </a:ln>
        </p:spPr>
        <p:txBody>
          <a:bodyPr wrap="square">
            <a:spAutoFit/>
          </a:bodyPr>
          <a:lstStyle/>
          <a:p>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常见问题：</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程序结构基本正确，合理使用递归或者循环</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，不符合</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尽量快</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3-4</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KMP</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但没有写出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next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数组的实现方式，</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扣</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程序方法不正确</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(e.g.,…)</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8-9</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p:txBody>
      </p:sp>
    </p:spTree>
    <p:extLst>
      <p:ext uri="{BB962C8B-B14F-4D97-AF65-F5344CB8AC3E}">
        <p14:creationId xmlns:p14="http://schemas.microsoft.com/office/powerpoint/2010/main" val="390307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04495" y="1397635"/>
            <a:ext cx="10340340" cy="1322070"/>
          </a:xfrm>
          <a:prstGeom prst="rect">
            <a:avLst/>
          </a:prstGeom>
          <a:noFill/>
        </p:spPr>
        <p:txBody>
          <a:bodyPr wrap="square" rtlCol="0" anchor="t">
            <a:spAutoFit/>
          </a:bodyPr>
          <a:lstStyle/>
          <a:p>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思路</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较好的方法是</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稍作修改的</a:t>
            </a:r>
            <a:r>
              <a:rPr lang="en-US" altLang="zh-CN"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KMP </a:t>
            </a:r>
            <a:r>
              <a:rPr lang="zh-CN" altLang="en-US" sz="1600" b="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算法</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即先求出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的</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和</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逐一字符从左向右比较，在某个位置两个串的字符相等，则一起向右，一种情况是到达了</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串的末尾，然后接入</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串剩余的部分，就成功结束。</a:t>
            </a:r>
            <a:endPar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但也有可能在某个位置发生不匹配，例如这时的位置为</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A[i]!=B[j]</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按</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next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数组回溯，例如回溯到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达到</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，则</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A[i-k]~A[i]=B[0]~B[k]</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，然后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A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i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B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从</a:t>
            </a:r>
            <a:r>
              <a:rPr lang="en-US" altLang="zh-CN"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 k </a:t>
            </a:r>
            <a:r>
              <a:rPr lang="zh-CN" altLang="en-US" sz="16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开始，继续向右重复上述匹配过程。</a:t>
            </a:r>
          </a:p>
        </p:txBody>
      </p:sp>
      <p:sp>
        <p:nvSpPr>
          <p:cNvPr id="8" name="文本框 7"/>
          <p:cNvSpPr txBox="1"/>
          <p:nvPr/>
        </p:nvSpPr>
        <p:spPr>
          <a:xfrm>
            <a:off x="353695" y="125730"/>
            <a:ext cx="11300460" cy="837565"/>
          </a:xfrm>
          <a:prstGeom prst="rect">
            <a:avLst/>
          </a:prstGeom>
        </p:spPr>
        <p:txBody>
          <a:bodyPr wrap="square">
            <a:noAutofit/>
          </a:bodyPr>
          <a:lstStyle/>
          <a:p>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算法题</a:t>
            </a:r>
            <a:r>
              <a:rPr lang="en-US" altLang="zh-CN"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16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用尽量快的算法实现连接两个头尾重合的字符串。例如，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 “123456”</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 = “12345678”</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再如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B: “</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A+B=“</a:t>
            </a:r>
            <a:r>
              <a:rPr lang="en-US" altLang="zh-CN" sz="16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abcdefgh</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p>
          <a:p>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要求：</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描述该算法的基本设计思想；</a:t>
            </a:r>
            <a:r>
              <a:rPr lang="en-US"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 </a:t>
            </a:r>
            <a:r>
              <a:rPr lang="zh-CN" altLang="en-US"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给出程序代码。</a:t>
            </a:r>
          </a:p>
        </p:txBody>
      </p:sp>
      <p:sp>
        <p:nvSpPr>
          <p:cNvPr id="12" name="文本框 11"/>
          <p:cNvSpPr txBox="1"/>
          <p:nvPr/>
        </p:nvSpPr>
        <p:spPr>
          <a:xfrm>
            <a:off x="2014220" y="3681730"/>
            <a:ext cx="7978775" cy="1198880"/>
          </a:xfrm>
          <a:prstGeom prst="rect">
            <a:avLst/>
          </a:prstGeom>
          <a:solidFill>
            <a:schemeClr val="accent5">
              <a:lumMod val="40000"/>
              <a:lumOff val="60000"/>
            </a:schemeClr>
          </a:solidFill>
          <a:ln w="12700" cmpd="sng">
            <a:solidFill>
              <a:schemeClr val="accent1">
                <a:shade val="50000"/>
              </a:schemeClr>
            </a:solidFill>
            <a:prstDash val="solid"/>
          </a:ln>
        </p:spPr>
        <p:txBody>
          <a:bodyPr wrap="square">
            <a:spAutoFit/>
          </a:bodyPr>
          <a:lstStyle/>
          <a:p>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常见问题：</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程序结构基本正确，合理使用递归或者循环</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，不符合</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尽量快</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3-4</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KMP</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但没有写出</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next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数组的实现方式，</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扣</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分</a:t>
            </a:r>
          </a:p>
          <a:p>
            <a:pPr marL="342900" indent="-342900">
              <a:buFontTx/>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程序方法不正确</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(e.g., </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 “cdabcdef”</a:t>
            </a:r>
            <a:r>
              <a:rPr lang="zh-CN" altLang="en-US">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B: “cdefgh”</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，扣</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8-9</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a:t>
            </a:r>
          </a:p>
        </p:txBody>
      </p:sp>
    </p:spTree>
    <p:extLst>
      <p:ext uri="{BB962C8B-B14F-4D97-AF65-F5344CB8AC3E}">
        <p14:creationId xmlns:p14="http://schemas.microsoft.com/office/powerpoint/2010/main" val="151784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87990" y="363917"/>
            <a:ext cx="11130093" cy="3886577"/>
          </a:xfrm>
          <a:prstGeom prst="rect">
            <a:avLst/>
          </a:prstGeom>
          <a:noFill/>
        </p:spPr>
        <p:txBody>
          <a:bodyPr wrap="square">
            <a:spAutoFit/>
          </a:bodyPr>
          <a:lstStyle/>
          <a:p>
            <a:pPr lvl="0" algn="just">
              <a:lnSpc>
                <a:spcPct val="115000"/>
              </a:lnSpc>
            </a:pPr>
            <a:r>
              <a:rPr lang="zh-CN" altLang="en-US" sz="1800" b="1" kern="100" dirty="0">
                <a:solidFill>
                  <a:srgbClr val="000000"/>
                </a:solidFill>
                <a:effectLst/>
                <a:latin typeface="Times New Roman" panose="02020603050405020304" pitchFamily="18" charset="0"/>
                <a:ea typeface="宋体" panose="02010600030101010101" pitchFamily="2" charset="-122"/>
              </a:rPr>
              <a:t>算法题</a:t>
            </a:r>
            <a:r>
              <a:rPr lang="en-US" altLang="zh-CN" sz="1800" b="1" kern="100" dirty="0">
                <a:solidFill>
                  <a:srgbClr val="000000"/>
                </a:solidFill>
                <a:effectLst/>
                <a:latin typeface="Times New Roman" panose="02020603050405020304" pitchFamily="18" charset="0"/>
                <a:ea typeface="宋体" panose="02010600030101010101" pitchFamily="2" charset="-122"/>
              </a:rPr>
              <a:t>3</a:t>
            </a:r>
            <a:r>
              <a:rPr lang="zh-CN" altLang="en-US" sz="1800" b="1" kern="100" dirty="0">
                <a:solidFill>
                  <a:srgbClr val="000000"/>
                </a:solidFill>
                <a:effectLst/>
                <a:latin typeface="Times New Roman" panose="02020603050405020304" pitchFamily="18" charset="0"/>
                <a:ea typeface="宋体" panose="02010600030101010101" pitchFamily="2" charset="-122"/>
              </a:rPr>
              <a:t>、</a:t>
            </a:r>
            <a:r>
              <a:rPr lang="zh-CN" altLang="zh-CN" sz="1800" kern="100" dirty="0">
                <a:solidFill>
                  <a:srgbClr val="000000"/>
                </a:solidFill>
                <a:effectLst/>
                <a:latin typeface="Times New Roman" panose="02020603050405020304" pitchFamily="18" charset="0"/>
                <a:ea typeface="宋体" panose="02010600030101010101" pitchFamily="2" charset="-122"/>
              </a:rPr>
              <a:t>输入一个整数和一棵二叉树。从树的根结点开始往下访问一直到叶结点所经过的所有结点形成一条路径。请编写算法打印出和与输入整数相等的所有路径。</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lvl="0" algn="just">
              <a:lnSpc>
                <a:spcPct val="115000"/>
              </a:lnSpc>
            </a:pPr>
            <a:r>
              <a:rPr lang="zh-CN" altLang="zh-CN" sz="1800" kern="100" dirty="0">
                <a:solidFill>
                  <a:srgbClr val="000000"/>
                </a:solidFill>
                <a:effectLst/>
                <a:latin typeface="Times New Roman" panose="02020603050405020304" pitchFamily="18" charset="0"/>
                <a:ea typeface="宋体" panose="02010600030101010101" pitchFamily="2" charset="-122"/>
              </a:rPr>
              <a:t>例如，输入整数</a:t>
            </a:r>
            <a:r>
              <a:rPr lang="en-US" altLang="zh-CN" sz="1800" kern="100" dirty="0">
                <a:solidFill>
                  <a:srgbClr val="000000"/>
                </a:solidFill>
                <a:effectLst/>
                <a:latin typeface="Times New Roman" panose="02020603050405020304" pitchFamily="18" charset="0"/>
                <a:ea typeface="宋体" panose="02010600030101010101" pitchFamily="2" charset="-122"/>
              </a:rPr>
              <a:t>22</a:t>
            </a:r>
            <a:r>
              <a:rPr lang="zh-CN" altLang="zh-CN" sz="1800" kern="100" dirty="0">
                <a:solidFill>
                  <a:srgbClr val="000000"/>
                </a:solidFill>
                <a:effectLst/>
                <a:latin typeface="Times New Roman" panose="02020603050405020304" pitchFamily="18" charset="0"/>
                <a:ea typeface="宋体" panose="02010600030101010101" pitchFamily="2" charset="-122"/>
              </a:rPr>
              <a:t>和如下二叉树：</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10</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   \</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5   12</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  \</a:t>
            </a:r>
            <a:endParaRPr lang="zh-CN" altLang="zh-CN" sz="1800" kern="100" dirty="0">
              <a:effectLst/>
              <a:latin typeface="Times New Roman" panose="02020603050405020304" pitchFamily="18" charset="0"/>
              <a:ea typeface="宋体" panose="02010600030101010101" pitchFamily="2" charset="-122"/>
            </a:endParaRPr>
          </a:p>
          <a:p>
            <a:pPr marL="762000" indent="381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                 4   7</a:t>
            </a:r>
            <a:endParaRPr lang="zh-CN" altLang="zh-CN" sz="1800" kern="100" dirty="0">
              <a:effectLst/>
              <a:latin typeface="Times New Roman" panose="02020603050405020304" pitchFamily="18" charset="0"/>
              <a:ea typeface="宋体" panose="02010600030101010101" pitchFamily="2" charset="-122"/>
            </a:endParaRPr>
          </a:p>
          <a:p>
            <a:pPr marL="228600" algn="just">
              <a:lnSpc>
                <a:spcPct val="115000"/>
              </a:lnSpc>
            </a:pPr>
            <a:r>
              <a:rPr lang="zh-CN" altLang="zh-CN" sz="1800" kern="100" dirty="0">
                <a:solidFill>
                  <a:srgbClr val="000000"/>
                </a:solidFill>
                <a:effectLst/>
                <a:latin typeface="Times New Roman" panose="02020603050405020304" pitchFamily="18" charset="0"/>
                <a:ea typeface="宋体" panose="02010600030101010101" pitchFamily="2" charset="-122"/>
              </a:rPr>
              <a:t>则打印出两条路径：</a:t>
            </a:r>
            <a:r>
              <a:rPr lang="en-US" altLang="zh-CN" sz="1800" kern="100" dirty="0">
                <a:solidFill>
                  <a:srgbClr val="000000"/>
                </a:solidFill>
                <a:effectLst/>
                <a:latin typeface="Times New Roman" panose="02020603050405020304" pitchFamily="18" charset="0"/>
                <a:ea typeface="宋体" panose="02010600030101010101" pitchFamily="2" charset="-122"/>
              </a:rPr>
              <a:t>10, 12 </a:t>
            </a:r>
            <a:r>
              <a:rPr lang="zh-CN" altLang="zh-CN" sz="1800" kern="100" dirty="0">
                <a:solidFill>
                  <a:srgbClr val="000000"/>
                </a:solidFill>
                <a:effectLst/>
                <a:latin typeface="Times New Roman" panose="02020603050405020304" pitchFamily="18" charset="0"/>
                <a:ea typeface="宋体" panose="02010600030101010101" pitchFamily="2" charset="-122"/>
              </a:rPr>
              <a:t>和</a:t>
            </a:r>
            <a:r>
              <a:rPr lang="en-US" altLang="zh-CN" sz="1800" kern="100" dirty="0">
                <a:solidFill>
                  <a:srgbClr val="000000"/>
                </a:solidFill>
                <a:effectLst/>
                <a:latin typeface="Times New Roman" panose="02020603050405020304" pitchFamily="18" charset="0"/>
                <a:ea typeface="宋体" panose="02010600030101010101" pitchFamily="2" charset="-122"/>
              </a:rPr>
              <a:t>10, </a:t>
            </a:r>
            <a:r>
              <a:rPr lang="en-US" altLang="zh-CN" kern="100" dirty="0">
                <a:solidFill>
                  <a:srgbClr val="000000"/>
                </a:solidFill>
                <a:latin typeface="Times New Roman" panose="02020603050405020304" pitchFamily="18" charset="0"/>
                <a:ea typeface="宋体" panose="02010600030101010101" pitchFamily="2" charset="-122"/>
              </a:rPr>
              <a:t>5</a:t>
            </a:r>
            <a:r>
              <a:rPr lang="en-US" altLang="zh-CN" sz="1800" kern="100" dirty="0">
                <a:solidFill>
                  <a:srgbClr val="000000"/>
                </a:solidFill>
                <a:effectLst/>
                <a:latin typeface="Times New Roman" panose="02020603050405020304" pitchFamily="18" charset="0"/>
                <a:ea typeface="宋体" panose="02010600030101010101" pitchFamily="2" charset="-122"/>
              </a:rPr>
              <a:t>, 7</a:t>
            </a:r>
            <a:r>
              <a:rPr lang="zh-CN" altLang="zh-CN" sz="1800" kern="100" dirty="0">
                <a:solidFill>
                  <a:srgbClr val="000000"/>
                </a:solidFill>
                <a:effectLst/>
                <a:latin typeface="Times New Roman" panose="02020603050405020304" pitchFamily="18" charset="0"/>
                <a:ea typeface="宋体" panose="02010600030101010101" pitchFamily="2" charset="-122"/>
              </a:rPr>
              <a:t>。</a:t>
            </a:r>
            <a:r>
              <a:rPr lang="en-US" altLang="zh-CN" kern="100" dirty="0">
                <a:latin typeface="Times New Roman" panose="02020603050405020304" pitchFamily="18" charset="0"/>
                <a:ea typeface="宋体" panose="02010600030101010101" pitchFamily="2" charset="-122"/>
              </a:rPr>
              <a:t> </a:t>
            </a:r>
          </a:p>
          <a:p>
            <a:pPr marL="228600" algn="just">
              <a:lnSpc>
                <a:spcPct val="115000"/>
              </a:lnSpc>
            </a:pPr>
            <a:r>
              <a:rPr lang="zh-CN" altLang="zh-CN" sz="1800" kern="100" dirty="0">
                <a:solidFill>
                  <a:srgbClr val="000000"/>
                </a:solidFill>
                <a:effectLst/>
                <a:latin typeface="Times New Roman" panose="02020603050405020304" pitchFamily="18" charset="0"/>
                <a:ea typeface="宋体" panose="02010600030101010101" pitchFamily="2" charset="-122"/>
              </a:rPr>
              <a:t>要求：</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(1) </a:t>
            </a:r>
            <a:r>
              <a:rPr lang="zh-CN" altLang="zh-CN" sz="1800" kern="100" dirty="0">
                <a:solidFill>
                  <a:srgbClr val="000000"/>
                </a:solidFill>
                <a:effectLst/>
                <a:latin typeface="Times New Roman" panose="02020603050405020304" pitchFamily="18" charset="0"/>
                <a:ea typeface="宋体" panose="02010600030101010101" pitchFamily="2" charset="-122"/>
              </a:rPr>
              <a:t>描述该算法的基本设计思想；</a:t>
            </a:r>
            <a:endParaRPr lang="en-US" altLang="zh-CN" sz="1800" kern="100" dirty="0">
              <a:solidFill>
                <a:srgbClr val="000000"/>
              </a:solidFill>
              <a:effectLst/>
              <a:latin typeface="Times New Roman" panose="02020603050405020304" pitchFamily="18" charset="0"/>
              <a:ea typeface="宋体" panose="02010600030101010101" pitchFamily="2" charset="-122"/>
            </a:endParaRPr>
          </a:p>
          <a:p>
            <a:pPr marL="228600" algn="just">
              <a:lnSpc>
                <a:spcPct val="115000"/>
              </a:lnSpc>
            </a:pPr>
            <a:r>
              <a:rPr lang="en-US" altLang="zh-CN" sz="1800" kern="100" dirty="0">
                <a:solidFill>
                  <a:srgbClr val="000000"/>
                </a:solidFill>
                <a:effectLst/>
                <a:latin typeface="Times New Roman" panose="02020603050405020304" pitchFamily="18" charset="0"/>
                <a:ea typeface="宋体" panose="02010600030101010101" pitchFamily="2" charset="-122"/>
              </a:rPr>
              <a:t>(2) </a:t>
            </a:r>
            <a:r>
              <a:rPr lang="zh-CN" altLang="zh-CN" sz="1800" kern="100" dirty="0">
                <a:solidFill>
                  <a:srgbClr val="000000"/>
                </a:solidFill>
                <a:effectLst/>
                <a:latin typeface="Times New Roman" panose="02020603050405020304" pitchFamily="18" charset="0"/>
                <a:ea typeface="宋体" panose="02010600030101010101" pitchFamily="2" charset="-122"/>
              </a:rPr>
              <a:t>给出程序代码。（</a:t>
            </a:r>
            <a:r>
              <a:rPr lang="en-US" altLang="zh-CN" sz="1800" kern="100" dirty="0">
                <a:solidFill>
                  <a:srgbClr val="000000"/>
                </a:solidFill>
                <a:effectLst/>
                <a:latin typeface="Times New Roman" panose="02020603050405020304" pitchFamily="18" charset="0"/>
                <a:ea typeface="宋体" panose="02010600030101010101" pitchFamily="2" charset="-122"/>
              </a:rPr>
              <a:t>15</a:t>
            </a:r>
            <a:r>
              <a:rPr lang="zh-CN" altLang="zh-CN" sz="1800" kern="100" dirty="0">
                <a:solidFill>
                  <a:srgbClr val="000000"/>
                </a:solidFill>
                <a:effectLst/>
                <a:latin typeface="Times New Roman" panose="02020603050405020304" pitchFamily="18" charset="0"/>
                <a:ea typeface="宋体" panose="02010600030101010101" pitchFamily="2" charset="-122"/>
              </a:rPr>
              <a:t>分）</a:t>
            </a:r>
            <a:endParaRPr lang="zh-CN" altLang="zh-CN" sz="1800" kern="100" dirty="0">
              <a:effectLst/>
              <a:latin typeface="Times New Roman" panose="02020603050405020304" pitchFamily="18" charset="0"/>
              <a:ea typeface="宋体" panose="02010600030101010101" pitchFamily="2" charset="-122"/>
            </a:endParaRPr>
          </a:p>
        </p:txBody>
      </p:sp>
      <p:sp>
        <p:nvSpPr>
          <p:cNvPr id="7" name="文本框 6"/>
          <p:cNvSpPr txBox="1"/>
          <p:nvPr/>
        </p:nvSpPr>
        <p:spPr>
          <a:xfrm>
            <a:off x="649799" y="4250494"/>
            <a:ext cx="5013121" cy="923330"/>
          </a:xfrm>
          <a:prstGeom prst="rect">
            <a:avLst/>
          </a:prstGeom>
          <a:noFill/>
        </p:spPr>
        <p:txBody>
          <a:bodyPr wrap="square">
            <a:spAutoFit/>
          </a:bodyPr>
          <a:lstStyle/>
          <a:p>
            <a:r>
              <a:rPr lang="zh-CN" altLang="en-US"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基本思想：</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 </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使用二叉链表数据结构表示树结构</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主要利用</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回溯</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递归</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用</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栈辅助路径的回溯</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p:cNvSpPr txBox="1"/>
          <p:nvPr/>
        </p:nvSpPr>
        <p:spPr>
          <a:xfrm>
            <a:off x="649799" y="5103674"/>
            <a:ext cx="5013121" cy="1754326"/>
          </a:xfrm>
          <a:prstGeom prst="rect">
            <a:avLst/>
          </a:prstGeom>
          <a:noFill/>
        </p:spPr>
        <p:txBody>
          <a:bodyPr wrap="square">
            <a:spAutoFit/>
          </a:bodyPr>
          <a:lstStyle/>
          <a:p>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常见问题：</a:t>
            </a:r>
            <a:endParaRPr lang="en-US" altLang="zh-CN" b="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基本思想表述没有抓住给分点</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Tx/>
              <a:buAutoNum type="arabicPeriod"/>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代码架构混乱、数据结构表示不明确</a:t>
            </a:r>
            <a:endPar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漏写输出函数</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递归没有出口</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AutoNum type="arabicPeriod"/>
            </a:pP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函数调用错误</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6312541" y="1086997"/>
            <a:ext cx="5637402" cy="5771003"/>
          </a:xfrm>
          <a:prstGeom prst="rect">
            <a:avLst/>
          </a:prstGeom>
          <a:noFill/>
        </p:spPr>
        <p:txBody>
          <a:bodyPr wrap="square">
            <a:spAutoFit/>
          </a:bodyPr>
          <a:lstStyle/>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struct </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int data;</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*left;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*right;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void </a:t>
            </a:r>
            <a:r>
              <a:rPr lang="en-US" altLang="zh-CN" sz="1400" kern="100" dirty="0" err="1">
                <a:solidFill>
                  <a:srgbClr val="000000"/>
                </a:solidFill>
                <a:latin typeface="Times New Roman" panose="02020603050405020304" pitchFamily="18" charset="0"/>
                <a:ea typeface="宋体" panose="02010600030101010101" pitchFamily="2" charset="-122"/>
              </a:rPr>
              <a:t>printPath</a:t>
            </a:r>
            <a:r>
              <a:rPr lang="en-US" altLang="zh-CN" sz="1400" kern="100" dirty="0">
                <a:solidFill>
                  <a:srgbClr val="000000"/>
                </a:solidFill>
                <a:latin typeface="Times New Roman" panose="02020603050405020304" pitchFamily="18" charset="0"/>
                <a:ea typeface="宋体" panose="02010600030101010101" pitchFamily="2" charset="-122"/>
              </a:rPr>
              <a:t>(</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*root, int sum) {</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int path[MAX_HEIGHT];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helper(root, sum, path, 0);</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void helper(</a:t>
            </a:r>
            <a:r>
              <a:rPr lang="en-US" altLang="zh-CN" sz="1400" kern="100" dirty="0" err="1">
                <a:solidFill>
                  <a:srgbClr val="000000"/>
                </a:solidFill>
                <a:latin typeface="Times New Roman" panose="02020603050405020304" pitchFamily="18" charset="0"/>
                <a:ea typeface="宋体" panose="02010600030101010101" pitchFamily="2" charset="-122"/>
              </a:rPr>
              <a:t>TreeNode</a:t>
            </a:r>
            <a:r>
              <a:rPr lang="en-US" altLang="zh-CN" sz="1400" kern="100" dirty="0">
                <a:solidFill>
                  <a:srgbClr val="000000"/>
                </a:solidFill>
                <a:latin typeface="Times New Roman" panose="02020603050405020304" pitchFamily="18" charset="0"/>
                <a:ea typeface="宋体" panose="02010600030101010101" pitchFamily="2" charset="-122"/>
              </a:rPr>
              <a:t> * root, int sum, int path[ ], int top) {</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path[top++] = </a:t>
            </a:r>
            <a:r>
              <a:rPr lang="en-US" altLang="zh-CN" sz="1400" kern="100" dirty="0" err="1">
                <a:solidFill>
                  <a:srgbClr val="000000"/>
                </a:solidFill>
                <a:latin typeface="Times New Roman" panose="02020603050405020304" pitchFamily="18" charset="0"/>
                <a:ea typeface="宋体" panose="02010600030101010101" pitchFamily="2" charset="-122"/>
              </a:rPr>
              <a:t>root.data</a:t>
            </a: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sum -= </a:t>
            </a:r>
            <a:r>
              <a:rPr lang="en-US" altLang="zh-CN" sz="1400" kern="100" dirty="0" err="1">
                <a:solidFill>
                  <a:srgbClr val="000000"/>
                </a:solidFill>
                <a:latin typeface="Times New Roman" panose="02020603050405020304" pitchFamily="18" charset="0"/>
                <a:ea typeface="宋体" panose="02010600030101010101" pitchFamily="2" charset="-122"/>
              </a:rPr>
              <a:t>root.data</a:t>
            </a:r>
            <a:r>
              <a:rPr lang="en-US" altLang="zh-CN" sz="1400" kern="100" dirty="0">
                <a:solidFill>
                  <a:srgbClr val="000000"/>
                </a:solidFill>
                <a:latin typeface="Times New Roman" panose="02020603050405020304" pitchFamily="18" charset="0"/>
                <a:ea typeface="宋体" panose="02010600030101010101" pitchFamily="2" charset="-122"/>
              </a:rPr>
              <a:t>;</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if(sum&gt;0) {  //</a:t>
            </a:r>
            <a:r>
              <a:rPr lang="zh-CN" altLang="zh-CN" sz="1400" kern="100" dirty="0">
                <a:solidFill>
                  <a:srgbClr val="000000"/>
                </a:solidFill>
                <a:latin typeface="Times New Roman" panose="02020603050405020304" pitchFamily="18" charset="0"/>
                <a:ea typeface="宋体" panose="02010600030101010101" pitchFamily="2" charset="-122"/>
              </a:rPr>
              <a:t>剪枝</a:t>
            </a: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(root-&gt;left==NULL &amp;&amp; root-&gt;right==NULL)</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(sum==0) </a:t>
            </a:r>
            <a:r>
              <a:rPr lang="en-US" altLang="zh-CN" sz="1400" kern="100" dirty="0" err="1">
                <a:solidFill>
                  <a:srgbClr val="000000"/>
                </a:solidFill>
                <a:latin typeface="Times New Roman" panose="02020603050405020304" pitchFamily="18" charset="0"/>
                <a:ea typeface="宋体" panose="02010600030101010101" pitchFamily="2" charset="-122"/>
              </a:rPr>
              <a:t>printPath</a:t>
            </a:r>
            <a:r>
              <a:rPr lang="en-US" altLang="zh-CN" sz="1400" kern="100" dirty="0">
                <a:solidFill>
                  <a:srgbClr val="000000"/>
                </a:solidFill>
                <a:latin typeface="Times New Roman" panose="02020603050405020304" pitchFamily="18" charset="0"/>
                <a:ea typeface="宋体" panose="02010600030101010101" pitchFamily="2" charset="-122"/>
              </a:rPr>
              <a:t>(path,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else {</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(root-&gt;left!=NULL) helper(root-&gt;left, sum, path,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if (root-&gt;right!=NULL) helper(root-&gt;right, sum, path,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top--;</a:t>
            </a:r>
            <a:endParaRPr lang="zh-CN" altLang="zh-CN" sz="1400" kern="100" dirty="0">
              <a:solidFill>
                <a:srgbClr val="000000"/>
              </a:solidFill>
              <a:latin typeface="Times New Roman" panose="02020603050405020304" pitchFamily="18" charset="0"/>
              <a:ea typeface="宋体" panose="02010600030101010101" pitchFamily="2" charset="-122"/>
            </a:endParaRPr>
          </a:p>
          <a:p>
            <a:pPr indent="266700"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sum += </a:t>
            </a:r>
            <a:r>
              <a:rPr lang="en-US" altLang="zh-CN" sz="1400" kern="100" dirty="0" err="1">
                <a:solidFill>
                  <a:srgbClr val="000000"/>
                </a:solidFill>
                <a:latin typeface="Times New Roman" panose="02020603050405020304" pitchFamily="18" charset="0"/>
                <a:ea typeface="宋体" panose="02010600030101010101" pitchFamily="2" charset="-122"/>
              </a:rPr>
              <a:t>root.data</a:t>
            </a:r>
            <a:r>
              <a:rPr lang="en-US" altLang="zh-CN" sz="1400" kern="100" dirty="0">
                <a:solidFill>
                  <a:srgbClr val="000000"/>
                </a:solidFill>
                <a:latin typeface="Times New Roman" panose="02020603050405020304" pitchFamily="18" charset="0"/>
                <a:ea typeface="宋体" panose="02010600030101010101" pitchFamily="2" charset="-122"/>
              </a:rPr>
              <a:t>;</a:t>
            </a:r>
          </a:p>
          <a:p>
            <a:pPr algn="just">
              <a:lnSpc>
                <a:spcPct val="115000"/>
              </a:lnSpc>
            </a:pPr>
            <a:r>
              <a:rPr lang="en-US" altLang="zh-CN" sz="1400" kern="100" dirty="0">
                <a:solidFill>
                  <a:srgbClr val="000000"/>
                </a:solidFill>
                <a:latin typeface="Times New Roman" panose="02020603050405020304" pitchFamily="18" charset="0"/>
                <a:ea typeface="宋体" panose="02010600030101010101" pitchFamily="2" charset="-122"/>
              </a:rPr>
              <a:t>      }</a:t>
            </a:r>
            <a:endParaRPr lang="zh-CN" altLang="zh-CN" sz="1400" kern="10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272*60"/>
  <p:tag name="TABLE_ENDDRAG_RECT" val="144*240*272*6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5740</Words>
  <Application>Microsoft Office PowerPoint</Application>
  <PresentationFormat>宽屏</PresentationFormat>
  <Paragraphs>625</Paragraphs>
  <Slides>33</Slides>
  <Notes>23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33</vt:i4>
      </vt:variant>
    </vt:vector>
  </HeadingPairs>
  <TitlesOfParts>
    <vt:vector size="42" baseType="lpstr">
      <vt:lpstr>等线</vt:lpstr>
      <vt:lpstr>等线 Light</vt:lpstr>
      <vt:lpstr>宋体</vt:lpstr>
      <vt:lpstr>Arial</vt:lpstr>
      <vt:lpstr>Cambria Math</vt:lpstr>
      <vt:lpstr>Times</vt:lpstr>
      <vt:lpstr>Times New Roman</vt:lpstr>
      <vt:lpstr>Office 主题​​</vt:lpstr>
      <vt:lpstr>1_Office 主题​​</vt:lpstr>
      <vt:lpstr>期中试卷讲解</vt:lpstr>
      <vt:lpstr>填空题1：算法 A、B、C 的时间复杂度依次为 O(n!)和 O(2n)和 O(n100)，其中时间复杂度最高的是算法__________。 答：A</vt:lpstr>
      <vt:lpstr>填空题2：设元素 p1p2…pn 依次进栈，出栈序列为 q1q2…qn，如果 q1==pn-2， q2==pn，那么 q3 为___________。 答：pn-1 </vt:lpstr>
      <vt:lpstr>填空题3：单循环链表表示的队列长度为 n，若只设尾指针，则进队的时间复杂度为 ___________。 答：O(1)</vt:lpstr>
      <vt:lpstr>填空题4：已 知 广 义 表 LS=(a, (b, c, d), e)， 假 设 求 表 头 操 作 为 Head， 求 表 尾 操作为 Tail， 则c=___________。 答：Head(Tail(Head(Tail(LS))))</vt:lpstr>
      <vt:lpstr>填空题5：已知三对角矩阵 A[1..9, 1..9]的每个元素占用 2 个单元，现将其三条对角线上的元素逐行存储在起始地址为 1000 的连续内存单元中，则元素 A[8][7]的存储地址为____________；如按列优先顺序进行存储，则 A[8][7]的存储地址为___________。 答： (1) 1040；(2) 1038</vt:lpstr>
      <vt:lpstr>填空题6：一个深度为 k（k&gt;2，规定根结点的深度为 0）的具有最少结点的完全二叉树按层次（同层次从左向右）对结点编号，编号为从 1 开始的整数，则编号最大的叶子结点的编号是___________。 答：2k</vt:lpstr>
      <vt:lpstr>填空题7：一棵树 x 转换成二叉树 y，x 中有 m 个非叶结点，则 y 中没有右孩子的结点数目为___________。 答：m+1</vt:lpstr>
      <vt:lpstr>填空题8：在中序线索化二叉树中的结点 x，已知 x 的后继是 y，并且 y 不是 x 的孩子结点，则 x 在 y的___________子树上。 答：左</vt:lpstr>
      <vt:lpstr>填空题9：下面编号为___________的关键码序列是堆。 ①{16, 72, 94, 23, 31, 53} ②{94, 53, 31, 72, 16, 23} ③{16, 53, 23, 94, 31, 72}  ④{16, 94, 23, 31, 53, 72} ⑤{94, 31,53, 23, 16, 72} 答：无</vt:lpstr>
      <vt:lpstr>填空题9：下面编号为___________的关键码序列是堆。 ①{16, 72, 94, 23, 31, 53} ②{94, 53, 31, 72, 16, 23} ③{16, 53, 23, 94, 31, 72}  ④{16, 94, 23, 31, 53, 72} ⑤{94, 31,53, 23, 16, 72} 答：无</vt:lpstr>
      <vt:lpstr>问答题1：某算法时间复杂度的递推关系如下，其中 n 为求解问题的规模，设 n 是 6 的正整数幂。请给出该算法时间复杂度的大 O 表示法及推导过程。 </vt:lpstr>
      <vt:lpstr>问答题2、设目标串T=“xxyxxxyxxxxyxyx”，模式串 P=“xxyxy”。如何用最少的比较次数找到P在 T中第一次出现的位置？相应的比较次数是多少？请给出具体的分析过程。（7分）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问答题4、已知二叉树如下所示：（7分） （1）用有向弧表示前驱和后继线索，画出树上的中序线索；</vt:lpstr>
      <vt:lpstr>问答题4、已知二叉树如下所示：（7分） （2）在树上删除结点E，画出改变后的中序线索化二叉树及其中的线索。</vt:lpstr>
      <vt:lpstr>问答题5、用于通信的电文由 8 个字符组成，字符在电文中出现的频率分别为 0.09, 0.19, 0.02, 0.06, 0.30,  0.03, 0.21, 0.10。试为这 8 个字符设计哈夫曼编码并计算总编码长度。使用 0~7 的 3 位等长二 进制表示形式是另一种编码方案，对于上述实例比较两种方案的优缺点。</vt:lpstr>
      <vt:lpstr>问答题5、用于通信的电文由 8 个字符组成，字符在电文中出现的频率分别为 0.09, 0.19, 0.02, 0.06, 0.30,  0.03, 0.21, 0.10。试为这 8 个字符设计哈夫曼编码并计算总编码长度。使用 0~7 的 3 位等长二 进制表示形式是另一种编码方案，对于上述实例比较两种方案的优缺点。</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算法题1、给定两个单链表的头结点指针h1和h2，写一个函数LinkNode * findFirst(LinkNode *h1, LinkNode *h2)，如果两个单链表有交点，则返回离h1最近的交点，否则返回空指针。要求算法时间和空间复杂度尽量优。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271</cp:revision>
  <dcterms:created xsi:type="dcterms:W3CDTF">2022-12-05T06:54:00Z</dcterms:created>
  <dcterms:modified xsi:type="dcterms:W3CDTF">2024-12-09T07:18:03Z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971B9798FC5242FBA5F028F030BDA8C5_12</vt:lpwstr>
  </property>
</Properties>
</file>